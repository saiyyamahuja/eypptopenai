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old OpenAI-Direct-vs-Azure comparison with a 3-way comparison. Key point for the director: OpenAI and Claude are model providers for custom applications; Copilot is a ready-made Microsoft productivity experience; Microsoft Foundry is the enterprise AI platform (models + agents + tools + evaluation + monitoring + governance) that can host both OpenAI and supported Claude models. Do not present Copilot as simply another foundation model, and do not claim OpenAI is universally better than Claude — the choice depends on workload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is intentionally NOT explained on this slide — see Slide 3. This is a deployment/architecture flow: Azure Subscription -&gt; Foundry resource -&gt; Foundry project (workload boundary) -&gt; region + deployment type -&gt; model selection -&gt; deployment -&gt; connect data/tools (AI Search, Storage) -&gt; monitor/evaluate/govern. Supporting services shown: AI Search, Storage, Key Vault, Monitor, App Insights, App Service/Container Apps. Entra ID is shown only as an identity dependency; the detail is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API key pattern and its drawbacks. Right: enterprise pattern using Managed Identity, Entra ID and Azure RBAC to reach Foundry/OpenAI without embedded credentials. Bottom: concrete example flow and the production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architecture slide. It shows a hub-spoke Azure Landing Zone: connectivity subscription (hub VNet with Firewall, Private DNS, Bastion) and a workload/spoke subscription (App/APIM/Private Endpoint subnets, with Foundry, AI Search, Key Vault and Storage reached via private endpoints). Ingress path across the top: Internet/User -&gt; App Gateway+WAF -&gt; Application -&gt; APIM -&gt; AI agent -&gt; Foundry/OpenAI. Cross-cutting identity, governance, observability and CI/CD shown as a foundation band. This intentionally does not draw every possible Azure service — it focuses on Landing Zone -&gt; secure network -&gt; application -&gt; Foundry/OpenAI -&gt; enterprise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flows: data ingestion (documents -&gt; indexing -&gt; chunking/embeddings -&gt; Azure AI Search Index) feeds the index used at query time (User -&gt; Application/Agent -&gt; Azure AI Search retrieval -&gt; question+context -&gt; OpenAI Model -&gt; grounded response). Example: a business-loan policy question grounded in indexed loan policy documents. Key message: RAG adds enterprise knowledge at runtime without retraining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Security controls (identity through monitoring), Data Privacy (OpenAI Direct vs Azure-hosted flow, plus the training-data principle), and Data Residency (storage vs processing vs region/deployment type, with Regional/Data Zone/Global deployment categories). Bottom: a production checklist chain and a warning callout that Azure resource region alone doesn't answer data residency.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names reflect the current Microsoft Foundry model catalog (GPT-5.6, GPT-5.5, GPT-5.4-mini, GPT-5.3-Codex, GPT-5.1-Codex-mini, text-embedding-3-large, GPT-Audio-1.5/GPT-Realtime-1.5, GPT-image-1, Sora-2 preview). Exact availability varies by region, deployment type and lifecycle — validate before deployment. Model Router (Foundry) supports Balanced/Cost/Quality modes and can route across eligible OpenAI, Anthropic and OSS models; Claude models require separate deployment to the same Foundry resource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02920" y="274320"/>
            <a:ext cx="11183112" cy="50292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OpenAI vs Claude vs Microsoft Copilot/Foundry</a:t>
            </a:r>
            <a:endParaRPr lang="en-US" sz="2400" dirty="0"/>
          </a:p>
        </p:txBody>
      </p:sp>
      <p:sp>
        <p:nvSpPr>
          <p:cNvPr id="5" name="Text 3"/>
          <p:cNvSpPr/>
          <p:nvPr/>
        </p:nvSpPr>
        <p:spPr>
          <a:xfrm>
            <a:off x="502920" y="777240"/>
            <a:ext cx="11183112" cy="274320"/>
          </a:xfrm>
          <a:prstGeom prst="rect">
            <a:avLst/>
          </a:prstGeom>
          <a:noFill/>
          <a:ln/>
        </p:spPr>
        <p:txBody>
          <a:bodyPr wrap="square" lIns="0" tIns="0" rIns="0" bIns="0" rtlCol="0" anchor="ctr"/>
          <a:lstStyle/>
          <a:p>
            <a:pPr algn="l" indent="0" marL="0">
              <a:buNone/>
            </a:pPr>
            <a:r>
              <a:rPr lang="en-US" sz="1250" i="1" dirty="0">
                <a:solidFill>
                  <a:srgbClr val="B7B7BE"/>
                </a:solidFill>
                <a:latin typeface="Calibri" pitchFamily="34" charset="0"/>
                <a:ea typeface="Calibri" pitchFamily="34" charset="-122"/>
                <a:cs typeface="Calibri" pitchFamily="34" charset="-120"/>
              </a:rPr>
              <a:t>Choosing the right AI capability for an enterprise Azure workload</a:t>
            </a:r>
            <a:endParaRPr lang="en-US" sz="12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1097280"/>
          <a:ext cx="11183112" cy="2148840"/>
        </p:xfrm>
        <a:graphic>
          <a:graphicData uri="http://schemas.openxmlformats.org/drawingml/2006/table">
            <a:tbl>
              <a:tblPr/>
              <a:tblGrid>
                <a:gridCol w="1600200"/>
                <a:gridCol w="3154680"/>
                <a:gridCol w="3291840"/>
                <a:gridCol w="3136392"/>
              </a:tblGrid>
              <a:tr h="358140">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OpenAI Models</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Anthropic Claude</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Copilot / Foundry</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r>
              <a:tr h="358140">
                <a:tc>
                  <a:txBody>
                    <a:bodyPr/>
                    <a:lstStyle/>
                    <a:p>
                      <a:pPr algn="l" indent="0" marL="0">
                        <a:buNone/>
                      </a:pPr>
                      <a:r>
                        <a:rPr lang="en-US" sz="1000" b="1" dirty="0">
                          <a:solidFill>
                            <a:srgbClr val="1A1A24"/>
                          </a:solidFill>
                          <a:latin typeface="Calibri" pitchFamily="34" charset="0"/>
                          <a:ea typeface="Calibri" pitchFamily="34" charset="-122"/>
                          <a:cs typeface="Calibri" pitchFamily="34" charset="-120"/>
                        </a:rPr>
                        <a:t>Primary role</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Foundation models for custom apps</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Foundation models for custom apps</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Copilot = AI experience  ·  Foundry = AI platform</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r>
              <a:tr h="358140">
                <a:tc>
                  <a:txBody>
                    <a:bodyPr/>
                    <a:lstStyle/>
                    <a:p>
                      <a:pPr algn="l" indent="0" marL="0">
                        <a:buNone/>
                      </a:pPr>
                      <a:r>
                        <a:rPr lang="en-US" sz="1000" b="1" dirty="0">
                          <a:solidFill>
                            <a:srgbClr val="1A1A24"/>
                          </a:solidFill>
                          <a:latin typeface="Calibri" pitchFamily="34" charset="0"/>
                          <a:ea typeface="Calibri" pitchFamily="34" charset="-122"/>
                          <a:cs typeface="Calibri" pitchFamily="34" charset="-120"/>
                        </a:rPr>
                        <a:t>Best fit</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Reasoning, multimodal, agentic apps</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Long context, coding, complex workloads where evaluation favors it</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Copilot: ready-made productivity  ·  Foundry: enterprise platform</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FFFFFF"/>
                    </a:solidFill>
                  </a:tcPr>
                </a:tc>
              </a:tr>
              <a:tr h="358140">
                <a:tc>
                  <a:txBody>
                    <a:bodyPr/>
                    <a:lstStyle/>
                    <a:p>
                      <a:pPr algn="l" indent="0" marL="0">
                        <a:buNone/>
                      </a:pPr>
                      <a:r>
                        <a:rPr lang="en-US" sz="1000" b="1" dirty="0">
                          <a:solidFill>
                            <a:srgbClr val="1A1A24"/>
                          </a:solidFill>
                          <a:latin typeface="Calibri" pitchFamily="34" charset="0"/>
                          <a:ea typeface="Calibri" pitchFamily="34" charset="-122"/>
                          <a:cs typeface="Calibri" pitchFamily="34" charset="-120"/>
                        </a:rPr>
                        <a:t>Azure integration</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Azure OpenAI / Foundry</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Foundry (supported configurations)</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Native</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r>
              <a:tr h="358140">
                <a:tc>
                  <a:txBody>
                    <a:bodyPr/>
                    <a:lstStyle/>
                    <a:p>
                      <a:pPr algn="l" indent="0" marL="0">
                        <a:buNone/>
                      </a:pPr>
                      <a:r>
                        <a:rPr lang="en-US" sz="1000" b="1" dirty="0">
                          <a:solidFill>
                            <a:srgbClr val="1A1A24"/>
                          </a:solidFill>
                          <a:latin typeface="Calibri" pitchFamily="34" charset="0"/>
                          <a:ea typeface="Calibri" pitchFamily="34" charset="-122"/>
                          <a:cs typeface="Calibri" pitchFamily="34" charset="-120"/>
                        </a:rPr>
                        <a:t>Enterprise identity</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Entra ID (Azure-hosted)</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Entra ID (via Foundry)</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Native Entra ID + RBAC</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FFFFFF"/>
                    </a:solidFill>
                  </a:tcPr>
                </a:tc>
              </a:tr>
              <a:tr h="358140">
                <a:tc>
                  <a:txBody>
                    <a:bodyPr/>
                    <a:lstStyle/>
                    <a:p>
                      <a:pPr algn="l" indent="0" marL="0">
                        <a:buNone/>
                      </a:pPr>
                      <a:r>
                        <a:rPr lang="en-US" sz="1000" b="1" dirty="0">
                          <a:solidFill>
                            <a:srgbClr val="1A1A24"/>
                          </a:solidFill>
                          <a:latin typeface="Calibri" pitchFamily="34" charset="0"/>
                          <a:ea typeface="Calibri" pitchFamily="34" charset="-122"/>
                          <a:cs typeface="Calibri" pitchFamily="34" charset="-120"/>
                        </a:rPr>
                        <a:t>Multi-model role</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Can participate via Model Router</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Can participate via Model Router</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000" dirty="0">
                          <a:solidFill>
                            <a:srgbClr val="6F6F77"/>
                          </a:solidFill>
                          <a:latin typeface="Calibri" pitchFamily="34" charset="0"/>
                          <a:ea typeface="Calibri" pitchFamily="34" charset="-122"/>
                          <a:cs typeface="Calibri" pitchFamily="34" charset="-120"/>
                        </a:rPr>
                        <a:t>Foundry is the orchestration layer</a:t>
                      </a:r>
                      <a:endParaRPr lang="en-US" sz="10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r>
            </a:tbl>
          </a:graphicData>
        </a:graphic>
      </p:graphicFrame>
      <p:sp>
        <p:nvSpPr>
          <p:cNvPr id="7" name="Shape 4"/>
          <p:cNvSpPr/>
          <p:nvPr/>
        </p:nvSpPr>
        <p:spPr>
          <a:xfrm>
            <a:off x="502920" y="3520440"/>
            <a:ext cx="6675120" cy="457200"/>
          </a:xfrm>
          <a:prstGeom prst="roundRect">
            <a:avLst>
              <a:gd name="adj" fmla="val 10000"/>
            </a:avLst>
          </a:prstGeom>
          <a:solidFill>
            <a:srgbClr val="FFE600"/>
          </a:solidFill>
          <a:ln w="12700">
            <a:solidFill>
              <a:srgbClr val="1A1A24"/>
            </a:solidFill>
            <a:prstDash val="solid"/>
          </a:ln>
        </p:spPr>
      </p:sp>
      <p:sp>
        <p:nvSpPr>
          <p:cNvPr id="8" name="Text 5"/>
          <p:cNvSpPr/>
          <p:nvPr/>
        </p:nvSpPr>
        <p:spPr>
          <a:xfrm>
            <a:off x="548640" y="3520440"/>
            <a:ext cx="6583680" cy="457200"/>
          </a:xfrm>
          <a:prstGeom prst="rect">
            <a:avLst/>
          </a:prstGeom>
          <a:noFill/>
          <a:ln/>
        </p:spPr>
        <p:txBody>
          <a:bodyPr wrap="square" lIns="0" tIns="0" rIns="0" bIns="0" rtlCol="0" anchor="ctr">
            <a:normAutofit/>
          </a:bodyPr>
          <a:lstStyle/>
          <a:p>
            <a:pPr algn="ctr" indent="0" marL="0">
              <a:lnSpc>
                <a:spcPct val="95000"/>
              </a:lnSpc>
              <a:buNone/>
            </a:pPr>
            <a:r>
              <a:rPr lang="en-US" sz="1200" b="1" dirty="0">
                <a:solidFill>
                  <a:srgbClr val="1A1A24"/>
                </a:solidFill>
                <a:latin typeface="Calibri" pitchFamily="34" charset="0"/>
                <a:ea typeface="Calibri" pitchFamily="34" charset="-122"/>
                <a:cs typeface="Calibri" pitchFamily="34" charset="-120"/>
              </a:rPr>
              <a:t>MICROSOFT FOUNDRY — Enterprise AI Platform</a:t>
            </a:r>
            <a:endParaRPr lang="en-US" sz="1200" dirty="0"/>
          </a:p>
        </p:txBody>
      </p:sp>
      <p:sp>
        <p:nvSpPr>
          <p:cNvPr id="9" name="Shape 6"/>
          <p:cNvSpPr/>
          <p:nvPr/>
        </p:nvSpPr>
        <p:spPr>
          <a:xfrm>
            <a:off x="7360920" y="3520440"/>
            <a:ext cx="4325112" cy="457200"/>
          </a:xfrm>
          <a:prstGeom prst="roundRect">
            <a:avLst>
              <a:gd name="adj" fmla="val 10000"/>
            </a:avLst>
          </a:prstGeom>
          <a:solidFill>
            <a:srgbClr val="FFFFFF"/>
          </a:solidFill>
          <a:ln w="12700">
            <a:solidFill>
              <a:srgbClr val="1A1A24"/>
            </a:solidFill>
            <a:prstDash val="solid"/>
          </a:ln>
        </p:spPr>
      </p:sp>
      <p:sp>
        <p:nvSpPr>
          <p:cNvPr id="10" name="Text 7"/>
          <p:cNvSpPr/>
          <p:nvPr/>
        </p:nvSpPr>
        <p:spPr>
          <a:xfrm>
            <a:off x="7406640" y="3520440"/>
            <a:ext cx="4233672" cy="457200"/>
          </a:xfrm>
          <a:prstGeom prst="rect">
            <a:avLst/>
          </a:prstGeom>
          <a:noFill/>
          <a:ln/>
        </p:spPr>
        <p:txBody>
          <a:bodyPr wrap="square" lIns="0" tIns="0" rIns="0" bIns="0" rtlCol="0" anchor="ctr">
            <a:normAutofit/>
          </a:bodyPr>
          <a:lstStyle/>
          <a:p>
            <a:pPr algn="ctr" indent="0" marL="0">
              <a:lnSpc>
                <a:spcPct val="95000"/>
              </a:lnSpc>
              <a:buNone/>
            </a:pPr>
            <a:r>
              <a:rPr lang="en-US" sz="1200" b="1" dirty="0">
                <a:solidFill>
                  <a:srgbClr val="1A1A24"/>
                </a:solidFill>
                <a:latin typeface="Calibri" pitchFamily="34" charset="0"/>
                <a:ea typeface="Calibri" pitchFamily="34" charset="-122"/>
                <a:cs typeface="Calibri" pitchFamily="34" charset="-120"/>
              </a:rPr>
              <a:t>MICROSOFT COPILOT</a:t>
            </a:r>
            <a:endParaRPr lang="en-US" sz="1200" dirty="0"/>
          </a:p>
        </p:txBody>
      </p:sp>
      <p:sp>
        <p:nvSpPr>
          <p:cNvPr id="11" name="Text 8"/>
          <p:cNvSpPr/>
          <p:nvPr/>
        </p:nvSpPr>
        <p:spPr>
          <a:xfrm>
            <a:off x="7360920" y="4023360"/>
            <a:ext cx="4325112" cy="502920"/>
          </a:xfrm>
          <a:prstGeom prst="rect">
            <a:avLst/>
          </a:prstGeom>
          <a:noFill/>
          <a:ln/>
        </p:spPr>
        <p:txBody>
          <a:bodyPr wrap="square" lIns="0" tIns="0" rIns="0" bIns="0" rtlCol="0" anchor="ctr"/>
          <a:lstStyle/>
          <a:p>
            <a:pPr algn="l" indent="0" marL="0">
              <a:buNone/>
            </a:pPr>
            <a:r>
              <a:rPr lang="en-US" sz="950" i="1" dirty="0">
                <a:solidFill>
                  <a:srgbClr val="B7B7BE"/>
                </a:solidFill>
                <a:latin typeface="Calibri" pitchFamily="34" charset="0"/>
                <a:ea typeface="Calibri" pitchFamily="34" charset="-122"/>
                <a:cs typeface="Calibri" pitchFamily="34" charset="-120"/>
              </a:rPr>
              <a:t>Ready-made productivity &amp; AI experience — not a model in Foundry's catalog</a:t>
            </a:r>
            <a:endParaRPr lang="en-US" sz="950" dirty="0"/>
          </a:p>
        </p:txBody>
      </p:sp>
      <p:sp>
        <p:nvSpPr>
          <p:cNvPr id="12" name="Shape 9"/>
          <p:cNvSpPr/>
          <p:nvPr/>
        </p:nvSpPr>
        <p:spPr>
          <a:xfrm>
            <a:off x="3840480" y="3977640"/>
            <a:ext cx="0" cy="210312"/>
          </a:xfrm>
          <a:prstGeom prst="line">
            <a:avLst/>
          </a:prstGeom>
          <a:noFill/>
          <a:ln w="17780">
            <a:solidFill>
              <a:srgbClr val="B7B7BE"/>
            </a:solidFill>
            <a:prstDash val="solid"/>
            <a:tailEnd type="triangle"/>
          </a:ln>
        </p:spPr>
      </p:sp>
      <p:sp>
        <p:nvSpPr>
          <p:cNvPr id="13" name="Shape 10"/>
          <p:cNvSpPr/>
          <p:nvPr/>
        </p:nvSpPr>
        <p:spPr>
          <a:xfrm>
            <a:off x="502920" y="4206240"/>
            <a:ext cx="2103120" cy="457200"/>
          </a:xfrm>
          <a:prstGeom prst="roundRect">
            <a:avLst>
              <a:gd name="adj" fmla="val 10000"/>
            </a:avLst>
          </a:prstGeom>
          <a:solidFill>
            <a:srgbClr val="43424B"/>
          </a:solidFill>
          <a:ln w="12700">
            <a:solidFill>
              <a:srgbClr val="B7B7BE"/>
            </a:solidFill>
            <a:prstDash val="solid"/>
          </a:ln>
        </p:spPr>
      </p:sp>
      <p:sp>
        <p:nvSpPr>
          <p:cNvPr id="14" name="Text 11"/>
          <p:cNvSpPr/>
          <p:nvPr/>
        </p:nvSpPr>
        <p:spPr>
          <a:xfrm>
            <a:off x="548640" y="4206240"/>
            <a:ext cx="2011680" cy="45720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OpenAI Models</a:t>
            </a:r>
            <a:endParaRPr lang="en-US" sz="1100" dirty="0"/>
          </a:p>
        </p:txBody>
      </p:sp>
      <p:sp>
        <p:nvSpPr>
          <p:cNvPr id="15" name="Shape 12"/>
          <p:cNvSpPr/>
          <p:nvPr/>
        </p:nvSpPr>
        <p:spPr>
          <a:xfrm>
            <a:off x="2788920" y="4206240"/>
            <a:ext cx="2103120" cy="457200"/>
          </a:xfrm>
          <a:prstGeom prst="roundRect">
            <a:avLst>
              <a:gd name="adj" fmla="val 10000"/>
            </a:avLst>
          </a:prstGeom>
          <a:solidFill>
            <a:srgbClr val="43424B"/>
          </a:solidFill>
          <a:ln w="12700">
            <a:solidFill>
              <a:srgbClr val="B7B7BE"/>
            </a:solidFill>
            <a:prstDash val="solid"/>
          </a:ln>
        </p:spPr>
      </p:sp>
      <p:sp>
        <p:nvSpPr>
          <p:cNvPr id="16" name="Text 13"/>
          <p:cNvSpPr/>
          <p:nvPr/>
        </p:nvSpPr>
        <p:spPr>
          <a:xfrm>
            <a:off x="2834640" y="4206240"/>
            <a:ext cx="2011680" cy="45720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Claude</a:t>
            </a:r>
            <a:endParaRPr lang="en-US" sz="1100" dirty="0"/>
          </a:p>
        </p:txBody>
      </p:sp>
      <p:sp>
        <p:nvSpPr>
          <p:cNvPr id="17" name="Shape 14"/>
          <p:cNvSpPr/>
          <p:nvPr/>
        </p:nvSpPr>
        <p:spPr>
          <a:xfrm>
            <a:off x="5074920" y="4206240"/>
            <a:ext cx="2103120" cy="457200"/>
          </a:xfrm>
          <a:prstGeom prst="roundRect">
            <a:avLst>
              <a:gd name="adj" fmla="val 10000"/>
            </a:avLst>
          </a:prstGeom>
          <a:solidFill>
            <a:srgbClr val="43424B"/>
          </a:solidFill>
          <a:ln w="12700">
            <a:solidFill>
              <a:srgbClr val="B7B7BE"/>
            </a:solidFill>
            <a:prstDash val="solid"/>
          </a:ln>
        </p:spPr>
      </p:sp>
      <p:sp>
        <p:nvSpPr>
          <p:cNvPr id="18" name="Text 15"/>
          <p:cNvSpPr/>
          <p:nvPr/>
        </p:nvSpPr>
        <p:spPr>
          <a:xfrm>
            <a:off x="5120640" y="4206240"/>
            <a:ext cx="2011680" cy="45720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Other Models</a:t>
            </a:r>
            <a:endParaRPr lang="en-US" sz="1100" dirty="0"/>
          </a:p>
        </p:txBody>
      </p:sp>
      <p:sp>
        <p:nvSpPr>
          <p:cNvPr id="19" name="Text 16"/>
          <p:cNvSpPr/>
          <p:nvPr/>
        </p:nvSpPr>
        <p:spPr>
          <a:xfrm>
            <a:off x="502920" y="4773168"/>
            <a:ext cx="10698480" cy="320040"/>
          </a:xfrm>
          <a:prstGeom prst="rect">
            <a:avLst/>
          </a:prstGeom>
          <a:noFill/>
          <a:ln/>
        </p:spPr>
        <p:txBody>
          <a:bodyPr wrap="square" lIns="0" tIns="0" rIns="0" bIns="0" rtlCol="0" anchor="ctr"/>
          <a:lstStyle/>
          <a:p>
            <a:pPr algn="l" indent="0" marL="0">
              <a:buNone/>
            </a:pPr>
            <a:r>
              <a:rPr lang="en-US" sz="1000" i="1" dirty="0">
                <a:solidFill>
                  <a:srgbClr val="B7B7BE"/>
                </a:solidFill>
                <a:latin typeface="Calibri" pitchFamily="34" charset="0"/>
                <a:ea typeface="Calibri" pitchFamily="34" charset="-122"/>
                <a:cs typeface="Calibri" pitchFamily="34" charset="-120"/>
              </a:rPr>
              <a:t>Foundry can host/use OpenAI models and supported Claude models, deployed separately to the same Foundry resource.</a:t>
            </a:r>
            <a:endParaRPr lang="en-US" sz="1000" dirty="0"/>
          </a:p>
        </p:txBody>
      </p:sp>
      <p:sp>
        <p:nvSpPr>
          <p:cNvPr id="20" name="Shape 17"/>
          <p:cNvSpPr/>
          <p:nvPr/>
        </p:nvSpPr>
        <p:spPr>
          <a:xfrm>
            <a:off x="502920" y="5349240"/>
            <a:ext cx="10378440" cy="822960"/>
          </a:xfrm>
          <a:prstGeom prst="roundRect">
            <a:avLst>
              <a:gd name="adj" fmla="val 8889"/>
            </a:avLst>
          </a:prstGeom>
          <a:solidFill>
            <a:srgbClr val="FFE600"/>
          </a:solidFill>
          <a:ln w="12700">
            <a:solidFill>
              <a:srgbClr val="1A1A24"/>
            </a:solidFill>
            <a:prstDash val="solid"/>
          </a:ln>
        </p:spPr>
      </p:sp>
      <p:sp>
        <p:nvSpPr>
          <p:cNvPr id="21" name="Text 18"/>
          <p:cNvSpPr/>
          <p:nvPr/>
        </p:nvSpPr>
        <p:spPr>
          <a:xfrm>
            <a:off x="548640" y="5349240"/>
            <a:ext cx="10287000" cy="822960"/>
          </a:xfrm>
          <a:prstGeom prst="rect">
            <a:avLst/>
          </a:prstGeom>
          <a:noFill/>
          <a:ln/>
        </p:spPr>
        <p:txBody>
          <a:bodyPr wrap="square" lIns="0" tIns="0" rIns="0" bIns="0" rtlCol="0" anchor="ctr">
            <a:normAutofit/>
          </a:bodyPr>
          <a:lstStyle/>
          <a:p>
            <a:pPr algn="ctr" indent="0" marL="0">
              <a:lnSpc>
                <a:spcPct val="95000"/>
              </a:lnSpc>
              <a:buNone/>
            </a:pPr>
            <a:r>
              <a:rPr lang="en-US" sz="1250" b="1" dirty="0">
                <a:solidFill>
                  <a:srgbClr val="1A1A24"/>
                </a:solidFill>
                <a:latin typeface="Calibri" pitchFamily="34" charset="0"/>
                <a:ea typeface="Calibri" pitchFamily="34" charset="-122"/>
                <a:cs typeface="Calibri" pitchFamily="34" charset="-120"/>
              </a:rPr>
              <a:t>Select the model/product based on workload quality, cost, latency, context, tool use and enterprise integration requirements — not simply the model brand.</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02920" y="274320"/>
            <a:ext cx="11183112" cy="50292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How to Deploy OpenAI in Azure</a:t>
            </a:r>
            <a:endParaRPr lang="en-US" sz="2400" dirty="0"/>
          </a:p>
        </p:txBody>
      </p:sp>
      <p:sp>
        <p:nvSpPr>
          <p:cNvPr id="5" name="Text 3"/>
          <p:cNvSpPr/>
          <p:nvPr/>
        </p:nvSpPr>
        <p:spPr>
          <a:xfrm>
            <a:off x="502920" y="777240"/>
            <a:ext cx="11183112" cy="274320"/>
          </a:xfrm>
          <a:prstGeom prst="rect">
            <a:avLst/>
          </a:prstGeom>
          <a:noFill/>
          <a:ln/>
        </p:spPr>
        <p:txBody>
          <a:bodyPr wrap="square" lIns="0" tIns="0" rIns="0" bIns="0" rtlCol="0" anchor="ctr"/>
          <a:lstStyle/>
          <a:p>
            <a:pPr algn="l" indent="0" marL="0">
              <a:buNone/>
            </a:pPr>
            <a:r>
              <a:rPr lang="en-US" sz="1250" i="1" dirty="0">
                <a:solidFill>
                  <a:srgbClr val="B7B7BE"/>
                </a:solidFill>
                <a:latin typeface="Calibri" pitchFamily="34" charset="0"/>
                <a:ea typeface="Calibri" pitchFamily="34" charset="-122"/>
                <a:cs typeface="Calibri" pitchFamily="34" charset="-120"/>
              </a:rPr>
              <a:t>From Azure subscription to production AI workload</a:t>
            </a:r>
            <a:endParaRPr lang="en-US" sz="1250" dirty="0"/>
          </a:p>
        </p:txBody>
      </p:sp>
      <p:sp>
        <p:nvSpPr>
          <p:cNvPr id="6" name="Shape 4"/>
          <p:cNvSpPr/>
          <p:nvPr/>
        </p:nvSpPr>
        <p:spPr>
          <a:xfrm>
            <a:off x="502920" y="1143000"/>
            <a:ext cx="5989320" cy="402336"/>
          </a:xfrm>
          <a:prstGeom prst="roundRect">
            <a:avLst>
              <a:gd name="adj" fmla="val 11364"/>
            </a:avLst>
          </a:prstGeom>
          <a:solidFill>
            <a:srgbClr val="FFFFFF"/>
          </a:solidFill>
          <a:ln w="12700">
            <a:solidFill>
              <a:srgbClr val="B7B7BE"/>
            </a:solidFill>
            <a:prstDash val="solid"/>
          </a:ln>
        </p:spPr>
      </p:sp>
      <p:sp>
        <p:nvSpPr>
          <p:cNvPr id="7" name="Text 5"/>
          <p:cNvSpPr/>
          <p:nvPr/>
        </p:nvSpPr>
        <p:spPr>
          <a:xfrm>
            <a:off x="548640" y="1143000"/>
            <a:ext cx="5897880" cy="402336"/>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A1A24"/>
                </a:solidFill>
                <a:latin typeface="Calibri" pitchFamily="34" charset="0"/>
                <a:ea typeface="Calibri" pitchFamily="34" charset="-122"/>
                <a:cs typeface="Calibri" pitchFamily="34" charset="-120"/>
              </a:rPr>
              <a:t>01 — Azure Subscription</a:t>
            </a:r>
            <a:endParaRPr lang="en-US" sz="1100" dirty="0"/>
          </a:p>
        </p:txBody>
      </p:sp>
      <p:sp>
        <p:nvSpPr>
          <p:cNvPr id="8" name="Shape 6"/>
          <p:cNvSpPr/>
          <p:nvPr/>
        </p:nvSpPr>
        <p:spPr>
          <a:xfrm>
            <a:off x="3497580" y="1545336"/>
            <a:ext cx="0" cy="91440"/>
          </a:xfrm>
          <a:prstGeom prst="line">
            <a:avLst/>
          </a:prstGeom>
          <a:noFill/>
          <a:ln w="19050">
            <a:solidFill>
              <a:srgbClr val="B7B7BE"/>
            </a:solidFill>
            <a:prstDash val="solid"/>
            <a:tailEnd type="triangle"/>
          </a:ln>
        </p:spPr>
      </p:sp>
      <p:sp>
        <p:nvSpPr>
          <p:cNvPr id="9" name="Shape 7"/>
          <p:cNvSpPr/>
          <p:nvPr/>
        </p:nvSpPr>
        <p:spPr>
          <a:xfrm>
            <a:off x="502920" y="1636776"/>
            <a:ext cx="5989320" cy="402336"/>
          </a:xfrm>
          <a:prstGeom prst="roundRect">
            <a:avLst>
              <a:gd name="adj" fmla="val 11364"/>
            </a:avLst>
          </a:prstGeom>
          <a:solidFill>
            <a:srgbClr val="E8E8EA"/>
          </a:solidFill>
          <a:ln w="12700">
            <a:solidFill>
              <a:srgbClr val="B7B7BE"/>
            </a:solidFill>
            <a:prstDash val="solid"/>
          </a:ln>
        </p:spPr>
      </p:sp>
      <p:sp>
        <p:nvSpPr>
          <p:cNvPr id="10" name="Text 8"/>
          <p:cNvSpPr/>
          <p:nvPr/>
        </p:nvSpPr>
        <p:spPr>
          <a:xfrm>
            <a:off x="548640" y="1636776"/>
            <a:ext cx="5897880" cy="402336"/>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A1A24"/>
                </a:solidFill>
                <a:latin typeface="Calibri" pitchFamily="34" charset="0"/>
                <a:ea typeface="Calibri" pitchFamily="34" charset="-122"/>
                <a:cs typeface="Calibri" pitchFamily="34" charset="-120"/>
              </a:rPr>
              <a:t>02 — Microsoft Foundry Resource</a:t>
            </a:r>
            <a:endParaRPr lang="en-US" sz="1100" dirty="0"/>
          </a:p>
        </p:txBody>
      </p:sp>
      <p:sp>
        <p:nvSpPr>
          <p:cNvPr id="11" name="Shape 9"/>
          <p:cNvSpPr/>
          <p:nvPr/>
        </p:nvSpPr>
        <p:spPr>
          <a:xfrm>
            <a:off x="3497580" y="2039112"/>
            <a:ext cx="0" cy="91440"/>
          </a:xfrm>
          <a:prstGeom prst="line">
            <a:avLst/>
          </a:prstGeom>
          <a:noFill/>
          <a:ln w="19050">
            <a:solidFill>
              <a:srgbClr val="B7B7BE"/>
            </a:solidFill>
            <a:prstDash val="solid"/>
            <a:tailEnd type="triangle"/>
          </a:ln>
        </p:spPr>
      </p:sp>
      <p:sp>
        <p:nvSpPr>
          <p:cNvPr id="12" name="Shape 10"/>
          <p:cNvSpPr/>
          <p:nvPr/>
        </p:nvSpPr>
        <p:spPr>
          <a:xfrm>
            <a:off x="502920" y="2130552"/>
            <a:ext cx="5989320" cy="402336"/>
          </a:xfrm>
          <a:prstGeom prst="roundRect">
            <a:avLst>
              <a:gd name="adj" fmla="val 11364"/>
            </a:avLst>
          </a:prstGeom>
          <a:solidFill>
            <a:srgbClr val="FFFFFF"/>
          </a:solidFill>
          <a:ln w="12700">
            <a:solidFill>
              <a:srgbClr val="B7B7BE"/>
            </a:solidFill>
            <a:prstDash val="solid"/>
          </a:ln>
        </p:spPr>
      </p:sp>
      <p:sp>
        <p:nvSpPr>
          <p:cNvPr id="13" name="Text 11"/>
          <p:cNvSpPr/>
          <p:nvPr/>
        </p:nvSpPr>
        <p:spPr>
          <a:xfrm>
            <a:off x="548640" y="2130552"/>
            <a:ext cx="5897880" cy="402336"/>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A1A24"/>
                </a:solidFill>
                <a:latin typeface="Calibri" pitchFamily="34" charset="0"/>
                <a:ea typeface="Calibri" pitchFamily="34" charset="-122"/>
                <a:cs typeface="Calibri" pitchFamily="34" charset="-120"/>
              </a:rPr>
              <a:t>03 — Create Project / Workload Boundary</a:t>
            </a:r>
            <a:endParaRPr lang="en-US" sz="1100" dirty="0"/>
          </a:p>
        </p:txBody>
      </p:sp>
      <p:sp>
        <p:nvSpPr>
          <p:cNvPr id="14" name="Shape 12"/>
          <p:cNvSpPr/>
          <p:nvPr/>
        </p:nvSpPr>
        <p:spPr>
          <a:xfrm>
            <a:off x="3497580" y="2532888"/>
            <a:ext cx="0" cy="91440"/>
          </a:xfrm>
          <a:prstGeom prst="line">
            <a:avLst/>
          </a:prstGeom>
          <a:noFill/>
          <a:ln w="19050">
            <a:solidFill>
              <a:srgbClr val="B7B7BE"/>
            </a:solidFill>
            <a:prstDash val="solid"/>
            <a:tailEnd type="triangle"/>
          </a:ln>
        </p:spPr>
      </p:sp>
      <p:sp>
        <p:nvSpPr>
          <p:cNvPr id="15" name="Shape 13"/>
          <p:cNvSpPr/>
          <p:nvPr/>
        </p:nvSpPr>
        <p:spPr>
          <a:xfrm>
            <a:off x="502920" y="2624328"/>
            <a:ext cx="5989320" cy="402336"/>
          </a:xfrm>
          <a:prstGeom prst="roundRect">
            <a:avLst>
              <a:gd name="adj" fmla="val 11364"/>
            </a:avLst>
          </a:prstGeom>
          <a:solidFill>
            <a:srgbClr val="FFE600"/>
          </a:solidFill>
          <a:ln w="12700">
            <a:solidFill>
              <a:srgbClr val="B7B7BE"/>
            </a:solidFill>
            <a:prstDash val="solid"/>
          </a:ln>
        </p:spPr>
      </p:sp>
      <p:sp>
        <p:nvSpPr>
          <p:cNvPr id="16" name="Text 14"/>
          <p:cNvSpPr/>
          <p:nvPr/>
        </p:nvSpPr>
        <p:spPr>
          <a:xfrm>
            <a:off x="548640" y="2624328"/>
            <a:ext cx="5897880" cy="402336"/>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A1A24"/>
                </a:solidFill>
                <a:latin typeface="Calibri" pitchFamily="34" charset="0"/>
                <a:ea typeface="Calibri" pitchFamily="34" charset="-122"/>
                <a:cs typeface="Calibri" pitchFamily="34" charset="-120"/>
              </a:rPr>
              <a:t>04 — Select Region &amp; Deployment Type</a:t>
            </a:r>
            <a:endParaRPr lang="en-US" sz="1100" dirty="0"/>
          </a:p>
        </p:txBody>
      </p:sp>
      <p:sp>
        <p:nvSpPr>
          <p:cNvPr id="17" name="Shape 15"/>
          <p:cNvSpPr/>
          <p:nvPr/>
        </p:nvSpPr>
        <p:spPr>
          <a:xfrm>
            <a:off x="3497580" y="3026664"/>
            <a:ext cx="0" cy="91440"/>
          </a:xfrm>
          <a:prstGeom prst="line">
            <a:avLst/>
          </a:prstGeom>
          <a:noFill/>
          <a:ln w="19050">
            <a:solidFill>
              <a:srgbClr val="B7B7BE"/>
            </a:solidFill>
            <a:prstDash val="solid"/>
            <a:tailEnd type="triangle"/>
          </a:ln>
        </p:spPr>
      </p:sp>
      <p:sp>
        <p:nvSpPr>
          <p:cNvPr id="18" name="Shape 16"/>
          <p:cNvSpPr/>
          <p:nvPr/>
        </p:nvSpPr>
        <p:spPr>
          <a:xfrm>
            <a:off x="502920" y="3118104"/>
            <a:ext cx="5989320" cy="402336"/>
          </a:xfrm>
          <a:prstGeom prst="roundRect">
            <a:avLst>
              <a:gd name="adj" fmla="val 11364"/>
            </a:avLst>
          </a:prstGeom>
          <a:solidFill>
            <a:srgbClr val="FFFFFF"/>
          </a:solidFill>
          <a:ln w="12700">
            <a:solidFill>
              <a:srgbClr val="B7B7BE"/>
            </a:solidFill>
            <a:prstDash val="solid"/>
          </a:ln>
        </p:spPr>
      </p:sp>
      <p:sp>
        <p:nvSpPr>
          <p:cNvPr id="19" name="Text 17"/>
          <p:cNvSpPr/>
          <p:nvPr/>
        </p:nvSpPr>
        <p:spPr>
          <a:xfrm>
            <a:off x="548640" y="3118104"/>
            <a:ext cx="5897880" cy="402336"/>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A1A24"/>
                </a:solidFill>
                <a:latin typeface="Calibri" pitchFamily="34" charset="0"/>
                <a:ea typeface="Calibri" pitchFamily="34" charset="-122"/>
                <a:cs typeface="Calibri" pitchFamily="34" charset="-120"/>
              </a:rPr>
              <a:t>05 — Select OpenAI Model</a:t>
            </a:r>
            <a:endParaRPr lang="en-US" sz="1100" dirty="0"/>
          </a:p>
        </p:txBody>
      </p:sp>
      <p:sp>
        <p:nvSpPr>
          <p:cNvPr id="20" name="Shape 18"/>
          <p:cNvSpPr/>
          <p:nvPr/>
        </p:nvSpPr>
        <p:spPr>
          <a:xfrm>
            <a:off x="3497580" y="3520440"/>
            <a:ext cx="0" cy="91440"/>
          </a:xfrm>
          <a:prstGeom prst="line">
            <a:avLst/>
          </a:prstGeom>
          <a:noFill/>
          <a:ln w="19050">
            <a:solidFill>
              <a:srgbClr val="B7B7BE"/>
            </a:solidFill>
            <a:prstDash val="solid"/>
            <a:tailEnd type="triangle"/>
          </a:ln>
        </p:spPr>
      </p:sp>
      <p:sp>
        <p:nvSpPr>
          <p:cNvPr id="21" name="Shape 19"/>
          <p:cNvSpPr/>
          <p:nvPr/>
        </p:nvSpPr>
        <p:spPr>
          <a:xfrm>
            <a:off x="502920" y="3611880"/>
            <a:ext cx="5989320" cy="402336"/>
          </a:xfrm>
          <a:prstGeom prst="roundRect">
            <a:avLst>
              <a:gd name="adj" fmla="val 11364"/>
            </a:avLst>
          </a:prstGeom>
          <a:solidFill>
            <a:srgbClr val="E8E8EA"/>
          </a:solidFill>
          <a:ln w="12700">
            <a:solidFill>
              <a:srgbClr val="B7B7BE"/>
            </a:solidFill>
            <a:prstDash val="solid"/>
          </a:ln>
        </p:spPr>
      </p:sp>
      <p:sp>
        <p:nvSpPr>
          <p:cNvPr id="22" name="Text 20"/>
          <p:cNvSpPr/>
          <p:nvPr/>
        </p:nvSpPr>
        <p:spPr>
          <a:xfrm>
            <a:off x="548640" y="3611880"/>
            <a:ext cx="5897880" cy="402336"/>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A1A24"/>
                </a:solidFill>
                <a:latin typeface="Calibri" pitchFamily="34" charset="0"/>
                <a:ea typeface="Calibri" pitchFamily="34" charset="-122"/>
                <a:cs typeface="Calibri" pitchFamily="34" charset="-120"/>
              </a:rPr>
              <a:t>06 — Deploy Model</a:t>
            </a:r>
            <a:endParaRPr lang="en-US" sz="1100" dirty="0"/>
          </a:p>
        </p:txBody>
      </p:sp>
      <p:sp>
        <p:nvSpPr>
          <p:cNvPr id="23" name="Shape 21"/>
          <p:cNvSpPr/>
          <p:nvPr/>
        </p:nvSpPr>
        <p:spPr>
          <a:xfrm>
            <a:off x="3497580" y="4014216"/>
            <a:ext cx="0" cy="91440"/>
          </a:xfrm>
          <a:prstGeom prst="line">
            <a:avLst/>
          </a:prstGeom>
          <a:noFill/>
          <a:ln w="19050">
            <a:solidFill>
              <a:srgbClr val="B7B7BE"/>
            </a:solidFill>
            <a:prstDash val="solid"/>
            <a:tailEnd type="triangle"/>
          </a:ln>
        </p:spPr>
      </p:sp>
      <p:sp>
        <p:nvSpPr>
          <p:cNvPr id="24" name="Shape 22"/>
          <p:cNvSpPr/>
          <p:nvPr/>
        </p:nvSpPr>
        <p:spPr>
          <a:xfrm>
            <a:off x="502920" y="4105656"/>
            <a:ext cx="5989320" cy="402336"/>
          </a:xfrm>
          <a:prstGeom prst="roundRect">
            <a:avLst>
              <a:gd name="adj" fmla="val 11364"/>
            </a:avLst>
          </a:prstGeom>
          <a:solidFill>
            <a:srgbClr val="FFFFFF"/>
          </a:solidFill>
          <a:ln w="12700">
            <a:solidFill>
              <a:srgbClr val="B7B7BE"/>
            </a:solidFill>
            <a:prstDash val="solid"/>
          </a:ln>
        </p:spPr>
      </p:sp>
      <p:sp>
        <p:nvSpPr>
          <p:cNvPr id="25" name="Text 23"/>
          <p:cNvSpPr/>
          <p:nvPr/>
        </p:nvSpPr>
        <p:spPr>
          <a:xfrm>
            <a:off x="548640" y="4105656"/>
            <a:ext cx="5897880" cy="402336"/>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A1A24"/>
                </a:solidFill>
                <a:latin typeface="Calibri" pitchFamily="34" charset="0"/>
                <a:ea typeface="Calibri" pitchFamily="34" charset="-122"/>
                <a:cs typeface="Calibri" pitchFamily="34" charset="-120"/>
              </a:rPr>
              <a:t>07 — Connect Data &amp; Tools</a:t>
            </a:r>
            <a:endParaRPr lang="en-US" sz="1100" dirty="0"/>
          </a:p>
        </p:txBody>
      </p:sp>
      <p:sp>
        <p:nvSpPr>
          <p:cNvPr id="26" name="Shape 24"/>
          <p:cNvSpPr/>
          <p:nvPr/>
        </p:nvSpPr>
        <p:spPr>
          <a:xfrm>
            <a:off x="3497580" y="4507992"/>
            <a:ext cx="0" cy="91440"/>
          </a:xfrm>
          <a:prstGeom prst="line">
            <a:avLst/>
          </a:prstGeom>
          <a:noFill/>
          <a:ln w="19050">
            <a:solidFill>
              <a:srgbClr val="B7B7BE"/>
            </a:solidFill>
            <a:prstDash val="solid"/>
            <a:tailEnd type="triangle"/>
          </a:ln>
        </p:spPr>
      </p:sp>
      <p:sp>
        <p:nvSpPr>
          <p:cNvPr id="27" name="Shape 25"/>
          <p:cNvSpPr/>
          <p:nvPr/>
        </p:nvSpPr>
        <p:spPr>
          <a:xfrm>
            <a:off x="502920" y="4599432"/>
            <a:ext cx="5989320" cy="402336"/>
          </a:xfrm>
          <a:prstGeom prst="roundRect">
            <a:avLst>
              <a:gd name="adj" fmla="val 11364"/>
            </a:avLst>
          </a:prstGeom>
          <a:solidFill>
            <a:srgbClr val="E8E8EA"/>
          </a:solidFill>
          <a:ln w="12700">
            <a:solidFill>
              <a:srgbClr val="B7B7BE"/>
            </a:solidFill>
            <a:prstDash val="solid"/>
          </a:ln>
        </p:spPr>
      </p:sp>
      <p:sp>
        <p:nvSpPr>
          <p:cNvPr id="28" name="Text 26"/>
          <p:cNvSpPr/>
          <p:nvPr/>
        </p:nvSpPr>
        <p:spPr>
          <a:xfrm>
            <a:off x="548640" y="4599432"/>
            <a:ext cx="5897880" cy="402336"/>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A1A24"/>
                </a:solidFill>
                <a:latin typeface="Calibri" pitchFamily="34" charset="0"/>
                <a:ea typeface="Calibri" pitchFamily="34" charset="-122"/>
                <a:cs typeface="Calibri" pitchFamily="34" charset="-120"/>
              </a:rPr>
              <a:t>08 — Monitor, Evaluate &amp; Govern</a:t>
            </a:r>
            <a:endParaRPr lang="en-US" sz="1100" dirty="0"/>
          </a:p>
        </p:txBody>
      </p:sp>
      <p:sp>
        <p:nvSpPr>
          <p:cNvPr id="29" name="Text 27"/>
          <p:cNvSpPr/>
          <p:nvPr/>
        </p:nvSpPr>
        <p:spPr>
          <a:xfrm>
            <a:off x="6766560" y="1143000"/>
            <a:ext cx="4937760" cy="274320"/>
          </a:xfrm>
          <a:prstGeom prst="rect">
            <a:avLst/>
          </a:prstGeom>
          <a:noFill/>
          <a:ln/>
        </p:spPr>
        <p:txBody>
          <a:bodyPr wrap="square" lIns="0" tIns="0" rIns="0" bIns="0" rtlCol="0" anchor="ctr"/>
          <a:lstStyle/>
          <a:p>
            <a:pPr algn="l" indent="0" marL="0">
              <a:buNone/>
            </a:pPr>
            <a:r>
              <a:rPr lang="en-US" sz="1200" b="1" dirty="0">
                <a:solidFill>
                  <a:srgbClr val="FFE600"/>
                </a:solidFill>
                <a:latin typeface="Calibri" pitchFamily="34" charset="0"/>
                <a:ea typeface="Calibri" pitchFamily="34" charset="-122"/>
                <a:cs typeface="Calibri" pitchFamily="34" charset="-120"/>
              </a:rPr>
              <a:t>SUPPORTING SERVICES</a:t>
            </a:r>
            <a:endParaRPr lang="en-US" sz="1200" dirty="0"/>
          </a:p>
        </p:txBody>
      </p:sp>
      <p:sp>
        <p:nvSpPr>
          <p:cNvPr id="30" name="Shape 28"/>
          <p:cNvSpPr/>
          <p:nvPr/>
        </p:nvSpPr>
        <p:spPr>
          <a:xfrm>
            <a:off x="6766560" y="1508760"/>
            <a:ext cx="2377440" cy="457200"/>
          </a:xfrm>
          <a:prstGeom prst="roundRect">
            <a:avLst>
              <a:gd name="adj" fmla="val 10000"/>
            </a:avLst>
          </a:prstGeom>
          <a:solidFill>
            <a:srgbClr val="43424B"/>
          </a:solidFill>
          <a:ln w="12700">
            <a:solidFill>
              <a:srgbClr val="B7B7BE"/>
            </a:solidFill>
            <a:prstDash val="solid"/>
          </a:ln>
        </p:spPr>
      </p:sp>
      <p:sp>
        <p:nvSpPr>
          <p:cNvPr id="31" name="Text 29"/>
          <p:cNvSpPr/>
          <p:nvPr/>
        </p:nvSpPr>
        <p:spPr>
          <a:xfrm>
            <a:off x="6812280" y="1508760"/>
            <a:ext cx="2286000" cy="457200"/>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Azure AI Search</a:t>
            </a:r>
            <a:endParaRPr lang="en-US" sz="950" dirty="0"/>
          </a:p>
        </p:txBody>
      </p:sp>
      <p:sp>
        <p:nvSpPr>
          <p:cNvPr id="32" name="Shape 30"/>
          <p:cNvSpPr/>
          <p:nvPr/>
        </p:nvSpPr>
        <p:spPr>
          <a:xfrm>
            <a:off x="9326880" y="1508760"/>
            <a:ext cx="2377440" cy="457200"/>
          </a:xfrm>
          <a:prstGeom prst="roundRect">
            <a:avLst>
              <a:gd name="adj" fmla="val 10000"/>
            </a:avLst>
          </a:prstGeom>
          <a:solidFill>
            <a:srgbClr val="43424B"/>
          </a:solidFill>
          <a:ln w="12700">
            <a:solidFill>
              <a:srgbClr val="B7B7BE"/>
            </a:solidFill>
            <a:prstDash val="solid"/>
          </a:ln>
        </p:spPr>
      </p:sp>
      <p:sp>
        <p:nvSpPr>
          <p:cNvPr id="33" name="Text 31"/>
          <p:cNvSpPr/>
          <p:nvPr/>
        </p:nvSpPr>
        <p:spPr>
          <a:xfrm>
            <a:off x="9372600" y="1508760"/>
            <a:ext cx="2286000" cy="457200"/>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Azure Storage</a:t>
            </a:r>
            <a:endParaRPr lang="en-US" sz="950" dirty="0"/>
          </a:p>
        </p:txBody>
      </p:sp>
      <p:sp>
        <p:nvSpPr>
          <p:cNvPr id="34" name="Shape 32"/>
          <p:cNvSpPr/>
          <p:nvPr/>
        </p:nvSpPr>
        <p:spPr>
          <a:xfrm>
            <a:off x="6766560" y="2093976"/>
            <a:ext cx="2377440" cy="457200"/>
          </a:xfrm>
          <a:prstGeom prst="roundRect">
            <a:avLst>
              <a:gd name="adj" fmla="val 10000"/>
            </a:avLst>
          </a:prstGeom>
          <a:solidFill>
            <a:srgbClr val="43424B"/>
          </a:solidFill>
          <a:ln w="12700">
            <a:solidFill>
              <a:srgbClr val="B7B7BE"/>
            </a:solidFill>
            <a:prstDash val="solid"/>
          </a:ln>
        </p:spPr>
      </p:sp>
      <p:sp>
        <p:nvSpPr>
          <p:cNvPr id="35" name="Text 33"/>
          <p:cNvSpPr/>
          <p:nvPr/>
        </p:nvSpPr>
        <p:spPr>
          <a:xfrm>
            <a:off x="6812280" y="2093976"/>
            <a:ext cx="2286000" cy="457200"/>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Azure Key Vault</a:t>
            </a:r>
            <a:endParaRPr lang="en-US" sz="950" dirty="0"/>
          </a:p>
        </p:txBody>
      </p:sp>
      <p:sp>
        <p:nvSpPr>
          <p:cNvPr id="36" name="Shape 34"/>
          <p:cNvSpPr/>
          <p:nvPr/>
        </p:nvSpPr>
        <p:spPr>
          <a:xfrm>
            <a:off x="9326880" y="2093976"/>
            <a:ext cx="2377440" cy="457200"/>
          </a:xfrm>
          <a:prstGeom prst="roundRect">
            <a:avLst>
              <a:gd name="adj" fmla="val 10000"/>
            </a:avLst>
          </a:prstGeom>
          <a:solidFill>
            <a:srgbClr val="43424B"/>
          </a:solidFill>
          <a:ln w="12700">
            <a:solidFill>
              <a:srgbClr val="B7B7BE"/>
            </a:solidFill>
            <a:prstDash val="solid"/>
          </a:ln>
        </p:spPr>
      </p:sp>
      <p:sp>
        <p:nvSpPr>
          <p:cNvPr id="37" name="Text 35"/>
          <p:cNvSpPr/>
          <p:nvPr/>
        </p:nvSpPr>
        <p:spPr>
          <a:xfrm>
            <a:off x="9372600" y="2093976"/>
            <a:ext cx="2286000" cy="457200"/>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Azure Monitor</a:t>
            </a:r>
            <a:endParaRPr lang="en-US" sz="950" dirty="0"/>
          </a:p>
        </p:txBody>
      </p:sp>
      <p:sp>
        <p:nvSpPr>
          <p:cNvPr id="38" name="Shape 36"/>
          <p:cNvSpPr/>
          <p:nvPr/>
        </p:nvSpPr>
        <p:spPr>
          <a:xfrm>
            <a:off x="6766560" y="2679192"/>
            <a:ext cx="2377440" cy="457200"/>
          </a:xfrm>
          <a:prstGeom prst="roundRect">
            <a:avLst>
              <a:gd name="adj" fmla="val 10000"/>
            </a:avLst>
          </a:prstGeom>
          <a:solidFill>
            <a:srgbClr val="43424B"/>
          </a:solidFill>
          <a:ln w="12700">
            <a:solidFill>
              <a:srgbClr val="B7B7BE"/>
            </a:solidFill>
            <a:prstDash val="solid"/>
          </a:ln>
        </p:spPr>
      </p:sp>
      <p:sp>
        <p:nvSpPr>
          <p:cNvPr id="39" name="Text 37"/>
          <p:cNvSpPr/>
          <p:nvPr/>
        </p:nvSpPr>
        <p:spPr>
          <a:xfrm>
            <a:off x="6812280" y="2679192"/>
            <a:ext cx="2286000" cy="457200"/>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Application Insights</a:t>
            </a:r>
            <a:endParaRPr lang="en-US" sz="950" dirty="0"/>
          </a:p>
        </p:txBody>
      </p:sp>
      <p:sp>
        <p:nvSpPr>
          <p:cNvPr id="40" name="Shape 38"/>
          <p:cNvSpPr/>
          <p:nvPr/>
        </p:nvSpPr>
        <p:spPr>
          <a:xfrm>
            <a:off x="9326880" y="2679192"/>
            <a:ext cx="2377440" cy="457200"/>
          </a:xfrm>
          <a:prstGeom prst="roundRect">
            <a:avLst>
              <a:gd name="adj" fmla="val 10000"/>
            </a:avLst>
          </a:prstGeom>
          <a:solidFill>
            <a:srgbClr val="43424B"/>
          </a:solidFill>
          <a:ln w="12700">
            <a:solidFill>
              <a:srgbClr val="B7B7BE"/>
            </a:solidFill>
            <a:prstDash val="solid"/>
          </a:ln>
        </p:spPr>
      </p:sp>
      <p:sp>
        <p:nvSpPr>
          <p:cNvPr id="41" name="Text 39"/>
          <p:cNvSpPr/>
          <p:nvPr/>
        </p:nvSpPr>
        <p:spPr>
          <a:xfrm>
            <a:off x="9372600" y="2679192"/>
            <a:ext cx="2286000" cy="457200"/>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FFFFFF"/>
                </a:solidFill>
                <a:latin typeface="Calibri" pitchFamily="34" charset="0"/>
                <a:ea typeface="Calibri" pitchFamily="34" charset="-122"/>
                <a:cs typeface="Calibri" pitchFamily="34" charset="-120"/>
              </a:rPr>
              <a:t>App Service / Container Apps</a:t>
            </a:r>
            <a:endParaRPr lang="en-US" sz="950" dirty="0"/>
          </a:p>
        </p:txBody>
      </p:sp>
      <p:sp>
        <p:nvSpPr>
          <p:cNvPr id="42" name="Shape 40"/>
          <p:cNvSpPr/>
          <p:nvPr/>
        </p:nvSpPr>
        <p:spPr>
          <a:xfrm>
            <a:off x="6766560" y="3264408"/>
            <a:ext cx="2377440" cy="457200"/>
          </a:xfrm>
          <a:prstGeom prst="roundRect">
            <a:avLst>
              <a:gd name="adj" fmla="val 10000"/>
            </a:avLst>
          </a:prstGeom>
          <a:solidFill>
            <a:srgbClr val="2B2A33"/>
          </a:solidFill>
          <a:ln w="12700">
            <a:solidFill>
              <a:srgbClr val="B7B7BE"/>
            </a:solidFill>
            <a:prstDash val="solid"/>
          </a:ln>
        </p:spPr>
      </p:sp>
      <p:sp>
        <p:nvSpPr>
          <p:cNvPr id="43" name="Text 41"/>
          <p:cNvSpPr/>
          <p:nvPr/>
        </p:nvSpPr>
        <p:spPr>
          <a:xfrm>
            <a:off x="6812280" y="3264408"/>
            <a:ext cx="2286000" cy="457200"/>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B7B7BE"/>
                </a:solidFill>
                <a:latin typeface="Calibri" pitchFamily="34" charset="0"/>
                <a:ea typeface="Calibri" pitchFamily="34" charset="-122"/>
                <a:cs typeface="Calibri" pitchFamily="34" charset="-120"/>
              </a:rPr>
              <a:t>Microsoft Entra ID</a:t>
            </a:r>
            <a:endParaRPr lang="en-US" sz="950" dirty="0"/>
          </a:p>
        </p:txBody>
      </p:sp>
      <p:sp>
        <p:nvSpPr>
          <p:cNvPr id="44" name="Text 42"/>
          <p:cNvSpPr/>
          <p:nvPr/>
        </p:nvSpPr>
        <p:spPr>
          <a:xfrm>
            <a:off x="9326880" y="3264408"/>
            <a:ext cx="2377440" cy="457200"/>
          </a:xfrm>
          <a:prstGeom prst="rect">
            <a:avLst/>
          </a:prstGeom>
          <a:noFill/>
          <a:ln/>
        </p:spPr>
        <p:txBody>
          <a:bodyPr wrap="square" lIns="0" tIns="0" rIns="0" bIns="0" rtlCol="0" anchor="ctr"/>
          <a:lstStyle/>
          <a:p>
            <a:pPr algn="l" indent="0" marL="0">
              <a:buNone/>
            </a:pPr>
            <a:r>
              <a:rPr lang="en-US" sz="850" i="1" dirty="0">
                <a:solidFill>
                  <a:srgbClr val="B7B7BE"/>
                </a:solidFill>
                <a:latin typeface="Calibri" pitchFamily="34" charset="0"/>
                <a:ea typeface="Calibri" pitchFamily="34" charset="-122"/>
                <a:cs typeface="Calibri" pitchFamily="34" charset="-120"/>
              </a:rPr>
              <a:t>Identity dependency — see Slide 3 for authentication detail</a:t>
            </a:r>
            <a:endParaRPr lang="en-US" sz="850" dirty="0"/>
          </a:p>
        </p:txBody>
      </p:sp>
      <p:sp>
        <p:nvSpPr>
          <p:cNvPr id="45" name="Shape 43"/>
          <p:cNvSpPr/>
          <p:nvPr/>
        </p:nvSpPr>
        <p:spPr>
          <a:xfrm>
            <a:off x="6766560" y="3995928"/>
            <a:ext cx="4937760" cy="1417320"/>
          </a:xfrm>
          <a:prstGeom prst="roundRect">
            <a:avLst>
              <a:gd name="adj" fmla="val 5161"/>
            </a:avLst>
          </a:prstGeom>
          <a:solidFill>
            <a:srgbClr val="43424B"/>
          </a:solidFill>
          <a:ln w="12700">
            <a:solidFill>
              <a:srgbClr val="B7B7BE"/>
            </a:solidFill>
            <a:prstDash val="solid"/>
          </a:ln>
        </p:spPr>
      </p:sp>
      <p:sp>
        <p:nvSpPr>
          <p:cNvPr id="46" name="Text 44"/>
          <p:cNvSpPr/>
          <p:nvPr/>
        </p:nvSpPr>
        <p:spPr>
          <a:xfrm>
            <a:off x="6812280" y="3995928"/>
            <a:ext cx="4846320" cy="1417320"/>
          </a:xfrm>
          <a:prstGeom prst="rect">
            <a:avLst/>
          </a:prstGeom>
          <a:noFill/>
          <a:ln/>
        </p:spPr>
        <p:txBody>
          <a:bodyPr wrap="square" lIns="0" tIns="0" rIns="0" bIns="0" rtlCol="0" anchor="ctr">
            <a:normAutofit/>
          </a:bodyPr>
          <a:lstStyle/>
          <a:p>
            <a:pPr algn="ctr" indent="0" marL="0">
              <a:lnSpc>
                <a:spcPct val="95000"/>
              </a:lnSpc>
              <a:buNone/>
            </a:pPr>
            <a:r>
              <a:rPr lang="en-US" sz="1100" dirty="0">
                <a:solidFill>
                  <a:srgbClr val="E8E8EA"/>
                </a:solidFill>
                <a:latin typeface="Calibri" pitchFamily="34" charset="0"/>
                <a:ea typeface="Calibri" pitchFamily="34" charset="-122"/>
                <a:cs typeface="Calibri" pitchFamily="34" charset="-120"/>
              </a:rPr>
              <a:t>Model deployment is only one part of productionization — the workload also needs data integration, networking, identity, monitoring and governance.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02920" y="274320"/>
            <a:ext cx="11183112"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Authentication &amp; Identity — API Keys vs Microsoft Entra ID</a:t>
            </a:r>
            <a:endParaRPr lang="en-US" sz="2200" dirty="0"/>
          </a:p>
        </p:txBody>
      </p:sp>
      <p:sp>
        <p:nvSpPr>
          <p:cNvPr id="5" name="Shape 3"/>
          <p:cNvSpPr/>
          <p:nvPr/>
        </p:nvSpPr>
        <p:spPr>
          <a:xfrm>
            <a:off x="6094476" y="1005840"/>
            <a:ext cx="0" cy="5029200"/>
          </a:xfrm>
          <a:prstGeom prst="line">
            <a:avLst/>
          </a:prstGeom>
          <a:noFill/>
          <a:ln w="12700">
            <a:solidFill>
              <a:srgbClr val="B7B7BE"/>
            </a:solidFill>
            <a:prstDash val="dash"/>
          </a:ln>
        </p:spPr>
      </p:sp>
      <p:sp>
        <p:nvSpPr>
          <p:cNvPr id="6" name="Text 4"/>
          <p:cNvSpPr/>
          <p:nvPr/>
        </p:nvSpPr>
        <p:spPr>
          <a:xfrm>
            <a:off x="502920" y="1051560"/>
            <a:ext cx="5486400" cy="320040"/>
          </a:xfrm>
          <a:prstGeom prst="rect">
            <a:avLst/>
          </a:prstGeom>
          <a:noFill/>
          <a:ln/>
        </p:spPr>
        <p:txBody>
          <a:bodyPr wrap="square" lIns="0" tIns="0" rIns="0" bIns="0" rtlCol="0" anchor="ctr"/>
          <a:lstStyle/>
          <a:p>
            <a:pPr algn="l" indent="0" marL="0">
              <a:buNone/>
            </a:pPr>
            <a:r>
              <a:rPr lang="en-US" sz="1500" b="1" dirty="0">
                <a:solidFill>
                  <a:srgbClr val="FFFFFF"/>
                </a:solidFill>
                <a:latin typeface="Cambria" pitchFamily="34" charset="0"/>
                <a:ea typeface="Cambria" pitchFamily="34" charset="-122"/>
                <a:cs typeface="Cambria" pitchFamily="34" charset="-120"/>
              </a:rPr>
              <a:t>API Key Pattern</a:t>
            </a:r>
            <a:endParaRPr lang="en-US" sz="1500" dirty="0"/>
          </a:p>
        </p:txBody>
      </p:sp>
      <p:sp>
        <p:nvSpPr>
          <p:cNvPr id="7" name="Shape 5"/>
          <p:cNvSpPr/>
          <p:nvPr/>
        </p:nvSpPr>
        <p:spPr>
          <a:xfrm>
            <a:off x="1188720" y="1463040"/>
            <a:ext cx="4114800" cy="411480"/>
          </a:xfrm>
          <a:prstGeom prst="roundRect">
            <a:avLst>
              <a:gd name="adj" fmla="val 11111"/>
            </a:avLst>
          </a:prstGeom>
          <a:solidFill>
            <a:srgbClr val="FFFFFF"/>
          </a:solidFill>
          <a:ln w="12700">
            <a:solidFill>
              <a:srgbClr val="B7B7BE"/>
            </a:solidFill>
            <a:prstDash val="solid"/>
          </a:ln>
        </p:spPr>
      </p:sp>
      <p:sp>
        <p:nvSpPr>
          <p:cNvPr id="8" name="Text 6"/>
          <p:cNvSpPr/>
          <p:nvPr/>
        </p:nvSpPr>
        <p:spPr>
          <a:xfrm>
            <a:off x="1234440" y="1463040"/>
            <a:ext cx="4023360" cy="4114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A1A24"/>
                </a:solidFill>
                <a:latin typeface="Calibri" pitchFamily="34" charset="0"/>
                <a:ea typeface="Calibri" pitchFamily="34" charset="-122"/>
                <a:cs typeface="Calibri" pitchFamily="34" charset="-120"/>
              </a:rPr>
              <a:t>Application</a:t>
            </a:r>
            <a:endParaRPr lang="en-US" sz="1100" dirty="0"/>
          </a:p>
        </p:txBody>
      </p:sp>
      <p:sp>
        <p:nvSpPr>
          <p:cNvPr id="9" name="Shape 7"/>
          <p:cNvSpPr/>
          <p:nvPr/>
        </p:nvSpPr>
        <p:spPr>
          <a:xfrm>
            <a:off x="3246120" y="1874520"/>
            <a:ext cx="0" cy="228600"/>
          </a:xfrm>
          <a:prstGeom prst="line">
            <a:avLst/>
          </a:prstGeom>
          <a:noFill/>
          <a:ln w="19050">
            <a:solidFill>
              <a:srgbClr val="B7B7BE"/>
            </a:solidFill>
            <a:prstDash val="solid"/>
            <a:tailEnd type="triangle"/>
          </a:ln>
        </p:spPr>
      </p:sp>
      <p:sp>
        <p:nvSpPr>
          <p:cNvPr id="10" name="Text 8"/>
          <p:cNvSpPr/>
          <p:nvPr/>
        </p:nvSpPr>
        <p:spPr>
          <a:xfrm>
            <a:off x="3355848" y="1847088"/>
            <a:ext cx="1828800" cy="237744"/>
          </a:xfrm>
          <a:prstGeom prst="rect">
            <a:avLst/>
          </a:prstGeom>
          <a:noFill/>
          <a:ln/>
        </p:spPr>
        <p:txBody>
          <a:bodyPr wrap="square" lIns="0" tIns="0" rIns="0" bIns="0" rtlCol="0" anchor="ctr"/>
          <a:lstStyle/>
          <a:p>
            <a:pPr algn="l" indent="0" marL="0">
              <a:buNone/>
            </a:pPr>
            <a:r>
              <a:rPr lang="en-US" sz="900" i="1" dirty="0">
                <a:solidFill>
                  <a:srgbClr val="B7B7BE"/>
                </a:solidFill>
                <a:latin typeface="Calibri" pitchFamily="34" charset="0"/>
                <a:ea typeface="Calibri" pitchFamily="34" charset="-122"/>
                <a:cs typeface="Calibri" pitchFamily="34" charset="-120"/>
              </a:rPr>
              <a:t>API Key</a:t>
            </a:r>
            <a:endParaRPr lang="en-US" sz="900" dirty="0"/>
          </a:p>
        </p:txBody>
      </p:sp>
      <p:sp>
        <p:nvSpPr>
          <p:cNvPr id="11" name="Shape 9"/>
          <p:cNvSpPr/>
          <p:nvPr/>
        </p:nvSpPr>
        <p:spPr>
          <a:xfrm>
            <a:off x="1188720" y="2103120"/>
            <a:ext cx="4114800" cy="411480"/>
          </a:xfrm>
          <a:prstGeom prst="roundRect">
            <a:avLst>
              <a:gd name="adj" fmla="val 11111"/>
            </a:avLst>
          </a:prstGeom>
          <a:solidFill>
            <a:srgbClr val="43424B"/>
          </a:solidFill>
          <a:ln w="12700">
            <a:solidFill>
              <a:srgbClr val="B7B7BE"/>
            </a:solidFill>
            <a:prstDash val="solid"/>
          </a:ln>
        </p:spPr>
      </p:sp>
      <p:sp>
        <p:nvSpPr>
          <p:cNvPr id="12" name="Text 10"/>
          <p:cNvSpPr/>
          <p:nvPr/>
        </p:nvSpPr>
        <p:spPr>
          <a:xfrm>
            <a:off x="1234440" y="2103120"/>
            <a:ext cx="4023360" cy="4114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Azure OpenAI / Foundry</a:t>
            </a:r>
            <a:endParaRPr lang="en-US" sz="1100" dirty="0"/>
          </a:p>
        </p:txBody>
      </p:sp>
      <p:sp>
        <p:nvSpPr>
          <p:cNvPr id="13" name="Text 11"/>
          <p:cNvSpPr/>
          <p:nvPr/>
        </p:nvSpPr>
        <p:spPr>
          <a:xfrm>
            <a:off x="502920" y="2788920"/>
            <a:ext cx="5486400" cy="274320"/>
          </a:xfrm>
          <a:prstGeom prst="rect">
            <a:avLst/>
          </a:prstGeom>
          <a:noFill/>
          <a:ln/>
        </p:spPr>
        <p:txBody>
          <a:bodyPr wrap="square" lIns="0" tIns="0" rIns="0" bIns="0" rtlCol="0" anchor="ctr"/>
          <a:lstStyle/>
          <a:p>
            <a:pPr algn="l" indent="0" marL="0">
              <a:buNone/>
            </a:pPr>
            <a:r>
              <a:rPr lang="en-US" sz="1250" b="1" dirty="0">
                <a:solidFill>
                  <a:srgbClr val="FFE600"/>
                </a:solidFill>
                <a:latin typeface="Calibri" pitchFamily="34" charset="0"/>
                <a:ea typeface="Calibri" pitchFamily="34" charset="-122"/>
                <a:cs typeface="Calibri" pitchFamily="34" charset="-120"/>
              </a:rPr>
              <a:t>Drawbacks</a:t>
            </a:r>
            <a:endParaRPr lang="en-US" sz="1250" dirty="0"/>
          </a:p>
        </p:txBody>
      </p:sp>
      <p:sp>
        <p:nvSpPr>
          <p:cNvPr id="14" name="Text 12"/>
          <p:cNvSpPr/>
          <p:nvPr/>
        </p:nvSpPr>
        <p:spPr>
          <a:xfrm>
            <a:off x="502920" y="3108960"/>
            <a:ext cx="5486400" cy="201168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Long-lived secret must be stored by the application</a:t>
            </a:r>
            <a:endParaRPr lang="en-US" sz="1100" dirty="0"/>
          </a:p>
          <a:p>
            <a:pPr marL="152400" indent="-152400">
              <a:lnSpc>
                <a:spcPct val="105000"/>
              </a:lnSpc>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Requires secret storage &amp; rotation</a:t>
            </a:r>
            <a:endParaRPr lang="en-US" sz="1100" dirty="0"/>
          </a:p>
          <a:p>
            <a:pPr marL="152400" indent="-152400">
              <a:lnSpc>
                <a:spcPct val="105000"/>
              </a:lnSpc>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Risk of accidental exposure</a:t>
            </a:r>
            <a:endParaRPr lang="en-US" sz="1100" dirty="0"/>
          </a:p>
          <a:p>
            <a:pPr marL="152400" indent="-152400">
              <a:lnSpc>
                <a:spcPct val="105000"/>
              </a:lnSpc>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Harder to establish workload-specific identity at scale</a:t>
            </a:r>
            <a:endParaRPr lang="en-US" sz="1100" dirty="0"/>
          </a:p>
        </p:txBody>
      </p:sp>
      <p:sp>
        <p:nvSpPr>
          <p:cNvPr id="15" name="Text 13"/>
          <p:cNvSpPr/>
          <p:nvPr/>
        </p:nvSpPr>
        <p:spPr>
          <a:xfrm>
            <a:off x="6551676" y="1051560"/>
            <a:ext cx="5577840" cy="320040"/>
          </a:xfrm>
          <a:prstGeom prst="rect">
            <a:avLst/>
          </a:prstGeom>
          <a:noFill/>
          <a:ln/>
        </p:spPr>
        <p:txBody>
          <a:bodyPr wrap="square" lIns="0" tIns="0" rIns="0" bIns="0" rtlCol="0" anchor="ctr"/>
          <a:lstStyle/>
          <a:p>
            <a:pPr algn="l" indent="0" marL="0">
              <a:buNone/>
            </a:pPr>
            <a:r>
              <a:rPr lang="en-US" sz="1500" b="1" dirty="0">
                <a:solidFill>
                  <a:srgbClr val="FFFFFF"/>
                </a:solidFill>
                <a:latin typeface="Cambria" pitchFamily="34" charset="0"/>
                <a:ea typeface="Cambria" pitchFamily="34" charset="-122"/>
                <a:cs typeface="Cambria" pitchFamily="34" charset="-120"/>
              </a:rPr>
              <a:t>Enterprise Pattern</a:t>
            </a:r>
            <a:endParaRPr lang="en-US" sz="1500" dirty="0"/>
          </a:p>
        </p:txBody>
      </p:sp>
      <p:sp>
        <p:nvSpPr>
          <p:cNvPr id="16" name="Shape 14"/>
          <p:cNvSpPr/>
          <p:nvPr/>
        </p:nvSpPr>
        <p:spPr>
          <a:xfrm>
            <a:off x="6551676" y="1463040"/>
            <a:ext cx="4206240" cy="329184"/>
          </a:xfrm>
          <a:prstGeom prst="roundRect">
            <a:avLst>
              <a:gd name="adj" fmla="val 13889"/>
            </a:avLst>
          </a:prstGeom>
          <a:solidFill>
            <a:srgbClr val="FFFFFF"/>
          </a:solidFill>
          <a:ln w="12700">
            <a:solidFill>
              <a:srgbClr val="B7B7BE"/>
            </a:solidFill>
            <a:prstDash val="solid"/>
          </a:ln>
        </p:spPr>
      </p:sp>
      <p:sp>
        <p:nvSpPr>
          <p:cNvPr id="17" name="Text 15"/>
          <p:cNvSpPr/>
          <p:nvPr/>
        </p:nvSpPr>
        <p:spPr>
          <a:xfrm>
            <a:off x="6597396" y="1463040"/>
            <a:ext cx="4114800" cy="329184"/>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1A1A24"/>
                </a:solidFill>
                <a:latin typeface="Calibri" pitchFamily="34" charset="0"/>
                <a:ea typeface="Calibri" pitchFamily="34" charset="-122"/>
                <a:cs typeface="Calibri" pitchFamily="34" charset="-120"/>
              </a:rPr>
              <a:t>Application / App Service</a:t>
            </a:r>
            <a:endParaRPr lang="en-US" sz="950" dirty="0"/>
          </a:p>
        </p:txBody>
      </p:sp>
      <p:sp>
        <p:nvSpPr>
          <p:cNvPr id="18" name="Shape 16"/>
          <p:cNvSpPr/>
          <p:nvPr/>
        </p:nvSpPr>
        <p:spPr>
          <a:xfrm>
            <a:off x="8654796" y="1792224"/>
            <a:ext cx="0" cy="73152"/>
          </a:xfrm>
          <a:prstGeom prst="line">
            <a:avLst/>
          </a:prstGeom>
          <a:noFill/>
          <a:ln w="19050">
            <a:solidFill>
              <a:srgbClr val="B7B7BE"/>
            </a:solidFill>
            <a:prstDash val="solid"/>
            <a:tailEnd type="triangle"/>
          </a:ln>
        </p:spPr>
      </p:sp>
      <p:sp>
        <p:nvSpPr>
          <p:cNvPr id="19" name="Shape 17"/>
          <p:cNvSpPr/>
          <p:nvPr/>
        </p:nvSpPr>
        <p:spPr>
          <a:xfrm>
            <a:off x="6551676" y="1865376"/>
            <a:ext cx="4206240" cy="329184"/>
          </a:xfrm>
          <a:prstGeom prst="roundRect">
            <a:avLst>
              <a:gd name="adj" fmla="val 13889"/>
            </a:avLst>
          </a:prstGeom>
          <a:solidFill>
            <a:srgbClr val="E8E8EA"/>
          </a:solidFill>
          <a:ln w="12700">
            <a:solidFill>
              <a:srgbClr val="B7B7BE"/>
            </a:solidFill>
            <a:prstDash val="solid"/>
          </a:ln>
        </p:spPr>
      </p:sp>
      <p:sp>
        <p:nvSpPr>
          <p:cNvPr id="20" name="Text 18"/>
          <p:cNvSpPr/>
          <p:nvPr/>
        </p:nvSpPr>
        <p:spPr>
          <a:xfrm>
            <a:off x="6597396" y="1865376"/>
            <a:ext cx="4114800" cy="329184"/>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1A1A24"/>
                </a:solidFill>
                <a:latin typeface="Calibri" pitchFamily="34" charset="0"/>
                <a:ea typeface="Calibri" pitchFamily="34" charset="-122"/>
                <a:cs typeface="Calibri" pitchFamily="34" charset="-120"/>
              </a:rPr>
              <a:t>Managed Identity</a:t>
            </a:r>
            <a:endParaRPr lang="en-US" sz="950" dirty="0"/>
          </a:p>
        </p:txBody>
      </p:sp>
      <p:sp>
        <p:nvSpPr>
          <p:cNvPr id="21" name="Shape 19"/>
          <p:cNvSpPr/>
          <p:nvPr/>
        </p:nvSpPr>
        <p:spPr>
          <a:xfrm>
            <a:off x="8654796" y="2194560"/>
            <a:ext cx="0" cy="73152"/>
          </a:xfrm>
          <a:prstGeom prst="line">
            <a:avLst/>
          </a:prstGeom>
          <a:noFill/>
          <a:ln w="19050">
            <a:solidFill>
              <a:srgbClr val="B7B7BE"/>
            </a:solidFill>
            <a:prstDash val="solid"/>
            <a:tailEnd type="triangle"/>
          </a:ln>
        </p:spPr>
      </p:sp>
      <p:sp>
        <p:nvSpPr>
          <p:cNvPr id="22" name="Shape 20"/>
          <p:cNvSpPr/>
          <p:nvPr/>
        </p:nvSpPr>
        <p:spPr>
          <a:xfrm>
            <a:off x="6551676" y="2267712"/>
            <a:ext cx="4206240" cy="329184"/>
          </a:xfrm>
          <a:prstGeom prst="roundRect">
            <a:avLst>
              <a:gd name="adj" fmla="val 13889"/>
            </a:avLst>
          </a:prstGeom>
          <a:solidFill>
            <a:srgbClr val="FFFFFF"/>
          </a:solidFill>
          <a:ln w="12700">
            <a:solidFill>
              <a:srgbClr val="B7B7BE"/>
            </a:solidFill>
            <a:prstDash val="solid"/>
          </a:ln>
        </p:spPr>
      </p:sp>
      <p:sp>
        <p:nvSpPr>
          <p:cNvPr id="23" name="Text 21"/>
          <p:cNvSpPr/>
          <p:nvPr/>
        </p:nvSpPr>
        <p:spPr>
          <a:xfrm>
            <a:off x="6597396" y="2267712"/>
            <a:ext cx="4114800" cy="329184"/>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1A1A24"/>
                </a:solidFill>
                <a:latin typeface="Calibri" pitchFamily="34" charset="0"/>
                <a:ea typeface="Calibri" pitchFamily="34" charset="-122"/>
                <a:cs typeface="Calibri" pitchFamily="34" charset="-120"/>
              </a:rPr>
              <a:t>Microsoft Entra ID</a:t>
            </a:r>
            <a:endParaRPr lang="en-US" sz="950" dirty="0"/>
          </a:p>
        </p:txBody>
      </p:sp>
      <p:sp>
        <p:nvSpPr>
          <p:cNvPr id="24" name="Shape 22"/>
          <p:cNvSpPr/>
          <p:nvPr/>
        </p:nvSpPr>
        <p:spPr>
          <a:xfrm>
            <a:off x="8654796" y="2596896"/>
            <a:ext cx="0" cy="73152"/>
          </a:xfrm>
          <a:prstGeom prst="line">
            <a:avLst/>
          </a:prstGeom>
          <a:noFill/>
          <a:ln w="19050">
            <a:solidFill>
              <a:srgbClr val="B7B7BE"/>
            </a:solidFill>
            <a:prstDash val="solid"/>
            <a:tailEnd type="triangle"/>
          </a:ln>
        </p:spPr>
      </p:sp>
      <p:sp>
        <p:nvSpPr>
          <p:cNvPr id="25" name="Shape 23"/>
          <p:cNvSpPr/>
          <p:nvPr/>
        </p:nvSpPr>
        <p:spPr>
          <a:xfrm>
            <a:off x="6551676" y="2670048"/>
            <a:ext cx="4206240" cy="329184"/>
          </a:xfrm>
          <a:prstGeom prst="roundRect">
            <a:avLst>
              <a:gd name="adj" fmla="val 13889"/>
            </a:avLst>
          </a:prstGeom>
          <a:solidFill>
            <a:srgbClr val="E8E8EA"/>
          </a:solidFill>
          <a:ln w="12700">
            <a:solidFill>
              <a:srgbClr val="B7B7BE"/>
            </a:solidFill>
            <a:prstDash val="solid"/>
          </a:ln>
        </p:spPr>
      </p:sp>
      <p:sp>
        <p:nvSpPr>
          <p:cNvPr id="26" name="Text 24"/>
          <p:cNvSpPr/>
          <p:nvPr/>
        </p:nvSpPr>
        <p:spPr>
          <a:xfrm>
            <a:off x="6597396" y="2670048"/>
            <a:ext cx="4114800" cy="329184"/>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1A1A24"/>
                </a:solidFill>
                <a:latin typeface="Calibri" pitchFamily="34" charset="0"/>
                <a:ea typeface="Calibri" pitchFamily="34" charset="-122"/>
                <a:cs typeface="Calibri" pitchFamily="34" charset="-120"/>
              </a:rPr>
              <a:t>Azure RBAC</a:t>
            </a:r>
            <a:endParaRPr lang="en-US" sz="950" dirty="0"/>
          </a:p>
        </p:txBody>
      </p:sp>
      <p:sp>
        <p:nvSpPr>
          <p:cNvPr id="27" name="Shape 25"/>
          <p:cNvSpPr/>
          <p:nvPr/>
        </p:nvSpPr>
        <p:spPr>
          <a:xfrm>
            <a:off x="8654796" y="2999232"/>
            <a:ext cx="0" cy="73152"/>
          </a:xfrm>
          <a:prstGeom prst="line">
            <a:avLst/>
          </a:prstGeom>
          <a:noFill/>
          <a:ln w="19050">
            <a:solidFill>
              <a:srgbClr val="B7B7BE"/>
            </a:solidFill>
            <a:prstDash val="solid"/>
            <a:tailEnd type="triangle"/>
          </a:ln>
        </p:spPr>
      </p:sp>
      <p:sp>
        <p:nvSpPr>
          <p:cNvPr id="28" name="Shape 26"/>
          <p:cNvSpPr/>
          <p:nvPr/>
        </p:nvSpPr>
        <p:spPr>
          <a:xfrm>
            <a:off x="6551676" y="3072384"/>
            <a:ext cx="4206240" cy="329184"/>
          </a:xfrm>
          <a:prstGeom prst="roundRect">
            <a:avLst>
              <a:gd name="adj" fmla="val 13889"/>
            </a:avLst>
          </a:prstGeom>
          <a:solidFill>
            <a:srgbClr val="FFFFFF"/>
          </a:solidFill>
          <a:ln w="12700">
            <a:solidFill>
              <a:srgbClr val="B7B7BE"/>
            </a:solidFill>
            <a:prstDash val="solid"/>
          </a:ln>
        </p:spPr>
      </p:sp>
      <p:sp>
        <p:nvSpPr>
          <p:cNvPr id="29" name="Text 27"/>
          <p:cNvSpPr/>
          <p:nvPr/>
        </p:nvSpPr>
        <p:spPr>
          <a:xfrm>
            <a:off x="6597396" y="3072384"/>
            <a:ext cx="4114800" cy="329184"/>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1A1A24"/>
                </a:solidFill>
                <a:latin typeface="Calibri" pitchFamily="34" charset="0"/>
                <a:ea typeface="Calibri" pitchFamily="34" charset="-122"/>
                <a:cs typeface="Calibri" pitchFamily="34" charset="-120"/>
              </a:rPr>
              <a:t>Microsoft Foundry / Azure OpenAI</a:t>
            </a:r>
            <a:endParaRPr lang="en-US" sz="950" dirty="0"/>
          </a:p>
        </p:txBody>
      </p:sp>
      <p:sp>
        <p:nvSpPr>
          <p:cNvPr id="30" name="Shape 28"/>
          <p:cNvSpPr/>
          <p:nvPr/>
        </p:nvSpPr>
        <p:spPr>
          <a:xfrm>
            <a:off x="8654796" y="3401568"/>
            <a:ext cx="0" cy="73152"/>
          </a:xfrm>
          <a:prstGeom prst="line">
            <a:avLst/>
          </a:prstGeom>
          <a:noFill/>
          <a:ln w="19050">
            <a:solidFill>
              <a:srgbClr val="B7B7BE"/>
            </a:solidFill>
            <a:prstDash val="solid"/>
            <a:tailEnd type="triangle"/>
          </a:ln>
        </p:spPr>
      </p:sp>
      <p:sp>
        <p:nvSpPr>
          <p:cNvPr id="31" name="Shape 29"/>
          <p:cNvSpPr/>
          <p:nvPr/>
        </p:nvSpPr>
        <p:spPr>
          <a:xfrm>
            <a:off x="6551676" y="3474720"/>
            <a:ext cx="4206240" cy="329184"/>
          </a:xfrm>
          <a:prstGeom prst="roundRect">
            <a:avLst>
              <a:gd name="adj" fmla="val 13889"/>
            </a:avLst>
          </a:prstGeom>
          <a:solidFill>
            <a:srgbClr val="FFE600"/>
          </a:solidFill>
          <a:ln w="12700">
            <a:solidFill>
              <a:srgbClr val="B7B7BE"/>
            </a:solidFill>
            <a:prstDash val="solid"/>
          </a:ln>
        </p:spPr>
      </p:sp>
      <p:sp>
        <p:nvSpPr>
          <p:cNvPr id="32" name="Text 30"/>
          <p:cNvSpPr/>
          <p:nvPr/>
        </p:nvSpPr>
        <p:spPr>
          <a:xfrm>
            <a:off x="6597396" y="3474720"/>
            <a:ext cx="4114800" cy="329184"/>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1A1A24"/>
                </a:solidFill>
                <a:latin typeface="Calibri" pitchFamily="34" charset="0"/>
                <a:ea typeface="Calibri" pitchFamily="34" charset="-122"/>
                <a:cs typeface="Calibri" pitchFamily="34" charset="-120"/>
              </a:rPr>
              <a:t>OpenAI Model</a:t>
            </a:r>
            <a:endParaRPr lang="en-US" sz="950" dirty="0"/>
          </a:p>
        </p:txBody>
      </p:sp>
      <p:sp>
        <p:nvSpPr>
          <p:cNvPr id="33" name="Text 31"/>
          <p:cNvSpPr/>
          <p:nvPr/>
        </p:nvSpPr>
        <p:spPr>
          <a:xfrm>
            <a:off x="6551676" y="3986784"/>
            <a:ext cx="5577840" cy="274320"/>
          </a:xfrm>
          <a:prstGeom prst="rect">
            <a:avLst/>
          </a:prstGeom>
          <a:noFill/>
          <a:ln/>
        </p:spPr>
        <p:txBody>
          <a:bodyPr wrap="square" lIns="0" tIns="0" rIns="0" bIns="0" rtlCol="0" anchor="ctr"/>
          <a:lstStyle/>
          <a:p>
            <a:pPr algn="l" indent="0" marL="0">
              <a:buNone/>
            </a:pPr>
            <a:r>
              <a:rPr lang="en-US" sz="1250" b="1" dirty="0">
                <a:solidFill>
                  <a:srgbClr val="FFE600"/>
                </a:solidFill>
                <a:latin typeface="Calibri" pitchFamily="34" charset="0"/>
                <a:ea typeface="Calibri" pitchFamily="34" charset="-122"/>
                <a:cs typeface="Calibri" pitchFamily="34" charset="-120"/>
              </a:rPr>
              <a:t>Benefits</a:t>
            </a:r>
            <a:endParaRPr lang="en-US" sz="1250" dirty="0"/>
          </a:p>
        </p:txBody>
      </p:sp>
      <p:sp>
        <p:nvSpPr>
          <p:cNvPr id="34" name="Text 32"/>
          <p:cNvSpPr/>
          <p:nvPr/>
        </p:nvSpPr>
        <p:spPr>
          <a:xfrm>
            <a:off x="6551676" y="4306824"/>
            <a:ext cx="5577840" cy="118872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No credentials embedded in application code</a:t>
            </a:r>
            <a:endParaRPr lang="en-US" sz="1050" dirty="0"/>
          </a:p>
          <a:p>
            <a:pPr marL="152400" indent="-152400">
              <a:lnSpc>
                <a:spcPct val="105000"/>
              </a:lnSpc>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Centralized identity via Entra ID</a:t>
            </a:r>
            <a:endParaRPr lang="en-US" sz="1050" dirty="0"/>
          </a:p>
          <a:p>
            <a:pPr marL="152400" indent="-152400">
              <a:lnSpc>
                <a:spcPct val="105000"/>
              </a:lnSpc>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Fine-grained authorization via Azure RBAC</a:t>
            </a:r>
            <a:endParaRPr lang="en-US" sz="1050" dirty="0"/>
          </a:p>
          <a:p>
            <a:pPr marL="152400" indent="-152400">
              <a:lnSpc>
                <a:spcPct val="105000"/>
              </a:lnSpc>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Centralized auditability of identity-based access</a:t>
            </a:r>
            <a:endParaRPr lang="en-US" sz="1050" dirty="0"/>
          </a:p>
        </p:txBody>
      </p:sp>
      <p:sp>
        <p:nvSpPr>
          <p:cNvPr id="35" name="Shape 33"/>
          <p:cNvSpPr/>
          <p:nvPr/>
        </p:nvSpPr>
        <p:spPr>
          <a:xfrm>
            <a:off x="502920" y="5349240"/>
            <a:ext cx="10378440" cy="502920"/>
          </a:xfrm>
          <a:prstGeom prst="roundRect">
            <a:avLst>
              <a:gd name="adj" fmla="val 10909"/>
            </a:avLst>
          </a:prstGeom>
          <a:solidFill>
            <a:srgbClr val="43424B"/>
          </a:solidFill>
          <a:ln w="12700">
            <a:solidFill>
              <a:srgbClr val="B7B7BE"/>
            </a:solidFill>
            <a:prstDash val="solid"/>
          </a:ln>
        </p:spPr>
      </p:sp>
      <p:sp>
        <p:nvSpPr>
          <p:cNvPr id="36" name="Text 34"/>
          <p:cNvSpPr/>
          <p:nvPr/>
        </p:nvSpPr>
        <p:spPr>
          <a:xfrm>
            <a:off x="548640" y="5349240"/>
            <a:ext cx="10287000" cy="502920"/>
          </a:xfrm>
          <a:prstGeom prst="rect">
            <a:avLst/>
          </a:prstGeom>
          <a:noFill/>
          <a:ln/>
        </p:spPr>
        <p:txBody>
          <a:bodyPr wrap="square" lIns="0" tIns="0" rIns="0" bIns="0" rtlCol="0" anchor="ctr">
            <a:normAutofit/>
          </a:bodyPr>
          <a:lstStyle/>
          <a:p>
            <a:pPr algn="ctr" indent="0" marL="0">
              <a:lnSpc>
                <a:spcPct val="95000"/>
              </a:lnSpc>
              <a:buNone/>
            </a:pPr>
            <a:r>
              <a:rPr lang="en-US" sz="1150" b="1" dirty="0">
                <a:solidFill>
                  <a:srgbClr val="E8E8EA"/>
                </a:solidFill>
                <a:latin typeface="Calibri" pitchFamily="34" charset="0"/>
                <a:ea typeface="Calibri" pitchFamily="34" charset="-122"/>
                <a:cs typeface="Calibri" pitchFamily="34" charset="-120"/>
              </a:rPr>
              <a:t>App Service → Managed Identity → Entra ID token → Foundry / OpenAI</a:t>
            </a:r>
            <a:endParaRPr lang="en-US" sz="1150" dirty="0"/>
          </a:p>
        </p:txBody>
      </p:sp>
      <p:sp>
        <p:nvSpPr>
          <p:cNvPr id="37" name="Shape 35"/>
          <p:cNvSpPr/>
          <p:nvPr/>
        </p:nvSpPr>
        <p:spPr>
          <a:xfrm>
            <a:off x="502920" y="5943600"/>
            <a:ext cx="10378440" cy="502920"/>
          </a:xfrm>
          <a:prstGeom prst="roundRect">
            <a:avLst>
              <a:gd name="adj" fmla="val 10909"/>
            </a:avLst>
          </a:prstGeom>
          <a:solidFill>
            <a:srgbClr val="FFE600"/>
          </a:solidFill>
          <a:ln w="12700">
            <a:solidFill>
              <a:srgbClr val="1A1A24"/>
            </a:solidFill>
            <a:prstDash val="solid"/>
          </a:ln>
        </p:spPr>
      </p:sp>
      <p:sp>
        <p:nvSpPr>
          <p:cNvPr id="38" name="Text 36"/>
          <p:cNvSpPr/>
          <p:nvPr/>
        </p:nvSpPr>
        <p:spPr>
          <a:xfrm>
            <a:off x="548640" y="5943600"/>
            <a:ext cx="10287000" cy="502920"/>
          </a:xfrm>
          <a:prstGeom prst="rect">
            <a:avLst/>
          </a:prstGeom>
          <a:noFill/>
          <a:ln/>
        </p:spPr>
        <p:txBody>
          <a:bodyPr wrap="square" lIns="0" tIns="0" rIns="0" bIns="0" rtlCol="0" anchor="ctr">
            <a:normAutofit/>
          </a:bodyPr>
          <a:lstStyle/>
          <a:p>
            <a:pPr algn="ctr" indent="0" marL="0">
              <a:lnSpc>
                <a:spcPct val="95000"/>
              </a:lnSpc>
              <a:buNone/>
            </a:pPr>
            <a:r>
              <a:rPr lang="en-US" sz="1150" b="1" dirty="0">
                <a:solidFill>
                  <a:srgbClr val="1A1A24"/>
                </a:solidFill>
                <a:latin typeface="Calibri" pitchFamily="34" charset="0"/>
                <a:ea typeface="Calibri" pitchFamily="34" charset="-122"/>
                <a:cs typeface="Calibri" pitchFamily="34" charset="-120"/>
              </a:rPr>
              <a:t>Recommendation: prefer Microsoft Entra ID + Managed Identity over long-lived API keys wherever supported for production Azure workloads.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02920" y="274320"/>
            <a:ext cx="11183112" cy="45720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Proposed Enterprise Landing Zone Architecture</a:t>
            </a:r>
            <a:endParaRPr lang="en-US" sz="2200" dirty="0"/>
          </a:p>
        </p:txBody>
      </p:sp>
      <p:sp>
        <p:nvSpPr>
          <p:cNvPr id="5" name="Text 3"/>
          <p:cNvSpPr/>
          <p:nvPr/>
        </p:nvSpPr>
        <p:spPr>
          <a:xfrm>
            <a:off x="502920" y="731520"/>
            <a:ext cx="11183112" cy="274320"/>
          </a:xfrm>
          <a:prstGeom prst="rect">
            <a:avLst/>
          </a:prstGeom>
          <a:noFill/>
          <a:ln/>
        </p:spPr>
        <p:txBody>
          <a:bodyPr wrap="square" lIns="0" tIns="0" rIns="0" bIns="0" rtlCol="0" anchor="ctr"/>
          <a:lstStyle/>
          <a:p>
            <a:pPr algn="l" indent="0" marL="0">
              <a:buNone/>
            </a:pPr>
            <a:r>
              <a:rPr lang="en-US" sz="1250" i="1" dirty="0">
                <a:solidFill>
                  <a:srgbClr val="B7B7BE"/>
                </a:solidFill>
                <a:latin typeface="Calibri" pitchFamily="34" charset="0"/>
                <a:ea typeface="Calibri" pitchFamily="34" charset="-122"/>
                <a:cs typeface="Calibri" pitchFamily="34" charset="-120"/>
              </a:rPr>
              <a:t>Secure, private and governed OpenAI workload on Azure</a:t>
            </a:r>
            <a:endParaRPr lang="en-US" sz="1250" dirty="0"/>
          </a:p>
        </p:txBody>
      </p:sp>
      <p:sp>
        <p:nvSpPr>
          <p:cNvPr id="6" name="Shape 4"/>
          <p:cNvSpPr/>
          <p:nvPr/>
        </p:nvSpPr>
        <p:spPr>
          <a:xfrm>
            <a:off x="502920" y="1051560"/>
            <a:ext cx="1772412" cy="384048"/>
          </a:xfrm>
          <a:prstGeom prst="roundRect">
            <a:avLst>
              <a:gd name="adj" fmla="val 11905"/>
            </a:avLst>
          </a:prstGeom>
          <a:solidFill>
            <a:srgbClr val="FFFFFF"/>
          </a:solidFill>
          <a:ln w="12700">
            <a:solidFill>
              <a:srgbClr val="B7B7BE"/>
            </a:solidFill>
            <a:prstDash val="solid"/>
          </a:ln>
        </p:spPr>
      </p:sp>
      <p:sp>
        <p:nvSpPr>
          <p:cNvPr id="7" name="Text 5"/>
          <p:cNvSpPr/>
          <p:nvPr/>
        </p:nvSpPr>
        <p:spPr>
          <a:xfrm>
            <a:off x="548640" y="1051560"/>
            <a:ext cx="1680972" cy="384048"/>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A1A24"/>
                </a:solidFill>
                <a:latin typeface="Calibri" pitchFamily="34" charset="0"/>
                <a:ea typeface="Calibri" pitchFamily="34" charset="-122"/>
                <a:cs typeface="Calibri" pitchFamily="34" charset="-120"/>
              </a:rPr>
              <a:t>Internet / User</a:t>
            </a:r>
            <a:endParaRPr lang="en-US" sz="900" dirty="0"/>
          </a:p>
        </p:txBody>
      </p:sp>
      <p:sp>
        <p:nvSpPr>
          <p:cNvPr id="8" name="Shape 6"/>
          <p:cNvSpPr/>
          <p:nvPr/>
        </p:nvSpPr>
        <p:spPr>
          <a:xfrm>
            <a:off x="2275332" y="1243584"/>
            <a:ext cx="109728" cy="0"/>
          </a:xfrm>
          <a:prstGeom prst="line">
            <a:avLst/>
          </a:prstGeom>
          <a:noFill/>
          <a:ln w="17780">
            <a:solidFill>
              <a:srgbClr val="B7B7BE"/>
            </a:solidFill>
            <a:prstDash val="solid"/>
            <a:tailEnd type="triangle"/>
          </a:ln>
        </p:spPr>
      </p:sp>
      <p:sp>
        <p:nvSpPr>
          <p:cNvPr id="9" name="Shape 7"/>
          <p:cNvSpPr/>
          <p:nvPr/>
        </p:nvSpPr>
        <p:spPr>
          <a:xfrm>
            <a:off x="2385060" y="1051560"/>
            <a:ext cx="1772412" cy="384048"/>
          </a:xfrm>
          <a:prstGeom prst="roundRect">
            <a:avLst>
              <a:gd name="adj" fmla="val 11905"/>
            </a:avLst>
          </a:prstGeom>
          <a:solidFill>
            <a:srgbClr val="E8E8EA"/>
          </a:solidFill>
          <a:ln w="12700">
            <a:solidFill>
              <a:srgbClr val="B7B7BE"/>
            </a:solidFill>
            <a:prstDash val="solid"/>
          </a:ln>
        </p:spPr>
      </p:sp>
      <p:sp>
        <p:nvSpPr>
          <p:cNvPr id="10" name="Text 8"/>
          <p:cNvSpPr/>
          <p:nvPr/>
        </p:nvSpPr>
        <p:spPr>
          <a:xfrm>
            <a:off x="2430780" y="1051560"/>
            <a:ext cx="1680972" cy="384048"/>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A1A24"/>
                </a:solidFill>
                <a:latin typeface="Calibri" pitchFamily="34" charset="0"/>
                <a:ea typeface="Calibri" pitchFamily="34" charset="-122"/>
                <a:cs typeface="Calibri" pitchFamily="34" charset="-120"/>
              </a:rPr>
              <a:t>App Gateway + WAF</a:t>
            </a:r>
            <a:endParaRPr lang="en-US" sz="900" dirty="0"/>
          </a:p>
        </p:txBody>
      </p:sp>
      <p:sp>
        <p:nvSpPr>
          <p:cNvPr id="11" name="Shape 9"/>
          <p:cNvSpPr/>
          <p:nvPr/>
        </p:nvSpPr>
        <p:spPr>
          <a:xfrm>
            <a:off x="4157472" y="1243584"/>
            <a:ext cx="109728" cy="0"/>
          </a:xfrm>
          <a:prstGeom prst="line">
            <a:avLst/>
          </a:prstGeom>
          <a:noFill/>
          <a:ln w="17780">
            <a:solidFill>
              <a:srgbClr val="B7B7BE"/>
            </a:solidFill>
            <a:prstDash val="solid"/>
            <a:tailEnd type="triangle"/>
          </a:ln>
        </p:spPr>
      </p:sp>
      <p:sp>
        <p:nvSpPr>
          <p:cNvPr id="12" name="Shape 10"/>
          <p:cNvSpPr/>
          <p:nvPr/>
        </p:nvSpPr>
        <p:spPr>
          <a:xfrm>
            <a:off x="4267200" y="1051560"/>
            <a:ext cx="1772412" cy="384048"/>
          </a:xfrm>
          <a:prstGeom prst="roundRect">
            <a:avLst>
              <a:gd name="adj" fmla="val 11905"/>
            </a:avLst>
          </a:prstGeom>
          <a:solidFill>
            <a:srgbClr val="FFFFFF"/>
          </a:solidFill>
          <a:ln w="12700">
            <a:solidFill>
              <a:srgbClr val="B7B7BE"/>
            </a:solidFill>
            <a:prstDash val="solid"/>
          </a:ln>
        </p:spPr>
      </p:sp>
      <p:sp>
        <p:nvSpPr>
          <p:cNvPr id="13" name="Text 11"/>
          <p:cNvSpPr/>
          <p:nvPr/>
        </p:nvSpPr>
        <p:spPr>
          <a:xfrm>
            <a:off x="4312920" y="1051560"/>
            <a:ext cx="1680972" cy="384048"/>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A1A24"/>
                </a:solidFill>
                <a:latin typeface="Calibri" pitchFamily="34" charset="0"/>
                <a:ea typeface="Calibri" pitchFamily="34" charset="-122"/>
                <a:cs typeface="Calibri" pitchFamily="34" charset="-120"/>
              </a:rPr>
              <a:t>Application</a:t>
            </a:r>
            <a:endParaRPr lang="en-US" sz="900" dirty="0"/>
          </a:p>
        </p:txBody>
      </p:sp>
      <p:sp>
        <p:nvSpPr>
          <p:cNvPr id="14" name="Shape 12"/>
          <p:cNvSpPr/>
          <p:nvPr/>
        </p:nvSpPr>
        <p:spPr>
          <a:xfrm>
            <a:off x="6039612" y="1243584"/>
            <a:ext cx="109728" cy="0"/>
          </a:xfrm>
          <a:prstGeom prst="line">
            <a:avLst/>
          </a:prstGeom>
          <a:noFill/>
          <a:ln w="17780">
            <a:solidFill>
              <a:srgbClr val="B7B7BE"/>
            </a:solidFill>
            <a:prstDash val="solid"/>
            <a:tailEnd type="triangle"/>
          </a:ln>
        </p:spPr>
      </p:sp>
      <p:sp>
        <p:nvSpPr>
          <p:cNvPr id="15" name="Shape 13"/>
          <p:cNvSpPr/>
          <p:nvPr/>
        </p:nvSpPr>
        <p:spPr>
          <a:xfrm>
            <a:off x="6149340" y="1051560"/>
            <a:ext cx="1772412" cy="384048"/>
          </a:xfrm>
          <a:prstGeom prst="roundRect">
            <a:avLst>
              <a:gd name="adj" fmla="val 11905"/>
            </a:avLst>
          </a:prstGeom>
          <a:solidFill>
            <a:srgbClr val="E8E8EA"/>
          </a:solidFill>
          <a:ln w="12700">
            <a:solidFill>
              <a:srgbClr val="B7B7BE"/>
            </a:solidFill>
            <a:prstDash val="solid"/>
          </a:ln>
        </p:spPr>
      </p:sp>
      <p:sp>
        <p:nvSpPr>
          <p:cNvPr id="16" name="Text 14"/>
          <p:cNvSpPr/>
          <p:nvPr/>
        </p:nvSpPr>
        <p:spPr>
          <a:xfrm>
            <a:off x="6195060" y="1051560"/>
            <a:ext cx="1680972" cy="384048"/>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A1A24"/>
                </a:solidFill>
                <a:latin typeface="Calibri" pitchFamily="34" charset="0"/>
                <a:ea typeface="Calibri" pitchFamily="34" charset="-122"/>
                <a:cs typeface="Calibri" pitchFamily="34" charset="-120"/>
              </a:rPr>
              <a:t>APIM</a:t>
            </a:r>
            <a:endParaRPr lang="en-US" sz="900" dirty="0"/>
          </a:p>
        </p:txBody>
      </p:sp>
      <p:sp>
        <p:nvSpPr>
          <p:cNvPr id="17" name="Shape 15"/>
          <p:cNvSpPr/>
          <p:nvPr/>
        </p:nvSpPr>
        <p:spPr>
          <a:xfrm>
            <a:off x="7921752" y="1243584"/>
            <a:ext cx="109728" cy="0"/>
          </a:xfrm>
          <a:prstGeom prst="line">
            <a:avLst/>
          </a:prstGeom>
          <a:noFill/>
          <a:ln w="17780">
            <a:solidFill>
              <a:srgbClr val="B7B7BE"/>
            </a:solidFill>
            <a:prstDash val="solid"/>
            <a:tailEnd type="triangle"/>
          </a:ln>
        </p:spPr>
      </p:sp>
      <p:sp>
        <p:nvSpPr>
          <p:cNvPr id="18" name="Shape 16"/>
          <p:cNvSpPr/>
          <p:nvPr/>
        </p:nvSpPr>
        <p:spPr>
          <a:xfrm>
            <a:off x="8031480" y="1051560"/>
            <a:ext cx="1772412" cy="384048"/>
          </a:xfrm>
          <a:prstGeom prst="roundRect">
            <a:avLst>
              <a:gd name="adj" fmla="val 11905"/>
            </a:avLst>
          </a:prstGeom>
          <a:solidFill>
            <a:srgbClr val="FFFFFF"/>
          </a:solidFill>
          <a:ln w="12700">
            <a:solidFill>
              <a:srgbClr val="B7B7BE"/>
            </a:solidFill>
            <a:prstDash val="solid"/>
          </a:ln>
        </p:spPr>
      </p:sp>
      <p:sp>
        <p:nvSpPr>
          <p:cNvPr id="19" name="Text 17"/>
          <p:cNvSpPr/>
          <p:nvPr/>
        </p:nvSpPr>
        <p:spPr>
          <a:xfrm>
            <a:off x="8077200" y="1051560"/>
            <a:ext cx="1680972" cy="384048"/>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A1A24"/>
                </a:solidFill>
                <a:latin typeface="Calibri" pitchFamily="34" charset="0"/>
                <a:ea typeface="Calibri" pitchFamily="34" charset="-122"/>
                <a:cs typeface="Calibri" pitchFamily="34" charset="-120"/>
              </a:rPr>
              <a:t>AI Agent / App</a:t>
            </a:r>
            <a:endParaRPr lang="en-US" sz="900" dirty="0"/>
          </a:p>
        </p:txBody>
      </p:sp>
      <p:sp>
        <p:nvSpPr>
          <p:cNvPr id="20" name="Shape 18"/>
          <p:cNvSpPr/>
          <p:nvPr/>
        </p:nvSpPr>
        <p:spPr>
          <a:xfrm>
            <a:off x="9803892" y="1243584"/>
            <a:ext cx="109728" cy="0"/>
          </a:xfrm>
          <a:prstGeom prst="line">
            <a:avLst/>
          </a:prstGeom>
          <a:noFill/>
          <a:ln w="17780">
            <a:solidFill>
              <a:srgbClr val="B7B7BE"/>
            </a:solidFill>
            <a:prstDash val="solid"/>
            <a:tailEnd type="triangle"/>
          </a:ln>
        </p:spPr>
      </p:sp>
      <p:sp>
        <p:nvSpPr>
          <p:cNvPr id="21" name="Shape 19"/>
          <p:cNvSpPr/>
          <p:nvPr/>
        </p:nvSpPr>
        <p:spPr>
          <a:xfrm>
            <a:off x="9913620" y="1051560"/>
            <a:ext cx="1772412" cy="384048"/>
          </a:xfrm>
          <a:prstGeom prst="roundRect">
            <a:avLst>
              <a:gd name="adj" fmla="val 11905"/>
            </a:avLst>
          </a:prstGeom>
          <a:solidFill>
            <a:srgbClr val="FFE600"/>
          </a:solidFill>
          <a:ln w="12700">
            <a:solidFill>
              <a:srgbClr val="B7B7BE"/>
            </a:solidFill>
            <a:prstDash val="solid"/>
          </a:ln>
        </p:spPr>
      </p:sp>
      <p:sp>
        <p:nvSpPr>
          <p:cNvPr id="22" name="Text 20"/>
          <p:cNvSpPr/>
          <p:nvPr/>
        </p:nvSpPr>
        <p:spPr>
          <a:xfrm>
            <a:off x="9959340" y="1051560"/>
            <a:ext cx="1680972" cy="384048"/>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A1A24"/>
                </a:solidFill>
                <a:latin typeface="Calibri" pitchFamily="34" charset="0"/>
                <a:ea typeface="Calibri" pitchFamily="34" charset="-122"/>
                <a:cs typeface="Calibri" pitchFamily="34" charset="-120"/>
              </a:rPr>
              <a:t>Foundry / OpenAI</a:t>
            </a:r>
            <a:endParaRPr lang="en-US" sz="900" dirty="0"/>
          </a:p>
        </p:txBody>
      </p:sp>
      <p:sp>
        <p:nvSpPr>
          <p:cNvPr id="23" name="Shape 21"/>
          <p:cNvSpPr/>
          <p:nvPr/>
        </p:nvSpPr>
        <p:spPr>
          <a:xfrm>
            <a:off x="502920" y="1600200"/>
            <a:ext cx="4160520" cy="2880360"/>
          </a:xfrm>
          <a:prstGeom prst="roundRect">
            <a:avLst>
              <a:gd name="adj" fmla="val 1905"/>
            </a:avLst>
          </a:prstGeom>
          <a:solidFill>
            <a:srgbClr val="2B2A33"/>
          </a:solidFill>
          <a:ln w="12700">
            <a:solidFill>
              <a:srgbClr val="B7B7BE"/>
            </a:solidFill>
            <a:prstDash val="dash"/>
          </a:ln>
        </p:spPr>
      </p:sp>
      <p:sp>
        <p:nvSpPr>
          <p:cNvPr id="24" name="Text 22"/>
          <p:cNvSpPr/>
          <p:nvPr/>
        </p:nvSpPr>
        <p:spPr>
          <a:xfrm>
            <a:off x="630936" y="1664208"/>
            <a:ext cx="3904488" cy="237744"/>
          </a:xfrm>
          <a:prstGeom prst="rect">
            <a:avLst/>
          </a:prstGeom>
          <a:noFill/>
          <a:ln/>
        </p:spPr>
        <p:txBody>
          <a:bodyPr wrap="square" lIns="0" tIns="0" rIns="0" bIns="0" rtlCol="0" anchor="ctr"/>
          <a:lstStyle/>
          <a:p>
            <a:pPr algn="l" indent="0" marL="0">
              <a:buNone/>
            </a:pPr>
            <a:r>
              <a:rPr lang="en-US" sz="1050" b="1" dirty="0">
                <a:solidFill>
                  <a:srgbClr val="FFE600"/>
                </a:solidFill>
                <a:latin typeface="Calibri" pitchFamily="34" charset="0"/>
                <a:ea typeface="Calibri" pitchFamily="34" charset="-122"/>
                <a:cs typeface="Calibri" pitchFamily="34" charset="-120"/>
              </a:rPr>
              <a:t>CONNECTIVITY SUBSCRIPTION — Hub VNet</a:t>
            </a:r>
            <a:endParaRPr lang="en-US" sz="1050" dirty="0"/>
          </a:p>
        </p:txBody>
      </p:sp>
      <p:sp>
        <p:nvSpPr>
          <p:cNvPr id="25" name="Shape 23"/>
          <p:cNvSpPr/>
          <p:nvPr/>
        </p:nvSpPr>
        <p:spPr>
          <a:xfrm>
            <a:off x="685800" y="2057400"/>
            <a:ext cx="3794760" cy="438912"/>
          </a:xfrm>
          <a:prstGeom prst="roundRect">
            <a:avLst>
              <a:gd name="adj" fmla="val 10417"/>
            </a:avLst>
          </a:prstGeom>
          <a:solidFill>
            <a:srgbClr val="43424B"/>
          </a:solidFill>
          <a:ln w="12700">
            <a:solidFill>
              <a:srgbClr val="B7B7BE"/>
            </a:solidFill>
            <a:prstDash val="solid"/>
          </a:ln>
        </p:spPr>
      </p:sp>
      <p:sp>
        <p:nvSpPr>
          <p:cNvPr id="26" name="Text 24"/>
          <p:cNvSpPr/>
          <p:nvPr/>
        </p:nvSpPr>
        <p:spPr>
          <a:xfrm>
            <a:off x="731520" y="2057400"/>
            <a:ext cx="3703320" cy="438912"/>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Azure Firewall</a:t>
            </a:r>
            <a:endParaRPr lang="en-US" sz="1000" dirty="0"/>
          </a:p>
        </p:txBody>
      </p:sp>
      <p:sp>
        <p:nvSpPr>
          <p:cNvPr id="27" name="Shape 25"/>
          <p:cNvSpPr/>
          <p:nvPr/>
        </p:nvSpPr>
        <p:spPr>
          <a:xfrm>
            <a:off x="685800" y="2624328"/>
            <a:ext cx="3794760" cy="438912"/>
          </a:xfrm>
          <a:prstGeom prst="roundRect">
            <a:avLst>
              <a:gd name="adj" fmla="val 10417"/>
            </a:avLst>
          </a:prstGeom>
          <a:solidFill>
            <a:srgbClr val="43424B"/>
          </a:solidFill>
          <a:ln w="12700">
            <a:solidFill>
              <a:srgbClr val="B7B7BE"/>
            </a:solidFill>
            <a:prstDash val="solid"/>
          </a:ln>
        </p:spPr>
      </p:sp>
      <p:sp>
        <p:nvSpPr>
          <p:cNvPr id="28" name="Text 26"/>
          <p:cNvSpPr/>
          <p:nvPr/>
        </p:nvSpPr>
        <p:spPr>
          <a:xfrm>
            <a:off x="731520" y="2624328"/>
            <a:ext cx="3703320" cy="438912"/>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Private DNS</a:t>
            </a:r>
            <a:endParaRPr lang="en-US" sz="1000" dirty="0"/>
          </a:p>
        </p:txBody>
      </p:sp>
      <p:sp>
        <p:nvSpPr>
          <p:cNvPr id="29" name="Shape 27"/>
          <p:cNvSpPr/>
          <p:nvPr/>
        </p:nvSpPr>
        <p:spPr>
          <a:xfrm>
            <a:off x="685800" y="3191256"/>
            <a:ext cx="3794760" cy="438912"/>
          </a:xfrm>
          <a:prstGeom prst="roundRect">
            <a:avLst>
              <a:gd name="adj" fmla="val 10417"/>
            </a:avLst>
          </a:prstGeom>
          <a:solidFill>
            <a:srgbClr val="43424B"/>
          </a:solidFill>
          <a:ln w="12700">
            <a:solidFill>
              <a:srgbClr val="B7B7BE"/>
            </a:solidFill>
            <a:prstDash val="solid"/>
          </a:ln>
        </p:spPr>
      </p:sp>
      <p:sp>
        <p:nvSpPr>
          <p:cNvPr id="30" name="Text 28"/>
          <p:cNvSpPr/>
          <p:nvPr/>
        </p:nvSpPr>
        <p:spPr>
          <a:xfrm>
            <a:off x="731520" y="3191256"/>
            <a:ext cx="3703320" cy="438912"/>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FFFFFF"/>
                </a:solidFill>
                <a:latin typeface="Calibri" pitchFamily="34" charset="0"/>
                <a:ea typeface="Calibri" pitchFamily="34" charset="-122"/>
                <a:cs typeface="Calibri" pitchFamily="34" charset="-120"/>
              </a:rPr>
              <a:t>Bastion</a:t>
            </a:r>
            <a:endParaRPr lang="en-US" sz="1000" dirty="0"/>
          </a:p>
        </p:txBody>
      </p:sp>
      <p:sp>
        <p:nvSpPr>
          <p:cNvPr id="31" name="Text 29"/>
          <p:cNvSpPr/>
          <p:nvPr/>
        </p:nvSpPr>
        <p:spPr>
          <a:xfrm>
            <a:off x="685800" y="3886200"/>
            <a:ext cx="3794760" cy="502920"/>
          </a:xfrm>
          <a:prstGeom prst="rect">
            <a:avLst/>
          </a:prstGeom>
          <a:noFill/>
          <a:ln/>
        </p:spPr>
        <p:txBody>
          <a:bodyPr wrap="square" lIns="0" tIns="0" rIns="0" bIns="0" rtlCol="0" anchor="ctr"/>
          <a:lstStyle/>
          <a:p>
            <a:pPr algn="l" indent="0" marL="0">
              <a:buNone/>
            </a:pPr>
            <a:r>
              <a:rPr lang="en-US" sz="850" i="1" dirty="0">
                <a:solidFill>
                  <a:srgbClr val="B7B7BE"/>
                </a:solidFill>
                <a:latin typeface="Calibri" pitchFamily="34" charset="0"/>
                <a:ea typeface="Calibri" pitchFamily="34" charset="-122"/>
                <a:cs typeface="Calibri" pitchFamily="34" charset="-120"/>
              </a:rPr>
              <a:t>Centralized networking &amp; shared services (hub-spoke)</a:t>
            </a:r>
            <a:endParaRPr lang="en-US" sz="850" dirty="0"/>
          </a:p>
        </p:txBody>
      </p:sp>
      <p:sp>
        <p:nvSpPr>
          <p:cNvPr id="32" name="Shape 30"/>
          <p:cNvSpPr/>
          <p:nvPr/>
        </p:nvSpPr>
        <p:spPr>
          <a:xfrm>
            <a:off x="4846320" y="1600200"/>
            <a:ext cx="6839712" cy="2880360"/>
          </a:xfrm>
          <a:prstGeom prst="roundRect">
            <a:avLst>
              <a:gd name="adj" fmla="val 1905"/>
            </a:avLst>
          </a:prstGeom>
          <a:solidFill>
            <a:srgbClr val="2B2A33"/>
          </a:solidFill>
          <a:ln w="12700">
            <a:solidFill>
              <a:srgbClr val="B7B7BE"/>
            </a:solidFill>
            <a:prstDash val="dash"/>
          </a:ln>
        </p:spPr>
      </p:sp>
      <p:sp>
        <p:nvSpPr>
          <p:cNvPr id="33" name="Text 31"/>
          <p:cNvSpPr/>
          <p:nvPr/>
        </p:nvSpPr>
        <p:spPr>
          <a:xfrm>
            <a:off x="4974336" y="1664208"/>
            <a:ext cx="6583680" cy="237744"/>
          </a:xfrm>
          <a:prstGeom prst="rect">
            <a:avLst/>
          </a:prstGeom>
          <a:noFill/>
          <a:ln/>
        </p:spPr>
        <p:txBody>
          <a:bodyPr wrap="square" lIns="0" tIns="0" rIns="0" bIns="0" rtlCol="0" anchor="ctr"/>
          <a:lstStyle/>
          <a:p>
            <a:pPr algn="l" indent="0" marL="0">
              <a:buNone/>
            </a:pPr>
            <a:r>
              <a:rPr lang="en-US" sz="1050" b="1" dirty="0">
                <a:solidFill>
                  <a:srgbClr val="FFE600"/>
                </a:solidFill>
                <a:latin typeface="Calibri" pitchFamily="34" charset="0"/>
                <a:ea typeface="Calibri" pitchFamily="34" charset="-122"/>
                <a:cs typeface="Calibri" pitchFamily="34" charset="-120"/>
              </a:rPr>
              <a:t>WORKLOAD / SPOKE SUBSCRIPTION — Spoke VNet</a:t>
            </a:r>
            <a:endParaRPr lang="en-US" sz="1050" dirty="0"/>
          </a:p>
        </p:txBody>
      </p:sp>
      <p:sp>
        <p:nvSpPr>
          <p:cNvPr id="34" name="Shape 32"/>
          <p:cNvSpPr/>
          <p:nvPr/>
        </p:nvSpPr>
        <p:spPr>
          <a:xfrm>
            <a:off x="4937760" y="2057400"/>
            <a:ext cx="2127504" cy="420624"/>
          </a:xfrm>
          <a:prstGeom prst="roundRect">
            <a:avLst>
              <a:gd name="adj" fmla="val 10870"/>
            </a:avLst>
          </a:prstGeom>
          <a:solidFill>
            <a:srgbClr val="43424B"/>
          </a:solidFill>
          <a:ln w="12700">
            <a:solidFill>
              <a:srgbClr val="B7B7BE"/>
            </a:solidFill>
            <a:prstDash val="solid"/>
          </a:ln>
        </p:spPr>
      </p:sp>
      <p:sp>
        <p:nvSpPr>
          <p:cNvPr id="35" name="Text 33"/>
          <p:cNvSpPr/>
          <p:nvPr/>
        </p:nvSpPr>
        <p:spPr>
          <a:xfrm>
            <a:off x="4983480" y="2057400"/>
            <a:ext cx="2036064" cy="420624"/>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FFFFFF"/>
                </a:solidFill>
                <a:latin typeface="Calibri" pitchFamily="34" charset="0"/>
                <a:ea typeface="Calibri" pitchFamily="34" charset="-122"/>
                <a:cs typeface="Calibri" pitchFamily="34" charset="-120"/>
              </a:rPr>
              <a:t>App Subnet</a:t>
            </a:r>
            <a:endParaRPr lang="en-US" sz="900" dirty="0"/>
          </a:p>
        </p:txBody>
      </p:sp>
      <p:sp>
        <p:nvSpPr>
          <p:cNvPr id="36" name="Shape 34"/>
          <p:cNvSpPr/>
          <p:nvPr/>
        </p:nvSpPr>
        <p:spPr>
          <a:xfrm>
            <a:off x="7202424" y="2057400"/>
            <a:ext cx="2127504" cy="420624"/>
          </a:xfrm>
          <a:prstGeom prst="roundRect">
            <a:avLst>
              <a:gd name="adj" fmla="val 10870"/>
            </a:avLst>
          </a:prstGeom>
          <a:solidFill>
            <a:srgbClr val="43424B"/>
          </a:solidFill>
          <a:ln w="12700">
            <a:solidFill>
              <a:srgbClr val="B7B7BE"/>
            </a:solidFill>
            <a:prstDash val="solid"/>
          </a:ln>
        </p:spPr>
      </p:sp>
      <p:sp>
        <p:nvSpPr>
          <p:cNvPr id="37" name="Text 35"/>
          <p:cNvSpPr/>
          <p:nvPr/>
        </p:nvSpPr>
        <p:spPr>
          <a:xfrm>
            <a:off x="7248144" y="2057400"/>
            <a:ext cx="2036064" cy="420624"/>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FFFFFF"/>
                </a:solidFill>
                <a:latin typeface="Calibri" pitchFamily="34" charset="0"/>
                <a:ea typeface="Calibri" pitchFamily="34" charset="-122"/>
                <a:cs typeface="Calibri" pitchFamily="34" charset="-120"/>
              </a:rPr>
              <a:t>APIM Subnet</a:t>
            </a:r>
            <a:endParaRPr lang="en-US" sz="900" dirty="0"/>
          </a:p>
        </p:txBody>
      </p:sp>
      <p:sp>
        <p:nvSpPr>
          <p:cNvPr id="38" name="Shape 36"/>
          <p:cNvSpPr/>
          <p:nvPr/>
        </p:nvSpPr>
        <p:spPr>
          <a:xfrm>
            <a:off x="9467088" y="2057400"/>
            <a:ext cx="2127504" cy="420624"/>
          </a:xfrm>
          <a:prstGeom prst="roundRect">
            <a:avLst>
              <a:gd name="adj" fmla="val 10870"/>
            </a:avLst>
          </a:prstGeom>
          <a:solidFill>
            <a:srgbClr val="43424B"/>
          </a:solidFill>
          <a:ln w="12700">
            <a:solidFill>
              <a:srgbClr val="B7B7BE"/>
            </a:solidFill>
            <a:prstDash val="solid"/>
          </a:ln>
        </p:spPr>
      </p:sp>
      <p:sp>
        <p:nvSpPr>
          <p:cNvPr id="39" name="Text 37"/>
          <p:cNvSpPr/>
          <p:nvPr/>
        </p:nvSpPr>
        <p:spPr>
          <a:xfrm>
            <a:off x="9512808" y="2057400"/>
            <a:ext cx="2036064" cy="420624"/>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FFFFFF"/>
                </a:solidFill>
                <a:latin typeface="Calibri" pitchFamily="34" charset="0"/>
                <a:ea typeface="Calibri" pitchFamily="34" charset="-122"/>
                <a:cs typeface="Calibri" pitchFamily="34" charset="-120"/>
              </a:rPr>
              <a:t>Private Endpoint Subnet</a:t>
            </a:r>
            <a:endParaRPr lang="en-US" sz="900" dirty="0"/>
          </a:p>
        </p:txBody>
      </p:sp>
      <p:sp>
        <p:nvSpPr>
          <p:cNvPr id="40" name="Shape 38"/>
          <p:cNvSpPr/>
          <p:nvPr/>
        </p:nvSpPr>
        <p:spPr>
          <a:xfrm>
            <a:off x="8266176" y="2478024"/>
            <a:ext cx="0" cy="265176"/>
          </a:xfrm>
          <a:prstGeom prst="line">
            <a:avLst/>
          </a:prstGeom>
          <a:noFill/>
          <a:ln w="17780">
            <a:solidFill>
              <a:srgbClr val="B7B7BE"/>
            </a:solidFill>
            <a:prstDash val="solid"/>
            <a:tailEnd type="triangle"/>
          </a:ln>
        </p:spPr>
      </p:sp>
      <p:sp>
        <p:nvSpPr>
          <p:cNvPr id="41" name="Shape 39"/>
          <p:cNvSpPr/>
          <p:nvPr/>
        </p:nvSpPr>
        <p:spPr>
          <a:xfrm>
            <a:off x="4937760" y="2743200"/>
            <a:ext cx="1561338" cy="548640"/>
          </a:xfrm>
          <a:prstGeom prst="roundRect">
            <a:avLst>
              <a:gd name="adj" fmla="val 8333"/>
            </a:avLst>
          </a:prstGeom>
          <a:solidFill>
            <a:srgbClr val="FFE600"/>
          </a:solidFill>
          <a:ln w="12700">
            <a:solidFill>
              <a:srgbClr val="B7B7BE"/>
            </a:solidFill>
            <a:prstDash val="solid"/>
          </a:ln>
        </p:spPr>
      </p:sp>
      <p:sp>
        <p:nvSpPr>
          <p:cNvPr id="42" name="Text 40"/>
          <p:cNvSpPr/>
          <p:nvPr/>
        </p:nvSpPr>
        <p:spPr>
          <a:xfrm>
            <a:off x="4983480" y="2743200"/>
            <a:ext cx="1469898" cy="548640"/>
          </a:xfrm>
          <a:prstGeom prst="rect">
            <a:avLst/>
          </a:prstGeom>
          <a:noFill/>
          <a:ln/>
        </p:spPr>
        <p:txBody>
          <a:bodyPr wrap="square" lIns="0" tIns="0" rIns="0" bIns="0" rtlCol="0" anchor="ctr">
            <a:normAutofit/>
          </a:bodyPr>
          <a:lstStyle/>
          <a:p>
            <a:pPr algn="ctr" indent="0" marL="0">
              <a:lnSpc>
                <a:spcPct val="95000"/>
              </a:lnSpc>
              <a:buNone/>
            </a:pPr>
            <a:r>
              <a:rPr lang="en-US" sz="870" b="1" dirty="0">
                <a:solidFill>
                  <a:srgbClr val="1A1A24"/>
                </a:solidFill>
                <a:latin typeface="Calibri" pitchFamily="34" charset="0"/>
                <a:ea typeface="Calibri" pitchFamily="34" charset="-122"/>
                <a:cs typeface="Calibri" pitchFamily="34" charset="-120"/>
              </a:rPr>
              <a:t>Foundry / Azure OpenAI</a:t>
            </a:r>
            <a:endParaRPr lang="en-US" sz="870" dirty="0"/>
          </a:p>
        </p:txBody>
      </p:sp>
      <p:sp>
        <p:nvSpPr>
          <p:cNvPr id="43" name="Shape 41"/>
          <p:cNvSpPr/>
          <p:nvPr/>
        </p:nvSpPr>
        <p:spPr>
          <a:xfrm>
            <a:off x="6636258" y="2743200"/>
            <a:ext cx="1561338" cy="548640"/>
          </a:xfrm>
          <a:prstGeom prst="roundRect">
            <a:avLst>
              <a:gd name="adj" fmla="val 8333"/>
            </a:avLst>
          </a:prstGeom>
          <a:solidFill>
            <a:srgbClr val="FFFFFF"/>
          </a:solidFill>
          <a:ln w="12700">
            <a:solidFill>
              <a:srgbClr val="B7B7BE"/>
            </a:solidFill>
            <a:prstDash val="solid"/>
          </a:ln>
        </p:spPr>
      </p:sp>
      <p:sp>
        <p:nvSpPr>
          <p:cNvPr id="44" name="Text 42"/>
          <p:cNvSpPr/>
          <p:nvPr/>
        </p:nvSpPr>
        <p:spPr>
          <a:xfrm>
            <a:off x="6681978" y="2743200"/>
            <a:ext cx="1469898" cy="548640"/>
          </a:xfrm>
          <a:prstGeom prst="rect">
            <a:avLst/>
          </a:prstGeom>
          <a:noFill/>
          <a:ln/>
        </p:spPr>
        <p:txBody>
          <a:bodyPr wrap="square" lIns="0" tIns="0" rIns="0" bIns="0" rtlCol="0" anchor="ctr">
            <a:normAutofit/>
          </a:bodyPr>
          <a:lstStyle/>
          <a:p>
            <a:pPr algn="ctr" indent="0" marL="0">
              <a:lnSpc>
                <a:spcPct val="95000"/>
              </a:lnSpc>
              <a:buNone/>
            </a:pPr>
            <a:r>
              <a:rPr lang="en-US" sz="870" b="1" dirty="0">
                <a:solidFill>
                  <a:srgbClr val="1A1A24"/>
                </a:solidFill>
                <a:latin typeface="Calibri" pitchFamily="34" charset="0"/>
                <a:ea typeface="Calibri" pitchFamily="34" charset="-122"/>
                <a:cs typeface="Calibri" pitchFamily="34" charset="-120"/>
              </a:rPr>
              <a:t>Azure AI Search</a:t>
            </a:r>
            <a:endParaRPr lang="en-US" sz="870" dirty="0"/>
          </a:p>
        </p:txBody>
      </p:sp>
      <p:sp>
        <p:nvSpPr>
          <p:cNvPr id="45" name="Shape 43"/>
          <p:cNvSpPr/>
          <p:nvPr/>
        </p:nvSpPr>
        <p:spPr>
          <a:xfrm>
            <a:off x="8334756" y="2743200"/>
            <a:ext cx="1561338" cy="548640"/>
          </a:xfrm>
          <a:prstGeom prst="roundRect">
            <a:avLst>
              <a:gd name="adj" fmla="val 8333"/>
            </a:avLst>
          </a:prstGeom>
          <a:solidFill>
            <a:srgbClr val="FFFFFF"/>
          </a:solidFill>
          <a:ln w="12700">
            <a:solidFill>
              <a:srgbClr val="B7B7BE"/>
            </a:solidFill>
            <a:prstDash val="solid"/>
          </a:ln>
        </p:spPr>
      </p:sp>
      <p:sp>
        <p:nvSpPr>
          <p:cNvPr id="46" name="Text 44"/>
          <p:cNvSpPr/>
          <p:nvPr/>
        </p:nvSpPr>
        <p:spPr>
          <a:xfrm>
            <a:off x="8380476" y="2743200"/>
            <a:ext cx="1469898" cy="548640"/>
          </a:xfrm>
          <a:prstGeom prst="rect">
            <a:avLst/>
          </a:prstGeom>
          <a:noFill/>
          <a:ln/>
        </p:spPr>
        <p:txBody>
          <a:bodyPr wrap="square" lIns="0" tIns="0" rIns="0" bIns="0" rtlCol="0" anchor="ctr">
            <a:normAutofit/>
          </a:bodyPr>
          <a:lstStyle/>
          <a:p>
            <a:pPr algn="ctr" indent="0" marL="0">
              <a:lnSpc>
                <a:spcPct val="95000"/>
              </a:lnSpc>
              <a:buNone/>
            </a:pPr>
            <a:r>
              <a:rPr lang="en-US" sz="870" b="1" dirty="0">
                <a:solidFill>
                  <a:srgbClr val="1A1A24"/>
                </a:solidFill>
                <a:latin typeface="Calibri" pitchFamily="34" charset="0"/>
                <a:ea typeface="Calibri" pitchFamily="34" charset="-122"/>
                <a:cs typeface="Calibri" pitchFamily="34" charset="-120"/>
              </a:rPr>
              <a:t>Azure Key Vault</a:t>
            </a:r>
            <a:endParaRPr lang="en-US" sz="870" dirty="0"/>
          </a:p>
        </p:txBody>
      </p:sp>
      <p:sp>
        <p:nvSpPr>
          <p:cNvPr id="47" name="Shape 45"/>
          <p:cNvSpPr/>
          <p:nvPr/>
        </p:nvSpPr>
        <p:spPr>
          <a:xfrm>
            <a:off x="10033254" y="2743200"/>
            <a:ext cx="1561338" cy="548640"/>
          </a:xfrm>
          <a:prstGeom prst="roundRect">
            <a:avLst>
              <a:gd name="adj" fmla="val 8333"/>
            </a:avLst>
          </a:prstGeom>
          <a:solidFill>
            <a:srgbClr val="FFFFFF"/>
          </a:solidFill>
          <a:ln w="12700">
            <a:solidFill>
              <a:srgbClr val="B7B7BE"/>
            </a:solidFill>
            <a:prstDash val="solid"/>
          </a:ln>
        </p:spPr>
      </p:sp>
      <p:sp>
        <p:nvSpPr>
          <p:cNvPr id="48" name="Text 46"/>
          <p:cNvSpPr/>
          <p:nvPr/>
        </p:nvSpPr>
        <p:spPr>
          <a:xfrm>
            <a:off x="10078974" y="2743200"/>
            <a:ext cx="1469898" cy="548640"/>
          </a:xfrm>
          <a:prstGeom prst="rect">
            <a:avLst/>
          </a:prstGeom>
          <a:noFill/>
          <a:ln/>
        </p:spPr>
        <p:txBody>
          <a:bodyPr wrap="square" lIns="0" tIns="0" rIns="0" bIns="0" rtlCol="0" anchor="ctr">
            <a:normAutofit/>
          </a:bodyPr>
          <a:lstStyle/>
          <a:p>
            <a:pPr algn="ctr" indent="0" marL="0">
              <a:lnSpc>
                <a:spcPct val="95000"/>
              </a:lnSpc>
              <a:buNone/>
            </a:pPr>
            <a:r>
              <a:rPr lang="en-US" sz="870" b="1" dirty="0">
                <a:solidFill>
                  <a:srgbClr val="1A1A24"/>
                </a:solidFill>
                <a:latin typeface="Calibri" pitchFamily="34" charset="0"/>
                <a:ea typeface="Calibri" pitchFamily="34" charset="-122"/>
                <a:cs typeface="Calibri" pitchFamily="34" charset="-120"/>
              </a:rPr>
              <a:t>Azure Storage</a:t>
            </a:r>
            <a:endParaRPr lang="en-US" sz="870" dirty="0"/>
          </a:p>
        </p:txBody>
      </p:sp>
      <p:sp>
        <p:nvSpPr>
          <p:cNvPr id="49" name="Text 47"/>
          <p:cNvSpPr/>
          <p:nvPr/>
        </p:nvSpPr>
        <p:spPr>
          <a:xfrm>
            <a:off x="4937760" y="3383280"/>
            <a:ext cx="6656832" cy="274320"/>
          </a:xfrm>
          <a:prstGeom prst="rect">
            <a:avLst/>
          </a:prstGeom>
          <a:noFill/>
          <a:ln/>
        </p:spPr>
        <p:txBody>
          <a:bodyPr wrap="square" lIns="0" tIns="0" rIns="0" bIns="0" rtlCol="0" anchor="ctr"/>
          <a:lstStyle/>
          <a:p>
            <a:pPr algn="ctr" indent="0" marL="0">
              <a:buNone/>
            </a:pPr>
            <a:r>
              <a:rPr lang="en-US" sz="850" i="1" dirty="0">
                <a:solidFill>
                  <a:srgbClr val="B7B7BE"/>
                </a:solidFill>
                <a:latin typeface="Calibri" pitchFamily="34" charset="0"/>
                <a:ea typeface="Calibri" pitchFamily="34" charset="-122"/>
                <a:cs typeface="Calibri" pitchFamily="34" charset="-120"/>
              </a:rPr>
              <a:t>Accessed via private endpoints from the Private Endpoint Subnet</a:t>
            </a:r>
            <a:endParaRPr lang="en-US" sz="850" dirty="0"/>
          </a:p>
        </p:txBody>
      </p:sp>
      <p:sp>
        <p:nvSpPr>
          <p:cNvPr id="50" name="Text 48"/>
          <p:cNvSpPr/>
          <p:nvPr/>
        </p:nvSpPr>
        <p:spPr>
          <a:xfrm>
            <a:off x="4937760" y="3886200"/>
            <a:ext cx="6656832" cy="502920"/>
          </a:xfrm>
          <a:prstGeom prst="rect">
            <a:avLst/>
          </a:prstGeom>
          <a:noFill/>
          <a:ln/>
        </p:spPr>
        <p:txBody>
          <a:bodyPr wrap="square" lIns="0" tIns="0" rIns="0" bIns="0" rtlCol="0" anchor="ctr"/>
          <a:lstStyle/>
          <a:p>
            <a:pPr algn="l" indent="0" marL="0">
              <a:buNone/>
            </a:pPr>
            <a:r>
              <a:rPr lang="en-US" sz="850" i="1" dirty="0">
                <a:solidFill>
                  <a:srgbClr val="B7B7BE"/>
                </a:solidFill>
                <a:latin typeface="Calibri" pitchFamily="34" charset="0"/>
                <a:ea typeface="Calibri" pitchFamily="34" charset="-122"/>
                <a:cs typeface="Calibri" pitchFamily="34" charset="-120"/>
              </a:rPr>
              <a:t>App Service / Container Apps run in the App Subnet; APIM fronts the AI agent/application</a:t>
            </a:r>
            <a:endParaRPr lang="en-US" sz="850" dirty="0"/>
          </a:p>
        </p:txBody>
      </p:sp>
      <p:sp>
        <p:nvSpPr>
          <p:cNvPr id="51" name="Shape 49"/>
          <p:cNvSpPr/>
          <p:nvPr/>
        </p:nvSpPr>
        <p:spPr>
          <a:xfrm>
            <a:off x="502920" y="4645152"/>
            <a:ext cx="11183112" cy="868680"/>
          </a:xfrm>
          <a:prstGeom prst="roundRect">
            <a:avLst>
              <a:gd name="adj" fmla="val 6316"/>
            </a:avLst>
          </a:prstGeom>
          <a:solidFill>
            <a:srgbClr val="43424B"/>
          </a:solidFill>
          <a:ln w="12700">
            <a:solidFill>
              <a:srgbClr val="B7B7BE"/>
            </a:solidFill>
            <a:prstDash val="solid"/>
          </a:ln>
        </p:spPr>
      </p:sp>
      <p:sp>
        <p:nvSpPr>
          <p:cNvPr id="52" name="Text 50"/>
          <p:cNvSpPr/>
          <p:nvPr/>
        </p:nvSpPr>
        <p:spPr>
          <a:xfrm>
            <a:off x="640080" y="4736592"/>
            <a:ext cx="2521458" cy="219456"/>
          </a:xfrm>
          <a:prstGeom prst="rect">
            <a:avLst/>
          </a:prstGeom>
          <a:noFill/>
          <a:ln/>
        </p:spPr>
        <p:txBody>
          <a:bodyPr wrap="square" lIns="0" tIns="0" rIns="0" bIns="0" rtlCol="0" anchor="ctr"/>
          <a:lstStyle/>
          <a:p>
            <a:pPr algn="l" indent="0" marL="0">
              <a:buNone/>
            </a:pPr>
            <a:r>
              <a:rPr lang="en-US" sz="1000" b="1" dirty="0">
                <a:solidFill>
                  <a:srgbClr val="FFE600"/>
                </a:solidFill>
                <a:latin typeface="Calibri" pitchFamily="34" charset="0"/>
                <a:ea typeface="Calibri" pitchFamily="34" charset="-122"/>
                <a:cs typeface="Calibri" pitchFamily="34" charset="-120"/>
              </a:rPr>
              <a:t>IDENTITY</a:t>
            </a:r>
            <a:endParaRPr lang="en-US" sz="1000" dirty="0"/>
          </a:p>
        </p:txBody>
      </p:sp>
      <p:sp>
        <p:nvSpPr>
          <p:cNvPr id="53" name="Text 51"/>
          <p:cNvSpPr/>
          <p:nvPr/>
        </p:nvSpPr>
        <p:spPr>
          <a:xfrm>
            <a:off x="640080" y="5010912"/>
            <a:ext cx="2521458" cy="457200"/>
          </a:xfrm>
          <a:prstGeom prst="rect">
            <a:avLst/>
          </a:prstGeom>
          <a:noFill/>
          <a:ln/>
        </p:spPr>
        <p:txBody>
          <a:bodyPr wrap="square" lIns="0" tIns="0" rIns="0" bIns="0" rtlCol="0" anchor="ctr"/>
          <a:lstStyle/>
          <a:p>
            <a:pPr algn="l" indent="0" marL="0">
              <a:buNone/>
            </a:pPr>
            <a:r>
              <a:rPr lang="en-US" sz="870" dirty="0">
                <a:solidFill>
                  <a:srgbClr val="E8E8EA"/>
                </a:solidFill>
                <a:latin typeface="Calibri" pitchFamily="34" charset="0"/>
                <a:ea typeface="Calibri" pitchFamily="34" charset="-122"/>
                <a:cs typeface="Calibri" pitchFamily="34" charset="-120"/>
              </a:rPr>
              <a:t>Entra ID · Managed Identity · Azure RBAC</a:t>
            </a:r>
            <a:endParaRPr lang="en-US" sz="870" dirty="0"/>
          </a:p>
        </p:txBody>
      </p:sp>
      <p:sp>
        <p:nvSpPr>
          <p:cNvPr id="54" name="Text 52"/>
          <p:cNvSpPr/>
          <p:nvPr/>
        </p:nvSpPr>
        <p:spPr>
          <a:xfrm>
            <a:off x="3435858" y="4736592"/>
            <a:ext cx="2521458" cy="219456"/>
          </a:xfrm>
          <a:prstGeom prst="rect">
            <a:avLst/>
          </a:prstGeom>
          <a:noFill/>
          <a:ln/>
        </p:spPr>
        <p:txBody>
          <a:bodyPr wrap="square" lIns="0" tIns="0" rIns="0" bIns="0" rtlCol="0" anchor="ctr"/>
          <a:lstStyle/>
          <a:p>
            <a:pPr algn="l" indent="0" marL="0">
              <a:buNone/>
            </a:pPr>
            <a:r>
              <a:rPr lang="en-US" sz="1000" b="1" dirty="0">
                <a:solidFill>
                  <a:srgbClr val="FFE600"/>
                </a:solidFill>
                <a:latin typeface="Calibri" pitchFamily="34" charset="0"/>
                <a:ea typeface="Calibri" pitchFamily="34" charset="-122"/>
                <a:cs typeface="Calibri" pitchFamily="34" charset="-120"/>
              </a:rPr>
              <a:t>GOVERNANCE</a:t>
            </a:r>
            <a:endParaRPr lang="en-US" sz="1000" dirty="0"/>
          </a:p>
        </p:txBody>
      </p:sp>
      <p:sp>
        <p:nvSpPr>
          <p:cNvPr id="55" name="Text 53"/>
          <p:cNvSpPr/>
          <p:nvPr/>
        </p:nvSpPr>
        <p:spPr>
          <a:xfrm>
            <a:off x="3435858" y="5010912"/>
            <a:ext cx="2521458" cy="457200"/>
          </a:xfrm>
          <a:prstGeom prst="rect">
            <a:avLst/>
          </a:prstGeom>
          <a:noFill/>
          <a:ln/>
        </p:spPr>
        <p:txBody>
          <a:bodyPr wrap="square" lIns="0" tIns="0" rIns="0" bIns="0" rtlCol="0" anchor="ctr"/>
          <a:lstStyle/>
          <a:p>
            <a:pPr algn="l" indent="0" marL="0">
              <a:buNone/>
            </a:pPr>
            <a:r>
              <a:rPr lang="en-US" sz="870" dirty="0">
                <a:solidFill>
                  <a:srgbClr val="E8E8EA"/>
                </a:solidFill>
                <a:latin typeface="Calibri" pitchFamily="34" charset="0"/>
                <a:ea typeface="Calibri" pitchFamily="34" charset="-122"/>
                <a:cs typeface="Calibri" pitchFamily="34" charset="-120"/>
              </a:rPr>
              <a:t>Azure Policy · Mgmt Groups · Defender for Cloud</a:t>
            </a:r>
            <a:endParaRPr lang="en-US" sz="870" dirty="0"/>
          </a:p>
        </p:txBody>
      </p:sp>
      <p:sp>
        <p:nvSpPr>
          <p:cNvPr id="56" name="Text 54"/>
          <p:cNvSpPr/>
          <p:nvPr/>
        </p:nvSpPr>
        <p:spPr>
          <a:xfrm>
            <a:off x="6231636" y="4736592"/>
            <a:ext cx="2521458" cy="219456"/>
          </a:xfrm>
          <a:prstGeom prst="rect">
            <a:avLst/>
          </a:prstGeom>
          <a:noFill/>
          <a:ln/>
        </p:spPr>
        <p:txBody>
          <a:bodyPr wrap="square" lIns="0" tIns="0" rIns="0" bIns="0" rtlCol="0" anchor="ctr"/>
          <a:lstStyle/>
          <a:p>
            <a:pPr algn="l" indent="0" marL="0">
              <a:buNone/>
            </a:pPr>
            <a:r>
              <a:rPr lang="en-US" sz="1000" b="1" dirty="0">
                <a:solidFill>
                  <a:srgbClr val="FFE600"/>
                </a:solidFill>
                <a:latin typeface="Calibri" pitchFamily="34" charset="0"/>
                <a:ea typeface="Calibri" pitchFamily="34" charset="-122"/>
                <a:cs typeface="Calibri" pitchFamily="34" charset="-120"/>
              </a:rPr>
              <a:t>OBSERVABILITY</a:t>
            </a:r>
            <a:endParaRPr lang="en-US" sz="1000" dirty="0"/>
          </a:p>
        </p:txBody>
      </p:sp>
      <p:sp>
        <p:nvSpPr>
          <p:cNvPr id="57" name="Text 55"/>
          <p:cNvSpPr/>
          <p:nvPr/>
        </p:nvSpPr>
        <p:spPr>
          <a:xfrm>
            <a:off x="6231636" y="5010912"/>
            <a:ext cx="2521458" cy="457200"/>
          </a:xfrm>
          <a:prstGeom prst="rect">
            <a:avLst/>
          </a:prstGeom>
          <a:noFill/>
          <a:ln/>
        </p:spPr>
        <p:txBody>
          <a:bodyPr wrap="square" lIns="0" tIns="0" rIns="0" bIns="0" rtlCol="0" anchor="ctr"/>
          <a:lstStyle/>
          <a:p>
            <a:pPr algn="l" indent="0" marL="0">
              <a:buNone/>
            </a:pPr>
            <a:r>
              <a:rPr lang="en-US" sz="870" dirty="0">
                <a:solidFill>
                  <a:srgbClr val="E8E8EA"/>
                </a:solidFill>
                <a:latin typeface="Calibri" pitchFamily="34" charset="0"/>
                <a:ea typeface="Calibri" pitchFamily="34" charset="-122"/>
                <a:cs typeface="Calibri" pitchFamily="34" charset="-120"/>
              </a:rPr>
              <a:t>Azure Monitor · Log Analytics · App Insights</a:t>
            </a:r>
            <a:endParaRPr lang="en-US" sz="870" dirty="0"/>
          </a:p>
        </p:txBody>
      </p:sp>
      <p:sp>
        <p:nvSpPr>
          <p:cNvPr id="58" name="Text 56"/>
          <p:cNvSpPr/>
          <p:nvPr/>
        </p:nvSpPr>
        <p:spPr>
          <a:xfrm>
            <a:off x="9027414" y="4736592"/>
            <a:ext cx="2521458" cy="219456"/>
          </a:xfrm>
          <a:prstGeom prst="rect">
            <a:avLst/>
          </a:prstGeom>
          <a:noFill/>
          <a:ln/>
        </p:spPr>
        <p:txBody>
          <a:bodyPr wrap="square" lIns="0" tIns="0" rIns="0" bIns="0" rtlCol="0" anchor="ctr"/>
          <a:lstStyle/>
          <a:p>
            <a:pPr algn="l" indent="0" marL="0">
              <a:buNone/>
            </a:pPr>
            <a:r>
              <a:rPr lang="en-US" sz="1000" b="1" dirty="0">
                <a:solidFill>
                  <a:srgbClr val="FFE600"/>
                </a:solidFill>
                <a:latin typeface="Calibri" pitchFamily="34" charset="0"/>
                <a:ea typeface="Calibri" pitchFamily="34" charset="-122"/>
                <a:cs typeface="Calibri" pitchFamily="34" charset="-120"/>
              </a:rPr>
              <a:t>CI/CD + IaC</a:t>
            </a:r>
            <a:endParaRPr lang="en-US" sz="1000" dirty="0"/>
          </a:p>
        </p:txBody>
      </p:sp>
      <p:sp>
        <p:nvSpPr>
          <p:cNvPr id="59" name="Text 57"/>
          <p:cNvSpPr/>
          <p:nvPr/>
        </p:nvSpPr>
        <p:spPr>
          <a:xfrm>
            <a:off x="9027414" y="5010912"/>
            <a:ext cx="2521458" cy="457200"/>
          </a:xfrm>
          <a:prstGeom prst="rect">
            <a:avLst/>
          </a:prstGeom>
          <a:noFill/>
          <a:ln/>
        </p:spPr>
        <p:txBody>
          <a:bodyPr wrap="square" lIns="0" tIns="0" rIns="0" bIns="0" rtlCol="0" anchor="ctr"/>
          <a:lstStyle/>
          <a:p>
            <a:pPr algn="l" indent="0" marL="0">
              <a:buNone/>
            </a:pPr>
            <a:r>
              <a:rPr lang="en-US" sz="870" dirty="0">
                <a:solidFill>
                  <a:srgbClr val="E8E8EA"/>
                </a:solidFill>
                <a:latin typeface="Calibri" pitchFamily="34" charset="0"/>
                <a:ea typeface="Calibri" pitchFamily="34" charset="-122"/>
                <a:cs typeface="Calibri" pitchFamily="34" charset="-120"/>
              </a:rPr>
              <a:t>Bicep / Terraform · Azure DevOps / GitHub Actions</a:t>
            </a:r>
            <a:endParaRPr lang="en-US" sz="870" dirty="0"/>
          </a:p>
        </p:txBody>
      </p:sp>
      <p:sp>
        <p:nvSpPr>
          <p:cNvPr id="60" name="Shape 58"/>
          <p:cNvSpPr/>
          <p:nvPr/>
        </p:nvSpPr>
        <p:spPr>
          <a:xfrm>
            <a:off x="502920" y="5650992"/>
            <a:ext cx="10378440" cy="594360"/>
          </a:xfrm>
          <a:prstGeom prst="roundRect">
            <a:avLst>
              <a:gd name="adj" fmla="val 9231"/>
            </a:avLst>
          </a:prstGeom>
          <a:solidFill>
            <a:srgbClr val="FFE600"/>
          </a:solidFill>
          <a:ln w="12700">
            <a:solidFill>
              <a:srgbClr val="1A1A24"/>
            </a:solidFill>
            <a:prstDash val="solid"/>
          </a:ln>
        </p:spPr>
      </p:sp>
      <p:sp>
        <p:nvSpPr>
          <p:cNvPr id="61" name="Text 59"/>
          <p:cNvSpPr/>
          <p:nvPr/>
        </p:nvSpPr>
        <p:spPr>
          <a:xfrm>
            <a:off x="548640" y="5650992"/>
            <a:ext cx="10287000" cy="594360"/>
          </a:xfrm>
          <a:prstGeom prst="rect">
            <a:avLst/>
          </a:prstGeom>
          <a:noFill/>
          <a:ln/>
        </p:spPr>
        <p:txBody>
          <a:bodyPr wrap="square" lIns="0" tIns="0" rIns="0" bIns="0" rtlCol="0" anchor="ctr">
            <a:normAutofit/>
          </a:bodyPr>
          <a:lstStyle/>
          <a:p>
            <a:pPr algn="ctr" indent="0" marL="0">
              <a:lnSpc>
                <a:spcPct val="95000"/>
              </a:lnSpc>
              <a:buNone/>
            </a:pPr>
            <a:r>
              <a:rPr lang="en-US" sz="1050" b="1" dirty="0">
                <a:solidFill>
                  <a:srgbClr val="1A1A24"/>
                </a:solidFill>
                <a:latin typeface="Calibri" pitchFamily="34" charset="0"/>
                <a:ea typeface="Calibri" pitchFamily="34" charset="-122"/>
                <a:cs typeface="Calibri" pitchFamily="34" charset="-120"/>
              </a:rPr>
              <a:t>Private connectivity + centralized identity + policy + monitoring make the AI workload part of the enterprise landing zone rather than an isolated AI service.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02920" y="274320"/>
            <a:ext cx="11183112" cy="475488"/>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ea typeface="Cambria" pitchFamily="34" charset="-122"/>
                <a:cs typeface="Cambria" pitchFamily="34" charset="-120"/>
              </a:rPr>
              <a:t>OpenAI + Azure AI Search — Enterprise RAG</a:t>
            </a:r>
            <a:endParaRPr lang="en-US" sz="2300" dirty="0"/>
          </a:p>
        </p:txBody>
      </p:sp>
      <p:sp>
        <p:nvSpPr>
          <p:cNvPr id="5" name="Text 3"/>
          <p:cNvSpPr/>
          <p:nvPr/>
        </p:nvSpPr>
        <p:spPr>
          <a:xfrm>
            <a:off x="502920" y="749808"/>
            <a:ext cx="11183112" cy="274320"/>
          </a:xfrm>
          <a:prstGeom prst="rect">
            <a:avLst/>
          </a:prstGeom>
          <a:noFill/>
          <a:ln/>
        </p:spPr>
        <p:txBody>
          <a:bodyPr wrap="square" lIns="0" tIns="0" rIns="0" bIns="0" rtlCol="0" anchor="ctr"/>
          <a:lstStyle/>
          <a:p>
            <a:pPr algn="l" indent="0" marL="0">
              <a:buNone/>
            </a:pPr>
            <a:r>
              <a:rPr lang="en-US" sz="1250" i="1" dirty="0">
                <a:solidFill>
                  <a:srgbClr val="B7B7BE"/>
                </a:solidFill>
                <a:latin typeface="Calibri" pitchFamily="34" charset="0"/>
                <a:ea typeface="Calibri" pitchFamily="34" charset="-122"/>
                <a:cs typeface="Calibri" pitchFamily="34" charset="-120"/>
              </a:rPr>
              <a:t>Grounding model responses in enterprise knowledge</a:t>
            </a:r>
            <a:endParaRPr lang="en-US" sz="1250" dirty="0"/>
          </a:p>
        </p:txBody>
      </p:sp>
      <p:sp>
        <p:nvSpPr>
          <p:cNvPr id="6" name="Text 4"/>
          <p:cNvSpPr/>
          <p:nvPr/>
        </p:nvSpPr>
        <p:spPr>
          <a:xfrm>
            <a:off x="502920" y="1143000"/>
            <a:ext cx="3566160" cy="274320"/>
          </a:xfrm>
          <a:prstGeom prst="rect">
            <a:avLst/>
          </a:prstGeom>
          <a:noFill/>
          <a:ln/>
        </p:spPr>
        <p:txBody>
          <a:bodyPr wrap="square" lIns="0" tIns="0" rIns="0" bIns="0" rtlCol="0" anchor="ctr"/>
          <a:lstStyle/>
          <a:p>
            <a:pPr algn="l" indent="0" marL="0">
              <a:buNone/>
            </a:pPr>
            <a:r>
              <a:rPr lang="en-US" sz="1200" b="1" dirty="0">
                <a:solidFill>
                  <a:srgbClr val="FFE600"/>
                </a:solidFill>
                <a:latin typeface="Calibri" pitchFamily="34" charset="0"/>
                <a:ea typeface="Calibri" pitchFamily="34" charset="-122"/>
                <a:cs typeface="Calibri" pitchFamily="34" charset="-120"/>
              </a:rPr>
              <a:t>DATA INGESTION</a:t>
            </a:r>
            <a:endParaRPr lang="en-US" sz="1200" dirty="0"/>
          </a:p>
        </p:txBody>
      </p:sp>
      <p:sp>
        <p:nvSpPr>
          <p:cNvPr id="7" name="Shape 5"/>
          <p:cNvSpPr/>
          <p:nvPr/>
        </p:nvSpPr>
        <p:spPr>
          <a:xfrm>
            <a:off x="502920" y="1508760"/>
            <a:ext cx="3566160" cy="566928"/>
          </a:xfrm>
          <a:prstGeom prst="roundRect">
            <a:avLst>
              <a:gd name="adj" fmla="val 8065"/>
            </a:avLst>
          </a:prstGeom>
          <a:solidFill>
            <a:srgbClr val="FFFFFF"/>
          </a:solidFill>
          <a:ln w="12700">
            <a:solidFill>
              <a:srgbClr val="B7B7BE"/>
            </a:solidFill>
            <a:prstDash val="solid"/>
          </a:ln>
        </p:spPr>
      </p:sp>
      <p:sp>
        <p:nvSpPr>
          <p:cNvPr id="8" name="Text 6"/>
          <p:cNvSpPr/>
          <p:nvPr/>
        </p:nvSpPr>
        <p:spPr>
          <a:xfrm>
            <a:off x="548640" y="1508760"/>
            <a:ext cx="3474720" cy="566928"/>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1A1A24"/>
                </a:solidFill>
                <a:latin typeface="Calibri" pitchFamily="34" charset="0"/>
                <a:ea typeface="Calibri" pitchFamily="34" charset="-122"/>
                <a:cs typeface="Calibri" pitchFamily="34" charset="-120"/>
              </a:rPr>
              <a:t>Enterprise Documents</a:t>
            </a:r>
            <a:endParaRPr lang="en-US" sz="1000" dirty="0"/>
          </a:p>
          <a:p>
            <a:pPr algn="ctr" indent="0" marL="0">
              <a:lnSpc>
                <a:spcPct val="95000"/>
              </a:lnSpc>
              <a:buNone/>
            </a:pPr>
            <a:r>
              <a:rPr lang="en-US" sz="1000" b="1" dirty="0">
                <a:solidFill>
                  <a:srgbClr val="1A1A24"/>
                </a:solidFill>
                <a:latin typeface="Calibri" pitchFamily="34" charset="0"/>
                <a:ea typeface="Calibri" pitchFamily="34" charset="-122"/>
                <a:cs typeface="Calibri" pitchFamily="34" charset="-120"/>
              </a:rPr>
              <a:t>(SharePoint / Blob / Files)</a:t>
            </a:r>
            <a:endParaRPr lang="en-US" sz="1000" dirty="0"/>
          </a:p>
        </p:txBody>
      </p:sp>
      <p:sp>
        <p:nvSpPr>
          <p:cNvPr id="9" name="Shape 7"/>
          <p:cNvSpPr/>
          <p:nvPr/>
        </p:nvSpPr>
        <p:spPr>
          <a:xfrm>
            <a:off x="2286000" y="2075688"/>
            <a:ext cx="0" cy="128016"/>
          </a:xfrm>
          <a:prstGeom prst="line">
            <a:avLst/>
          </a:prstGeom>
          <a:noFill/>
          <a:ln w="19050">
            <a:solidFill>
              <a:srgbClr val="B7B7BE"/>
            </a:solidFill>
            <a:prstDash val="solid"/>
            <a:tailEnd type="triangle"/>
          </a:ln>
        </p:spPr>
      </p:sp>
      <p:sp>
        <p:nvSpPr>
          <p:cNvPr id="10" name="Shape 8"/>
          <p:cNvSpPr/>
          <p:nvPr/>
        </p:nvSpPr>
        <p:spPr>
          <a:xfrm>
            <a:off x="502920" y="2203704"/>
            <a:ext cx="3566160" cy="566928"/>
          </a:xfrm>
          <a:prstGeom prst="roundRect">
            <a:avLst>
              <a:gd name="adj" fmla="val 8065"/>
            </a:avLst>
          </a:prstGeom>
          <a:solidFill>
            <a:srgbClr val="E8E8EA"/>
          </a:solidFill>
          <a:ln w="12700">
            <a:solidFill>
              <a:srgbClr val="B7B7BE"/>
            </a:solidFill>
            <a:prstDash val="solid"/>
          </a:ln>
        </p:spPr>
      </p:sp>
      <p:sp>
        <p:nvSpPr>
          <p:cNvPr id="11" name="Text 9"/>
          <p:cNvSpPr/>
          <p:nvPr/>
        </p:nvSpPr>
        <p:spPr>
          <a:xfrm>
            <a:off x="548640" y="2203704"/>
            <a:ext cx="3474720" cy="566928"/>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1A1A24"/>
                </a:solidFill>
                <a:latin typeface="Calibri" pitchFamily="34" charset="0"/>
                <a:ea typeface="Calibri" pitchFamily="34" charset="-122"/>
                <a:cs typeface="Calibri" pitchFamily="34" charset="-120"/>
              </a:rPr>
              <a:t>Ingestion &amp; Indexing</a:t>
            </a:r>
            <a:endParaRPr lang="en-US" sz="1000" dirty="0"/>
          </a:p>
        </p:txBody>
      </p:sp>
      <p:sp>
        <p:nvSpPr>
          <p:cNvPr id="12" name="Shape 10"/>
          <p:cNvSpPr/>
          <p:nvPr/>
        </p:nvSpPr>
        <p:spPr>
          <a:xfrm>
            <a:off x="2286000" y="2770632"/>
            <a:ext cx="0" cy="128016"/>
          </a:xfrm>
          <a:prstGeom prst="line">
            <a:avLst/>
          </a:prstGeom>
          <a:noFill/>
          <a:ln w="19050">
            <a:solidFill>
              <a:srgbClr val="B7B7BE"/>
            </a:solidFill>
            <a:prstDash val="solid"/>
            <a:tailEnd type="triangle"/>
          </a:ln>
        </p:spPr>
      </p:sp>
      <p:sp>
        <p:nvSpPr>
          <p:cNvPr id="13" name="Shape 11"/>
          <p:cNvSpPr/>
          <p:nvPr/>
        </p:nvSpPr>
        <p:spPr>
          <a:xfrm>
            <a:off x="502920" y="2898648"/>
            <a:ext cx="3566160" cy="566928"/>
          </a:xfrm>
          <a:prstGeom prst="roundRect">
            <a:avLst>
              <a:gd name="adj" fmla="val 8065"/>
            </a:avLst>
          </a:prstGeom>
          <a:solidFill>
            <a:srgbClr val="FFFFFF"/>
          </a:solidFill>
          <a:ln w="12700">
            <a:solidFill>
              <a:srgbClr val="B7B7BE"/>
            </a:solidFill>
            <a:prstDash val="solid"/>
          </a:ln>
        </p:spPr>
      </p:sp>
      <p:sp>
        <p:nvSpPr>
          <p:cNvPr id="14" name="Text 12"/>
          <p:cNvSpPr/>
          <p:nvPr/>
        </p:nvSpPr>
        <p:spPr>
          <a:xfrm>
            <a:off x="548640" y="2898648"/>
            <a:ext cx="3474720" cy="566928"/>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1A1A24"/>
                </a:solidFill>
                <a:latin typeface="Calibri" pitchFamily="34" charset="0"/>
                <a:ea typeface="Calibri" pitchFamily="34" charset="-122"/>
                <a:cs typeface="Calibri" pitchFamily="34" charset="-120"/>
              </a:rPr>
              <a:t>Chunking + Embeddings</a:t>
            </a:r>
            <a:endParaRPr lang="en-US" sz="1000" dirty="0"/>
          </a:p>
        </p:txBody>
      </p:sp>
      <p:sp>
        <p:nvSpPr>
          <p:cNvPr id="15" name="Shape 13"/>
          <p:cNvSpPr/>
          <p:nvPr/>
        </p:nvSpPr>
        <p:spPr>
          <a:xfrm>
            <a:off x="2286000" y="3465576"/>
            <a:ext cx="0" cy="128016"/>
          </a:xfrm>
          <a:prstGeom prst="line">
            <a:avLst/>
          </a:prstGeom>
          <a:noFill/>
          <a:ln w="19050">
            <a:solidFill>
              <a:srgbClr val="B7B7BE"/>
            </a:solidFill>
            <a:prstDash val="solid"/>
            <a:tailEnd type="triangle"/>
          </a:ln>
        </p:spPr>
      </p:sp>
      <p:sp>
        <p:nvSpPr>
          <p:cNvPr id="16" name="Shape 14"/>
          <p:cNvSpPr/>
          <p:nvPr/>
        </p:nvSpPr>
        <p:spPr>
          <a:xfrm>
            <a:off x="502920" y="3593592"/>
            <a:ext cx="3566160" cy="566928"/>
          </a:xfrm>
          <a:prstGeom prst="roundRect">
            <a:avLst>
              <a:gd name="adj" fmla="val 8065"/>
            </a:avLst>
          </a:prstGeom>
          <a:solidFill>
            <a:srgbClr val="FFE600"/>
          </a:solidFill>
          <a:ln w="12700">
            <a:solidFill>
              <a:srgbClr val="B7B7BE"/>
            </a:solidFill>
            <a:prstDash val="solid"/>
          </a:ln>
        </p:spPr>
      </p:sp>
      <p:sp>
        <p:nvSpPr>
          <p:cNvPr id="17" name="Text 15"/>
          <p:cNvSpPr/>
          <p:nvPr/>
        </p:nvSpPr>
        <p:spPr>
          <a:xfrm>
            <a:off x="548640" y="3593592"/>
            <a:ext cx="3474720" cy="566928"/>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1A1A24"/>
                </a:solidFill>
                <a:latin typeface="Calibri" pitchFamily="34" charset="0"/>
                <a:ea typeface="Calibri" pitchFamily="34" charset="-122"/>
                <a:cs typeface="Calibri" pitchFamily="34" charset="-120"/>
              </a:rPr>
              <a:t>Azure AI Search Index</a:t>
            </a:r>
            <a:endParaRPr lang="en-US" sz="1000" dirty="0"/>
          </a:p>
        </p:txBody>
      </p:sp>
      <p:sp>
        <p:nvSpPr>
          <p:cNvPr id="18" name="Text 16"/>
          <p:cNvSpPr/>
          <p:nvPr/>
        </p:nvSpPr>
        <p:spPr>
          <a:xfrm>
            <a:off x="4343400" y="1143000"/>
            <a:ext cx="3566160" cy="274320"/>
          </a:xfrm>
          <a:prstGeom prst="rect">
            <a:avLst/>
          </a:prstGeom>
          <a:noFill/>
          <a:ln/>
        </p:spPr>
        <p:txBody>
          <a:bodyPr wrap="square" lIns="0" tIns="0" rIns="0" bIns="0" rtlCol="0" anchor="ctr"/>
          <a:lstStyle/>
          <a:p>
            <a:pPr algn="l" indent="0" marL="0">
              <a:buNone/>
            </a:pPr>
            <a:r>
              <a:rPr lang="en-US" sz="1200" b="1" dirty="0">
                <a:solidFill>
                  <a:srgbClr val="FFE600"/>
                </a:solidFill>
                <a:latin typeface="Calibri" pitchFamily="34" charset="0"/>
                <a:ea typeface="Calibri" pitchFamily="34" charset="-122"/>
                <a:cs typeface="Calibri" pitchFamily="34" charset="-120"/>
              </a:rPr>
              <a:t>QUERY TIME</a:t>
            </a:r>
            <a:endParaRPr lang="en-US" sz="1200" dirty="0"/>
          </a:p>
        </p:txBody>
      </p:sp>
      <p:sp>
        <p:nvSpPr>
          <p:cNvPr id="19" name="Shape 17"/>
          <p:cNvSpPr/>
          <p:nvPr/>
        </p:nvSpPr>
        <p:spPr>
          <a:xfrm>
            <a:off x="4343400" y="1508760"/>
            <a:ext cx="3566160" cy="384048"/>
          </a:xfrm>
          <a:prstGeom prst="roundRect">
            <a:avLst>
              <a:gd name="adj" fmla="val 11905"/>
            </a:avLst>
          </a:prstGeom>
          <a:solidFill>
            <a:srgbClr val="FFFFFF"/>
          </a:solidFill>
          <a:ln w="12700">
            <a:solidFill>
              <a:srgbClr val="B7B7BE"/>
            </a:solidFill>
            <a:prstDash val="solid"/>
          </a:ln>
        </p:spPr>
      </p:sp>
      <p:sp>
        <p:nvSpPr>
          <p:cNvPr id="20" name="Text 18"/>
          <p:cNvSpPr/>
          <p:nvPr/>
        </p:nvSpPr>
        <p:spPr>
          <a:xfrm>
            <a:off x="4389120" y="1508760"/>
            <a:ext cx="3474720" cy="384048"/>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1A1A24"/>
                </a:solidFill>
                <a:latin typeface="Calibri" pitchFamily="34" charset="0"/>
                <a:ea typeface="Calibri" pitchFamily="34" charset="-122"/>
                <a:cs typeface="Calibri" pitchFamily="34" charset="-120"/>
              </a:rPr>
              <a:t>User</a:t>
            </a:r>
            <a:endParaRPr lang="en-US" sz="1000" dirty="0"/>
          </a:p>
        </p:txBody>
      </p:sp>
      <p:sp>
        <p:nvSpPr>
          <p:cNvPr id="21" name="Shape 19"/>
          <p:cNvSpPr/>
          <p:nvPr/>
        </p:nvSpPr>
        <p:spPr>
          <a:xfrm>
            <a:off x="6126480" y="1892808"/>
            <a:ext cx="0" cy="100584"/>
          </a:xfrm>
          <a:prstGeom prst="line">
            <a:avLst/>
          </a:prstGeom>
          <a:noFill/>
          <a:ln w="19050">
            <a:solidFill>
              <a:srgbClr val="B7B7BE"/>
            </a:solidFill>
            <a:prstDash val="solid"/>
            <a:tailEnd type="triangle"/>
          </a:ln>
        </p:spPr>
      </p:sp>
      <p:sp>
        <p:nvSpPr>
          <p:cNvPr id="22" name="Shape 20"/>
          <p:cNvSpPr/>
          <p:nvPr/>
        </p:nvSpPr>
        <p:spPr>
          <a:xfrm>
            <a:off x="4343400" y="1993392"/>
            <a:ext cx="3566160" cy="384048"/>
          </a:xfrm>
          <a:prstGeom prst="roundRect">
            <a:avLst>
              <a:gd name="adj" fmla="val 11905"/>
            </a:avLst>
          </a:prstGeom>
          <a:solidFill>
            <a:srgbClr val="E8E8EA"/>
          </a:solidFill>
          <a:ln w="12700">
            <a:solidFill>
              <a:srgbClr val="B7B7BE"/>
            </a:solidFill>
            <a:prstDash val="solid"/>
          </a:ln>
        </p:spPr>
      </p:sp>
      <p:sp>
        <p:nvSpPr>
          <p:cNvPr id="23" name="Text 21"/>
          <p:cNvSpPr/>
          <p:nvPr/>
        </p:nvSpPr>
        <p:spPr>
          <a:xfrm>
            <a:off x="4389120" y="1993392"/>
            <a:ext cx="3474720" cy="384048"/>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1A1A24"/>
                </a:solidFill>
                <a:latin typeface="Calibri" pitchFamily="34" charset="0"/>
                <a:ea typeface="Calibri" pitchFamily="34" charset="-122"/>
                <a:cs typeface="Calibri" pitchFamily="34" charset="-120"/>
              </a:rPr>
              <a:t>Application / Agent</a:t>
            </a:r>
            <a:endParaRPr lang="en-US" sz="1000" dirty="0"/>
          </a:p>
        </p:txBody>
      </p:sp>
      <p:sp>
        <p:nvSpPr>
          <p:cNvPr id="24" name="Shape 22"/>
          <p:cNvSpPr/>
          <p:nvPr/>
        </p:nvSpPr>
        <p:spPr>
          <a:xfrm>
            <a:off x="6126480" y="2377440"/>
            <a:ext cx="0" cy="100584"/>
          </a:xfrm>
          <a:prstGeom prst="line">
            <a:avLst/>
          </a:prstGeom>
          <a:noFill/>
          <a:ln w="19050">
            <a:solidFill>
              <a:srgbClr val="B7B7BE"/>
            </a:solidFill>
            <a:prstDash val="solid"/>
            <a:tailEnd type="triangle"/>
          </a:ln>
        </p:spPr>
      </p:sp>
      <p:sp>
        <p:nvSpPr>
          <p:cNvPr id="25" name="Shape 23"/>
          <p:cNvSpPr/>
          <p:nvPr/>
        </p:nvSpPr>
        <p:spPr>
          <a:xfrm>
            <a:off x="4343400" y="2478024"/>
            <a:ext cx="3566160" cy="384048"/>
          </a:xfrm>
          <a:prstGeom prst="roundRect">
            <a:avLst>
              <a:gd name="adj" fmla="val 11905"/>
            </a:avLst>
          </a:prstGeom>
          <a:solidFill>
            <a:srgbClr val="FFFFFF"/>
          </a:solidFill>
          <a:ln w="12700">
            <a:solidFill>
              <a:srgbClr val="B7B7BE"/>
            </a:solidFill>
            <a:prstDash val="solid"/>
          </a:ln>
        </p:spPr>
      </p:sp>
      <p:sp>
        <p:nvSpPr>
          <p:cNvPr id="26" name="Text 24"/>
          <p:cNvSpPr/>
          <p:nvPr/>
        </p:nvSpPr>
        <p:spPr>
          <a:xfrm>
            <a:off x="4389120" y="2478024"/>
            <a:ext cx="3474720" cy="384048"/>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1A1A24"/>
                </a:solidFill>
                <a:latin typeface="Calibri" pitchFamily="34" charset="0"/>
                <a:ea typeface="Calibri" pitchFamily="34" charset="-122"/>
                <a:cs typeface="Calibri" pitchFamily="34" charset="-120"/>
              </a:rPr>
              <a:t>Azure AI Search (retrieve)</a:t>
            </a:r>
            <a:endParaRPr lang="en-US" sz="1000" dirty="0"/>
          </a:p>
        </p:txBody>
      </p:sp>
      <p:sp>
        <p:nvSpPr>
          <p:cNvPr id="27" name="Shape 25"/>
          <p:cNvSpPr/>
          <p:nvPr/>
        </p:nvSpPr>
        <p:spPr>
          <a:xfrm>
            <a:off x="6126480" y="2862072"/>
            <a:ext cx="0" cy="100584"/>
          </a:xfrm>
          <a:prstGeom prst="line">
            <a:avLst/>
          </a:prstGeom>
          <a:noFill/>
          <a:ln w="19050">
            <a:solidFill>
              <a:srgbClr val="B7B7BE"/>
            </a:solidFill>
            <a:prstDash val="solid"/>
            <a:tailEnd type="triangle"/>
          </a:ln>
        </p:spPr>
      </p:sp>
      <p:sp>
        <p:nvSpPr>
          <p:cNvPr id="28" name="Shape 26"/>
          <p:cNvSpPr/>
          <p:nvPr/>
        </p:nvSpPr>
        <p:spPr>
          <a:xfrm>
            <a:off x="4343400" y="2962656"/>
            <a:ext cx="3566160" cy="384048"/>
          </a:xfrm>
          <a:prstGeom prst="roundRect">
            <a:avLst>
              <a:gd name="adj" fmla="val 11905"/>
            </a:avLst>
          </a:prstGeom>
          <a:solidFill>
            <a:srgbClr val="E8E8EA"/>
          </a:solidFill>
          <a:ln w="12700">
            <a:solidFill>
              <a:srgbClr val="B7B7BE"/>
            </a:solidFill>
            <a:prstDash val="solid"/>
          </a:ln>
        </p:spPr>
      </p:sp>
      <p:sp>
        <p:nvSpPr>
          <p:cNvPr id="29" name="Text 27"/>
          <p:cNvSpPr/>
          <p:nvPr/>
        </p:nvSpPr>
        <p:spPr>
          <a:xfrm>
            <a:off x="4389120" y="2962656"/>
            <a:ext cx="3474720" cy="384048"/>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1A1A24"/>
                </a:solidFill>
                <a:latin typeface="Calibri" pitchFamily="34" charset="0"/>
                <a:ea typeface="Calibri" pitchFamily="34" charset="-122"/>
                <a:cs typeface="Calibri" pitchFamily="34" charset="-120"/>
              </a:rPr>
              <a:t>Question + Retrieved Context</a:t>
            </a:r>
            <a:endParaRPr lang="en-US" sz="1000" dirty="0"/>
          </a:p>
        </p:txBody>
      </p:sp>
      <p:sp>
        <p:nvSpPr>
          <p:cNvPr id="30" name="Shape 28"/>
          <p:cNvSpPr/>
          <p:nvPr/>
        </p:nvSpPr>
        <p:spPr>
          <a:xfrm>
            <a:off x="6126480" y="3346704"/>
            <a:ext cx="0" cy="100584"/>
          </a:xfrm>
          <a:prstGeom prst="line">
            <a:avLst/>
          </a:prstGeom>
          <a:noFill/>
          <a:ln w="19050">
            <a:solidFill>
              <a:srgbClr val="B7B7BE"/>
            </a:solidFill>
            <a:prstDash val="solid"/>
            <a:tailEnd type="triangle"/>
          </a:ln>
        </p:spPr>
      </p:sp>
      <p:sp>
        <p:nvSpPr>
          <p:cNvPr id="31" name="Shape 29"/>
          <p:cNvSpPr/>
          <p:nvPr/>
        </p:nvSpPr>
        <p:spPr>
          <a:xfrm>
            <a:off x="4343400" y="3447288"/>
            <a:ext cx="3566160" cy="384048"/>
          </a:xfrm>
          <a:prstGeom prst="roundRect">
            <a:avLst>
              <a:gd name="adj" fmla="val 11905"/>
            </a:avLst>
          </a:prstGeom>
          <a:solidFill>
            <a:srgbClr val="FFFFFF"/>
          </a:solidFill>
          <a:ln w="12700">
            <a:solidFill>
              <a:srgbClr val="B7B7BE"/>
            </a:solidFill>
            <a:prstDash val="solid"/>
          </a:ln>
        </p:spPr>
      </p:sp>
      <p:sp>
        <p:nvSpPr>
          <p:cNvPr id="32" name="Text 30"/>
          <p:cNvSpPr/>
          <p:nvPr/>
        </p:nvSpPr>
        <p:spPr>
          <a:xfrm>
            <a:off x="4389120" y="3447288"/>
            <a:ext cx="3474720" cy="384048"/>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1A1A24"/>
                </a:solidFill>
                <a:latin typeface="Calibri" pitchFamily="34" charset="0"/>
                <a:ea typeface="Calibri" pitchFamily="34" charset="-122"/>
                <a:cs typeface="Calibri" pitchFamily="34" charset="-120"/>
              </a:rPr>
              <a:t>OpenAI Model</a:t>
            </a:r>
            <a:endParaRPr lang="en-US" sz="1000" dirty="0"/>
          </a:p>
        </p:txBody>
      </p:sp>
      <p:sp>
        <p:nvSpPr>
          <p:cNvPr id="33" name="Shape 31"/>
          <p:cNvSpPr/>
          <p:nvPr/>
        </p:nvSpPr>
        <p:spPr>
          <a:xfrm>
            <a:off x="6126480" y="3831336"/>
            <a:ext cx="0" cy="100584"/>
          </a:xfrm>
          <a:prstGeom prst="line">
            <a:avLst/>
          </a:prstGeom>
          <a:noFill/>
          <a:ln w="19050">
            <a:solidFill>
              <a:srgbClr val="B7B7BE"/>
            </a:solidFill>
            <a:prstDash val="solid"/>
            <a:tailEnd type="triangle"/>
          </a:ln>
        </p:spPr>
      </p:sp>
      <p:sp>
        <p:nvSpPr>
          <p:cNvPr id="34" name="Shape 32"/>
          <p:cNvSpPr/>
          <p:nvPr/>
        </p:nvSpPr>
        <p:spPr>
          <a:xfrm>
            <a:off x="4343400" y="3931920"/>
            <a:ext cx="3566160" cy="384048"/>
          </a:xfrm>
          <a:prstGeom prst="roundRect">
            <a:avLst>
              <a:gd name="adj" fmla="val 11905"/>
            </a:avLst>
          </a:prstGeom>
          <a:solidFill>
            <a:srgbClr val="FFE600"/>
          </a:solidFill>
          <a:ln w="12700">
            <a:solidFill>
              <a:srgbClr val="B7B7BE"/>
            </a:solidFill>
            <a:prstDash val="solid"/>
          </a:ln>
        </p:spPr>
      </p:sp>
      <p:sp>
        <p:nvSpPr>
          <p:cNvPr id="35" name="Text 33"/>
          <p:cNvSpPr/>
          <p:nvPr/>
        </p:nvSpPr>
        <p:spPr>
          <a:xfrm>
            <a:off x="4389120" y="3931920"/>
            <a:ext cx="3474720" cy="384048"/>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1A1A24"/>
                </a:solidFill>
                <a:latin typeface="Calibri" pitchFamily="34" charset="0"/>
                <a:ea typeface="Calibri" pitchFamily="34" charset="-122"/>
                <a:cs typeface="Calibri" pitchFamily="34" charset="-120"/>
              </a:rPr>
              <a:t>Grounded Response</a:t>
            </a:r>
            <a:endParaRPr lang="en-US" sz="1000" dirty="0"/>
          </a:p>
        </p:txBody>
      </p:sp>
      <p:sp>
        <p:nvSpPr>
          <p:cNvPr id="36" name="Shape 34"/>
          <p:cNvSpPr/>
          <p:nvPr/>
        </p:nvSpPr>
        <p:spPr>
          <a:xfrm flipV="1">
            <a:off x="4069080" y="2670048"/>
            <a:ext cx="274320" cy="1207008"/>
          </a:xfrm>
          <a:prstGeom prst="line">
            <a:avLst/>
          </a:prstGeom>
          <a:noFill/>
          <a:ln w="17780">
            <a:solidFill>
              <a:srgbClr val="B7B7BE"/>
            </a:solidFill>
            <a:prstDash val="dash"/>
            <a:tailEnd type="triangle"/>
          </a:ln>
        </p:spPr>
      </p:sp>
      <p:sp>
        <p:nvSpPr>
          <p:cNvPr id="37" name="Shape 35"/>
          <p:cNvSpPr/>
          <p:nvPr/>
        </p:nvSpPr>
        <p:spPr>
          <a:xfrm>
            <a:off x="8092440" y="1508760"/>
            <a:ext cx="3593592" cy="2697480"/>
          </a:xfrm>
          <a:prstGeom prst="roundRect">
            <a:avLst>
              <a:gd name="adj" fmla="val 2712"/>
            </a:avLst>
          </a:prstGeom>
          <a:solidFill>
            <a:srgbClr val="FFFFFF"/>
          </a:solidFill>
          <a:ln w="12700">
            <a:solidFill>
              <a:srgbClr val="B7B7BE"/>
            </a:solidFill>
            <a:prstDash val="solid"/>
          </a:ln>
        </p:spPr>
      </p:sp>
      <p:sp>
        <p:nvSpPr>
          <p:cNvPr id="38" name="Text 36"/>
          <p:cNvSpPr/>
          <p:nvPr/>
        </p:nvSpPr>
        <p:spPr>
          <a:xfrm>
            <a:off x="8275320" y="1609344"/>
            <a:ext cx="3227832" cy="256032"/>
          </a:xfrm>
          <a:prstGeom prst="rect">
            <a:avLst/>
          </a:prstGeom>
          <a:noFill/>
          <a:ln/>
        </p:spPr>
        <p:txBody>
          <a:bodyPr wrap="square" lIns="0" tIns="0" rIns="0" bIns="0" rtlCol="0" anchor="ctr"/>
          <a:lstStyle/>
          <a:p>
            <a:pPr algn="l" indent="0" marL="0">
              <a:buNone/>
            </a:pPr>
            <a:r>
              <a:rPr lang="en-US" sz="1300" b="1" dirty="0">
                <a:solidFill>
                  <a:srgbClr val="1A1A24"/>
                </a:solidFill>
                <a:latin typeface="Cambria" pitchFamily="34" charset="0"/>
                <a:ea typeface="Cambria" pitchFamily="34" charset="-122"/>
                <a:cs typeface="Cambria" pitchFamily="34" charset="-120"/>
              </a:rPr>
              <a:t>Example</a:t>
            </a:r>
            <a:endParaRPr lang="en-US" sz="1300" dirty="0"/>
          </a:p>
        </p:txBody>
      </p:sp>
      <p:sp>
        <p:nvSpPr>
          <p:cNvPr id="39" name="Text 37"/>
          <p:cNvSpPr/>
          <p:nvPr/>
        </p:nvSpPr>
        <p:spPr>
          <a:xfrm>
            <a:off x="8275320" y="1883664"/>
            <a:ext cx="3227832" cy="502920"/>
          </a:xfrm>
          <a:prstGeom prst="rect">
            <a:avLst/>
          </a:prstGeom>
          <a:noFill/>
          <a:ln/>
        </p:spPr>
        <p:txBody>
          <a:bodyPr wrap="square" lIns="0" tIns="0" rIns="0" bIns="0" rtlCol="0" anchor="ctr"/>
          <a:lstStyle/>
          <a:p>
            <a:pPr algn="l" indent="0" marL="0">
              <a:buNone/>
            </a:pPr>
            <a:r>
              <a:rPr lang="en-US" sz="950" i="1" dirty="0">
                <a:solidFill>
                  <a:srgbClr val="6F6F77"/>
                </a:solidFill>
                <a:latin typeface="Calibri" pitchFamily="34" charset="0"/>
                <a:ea typeface="Calibri" pitchFamily="34" charset="-122"/>
                <a:cs typeface="Calibri" pitchFamily="34" charset="-120"/>
              </a:rPr>
              <a:t>“What documents are required to approve a business loan above ₹50 lakh?”</a:t>
            </a:r>
            <a:endParaRPr lang="en-US" sz="950" dirty="0"/>
          </a:p>
        </p:txBody>
      </p:sp>
      <p:sp>
        <p:nvSpPr>
          <p:cNvPr id="40" name="Shape 38"/>
          <p:cNvSpPr/>
          <p:nvPr/>
        </p:nvSpPr>
        <p:spPr>
          <a:xfrm>
            <a:off x="8275320" y="2432304"/>
            <a:ext cx="3227832" cy="347472"/>
          </a:xfrm>
          <a:prstGeom prst="roundRect">
            <a:avLst>
              <a:gd name="adj" fmla="val 57895"/>
            </a:avLst>
          </a:prstGeom>
          <a:solidFill>
            <a:srgbClr val="E8E8EA"/>
          </a:solidFill>
          <a:ln w="12700">
            <a:solidFill>
              <a:srgbClr val="1A1A24"/>
            </a:solidFill>
            <a:prstDash val="solid"/>
          </a:ln>
        </p:spPr>
      </p:sp>
      <p:sp>
        <p:nvSpPr>
          <p:cNvPr id="41" name="Text 39"/>
          <p:cNvSpPr/>
          <p:nvPr/>
        </p:nvSpPr>
        <p:spPr>
          <a:xfrm>
            <a:off x="8321040" y="2432304"/>
            <a:ext cx="3136392" cy="347472"/>
          </a:xfrm>
          <a:prstGeom prst="rect">
            <a:avLst/>
          </a:prstGeom>
          <a:noFill/>
          <a:ln/>
        </p:spPr>
        <p:txBody>
          <a:bodyPr wrap="square" lIns="0" tIns="0" rIns="0" bIns="0" rtlCol="0" anchor="ctr">
            <a:normAutofit/>
          </a:bodyPr>
          <a:lstStyle/>
          <a:p>
            <a:pPr algn="ctr" indent="0" marL="0">
              <a:lnSpc>
                <a:spcPct val="95000"/>
              </a:lnSpc>
              <a:buNone/>
            </a:pPr>
            <a:r>
              <a:rPr lang="en-US" sz="780" dirty="0">
                <a:solidFill>
                  <a:srgbClr val="1A1A24"/>
                </a:solidFill>
                <a:latin typeface="Calibri" pitchFamily="34" charset="0"/>
                <a:ea typeface="Calibri" pitchFamily="34" charset="-122"/>
                <a:cs typeface="Calibri" pitchFamily="34" charset="-120"/>
              </a:rPr>
              <a:t>1. User asks the question</a:t>
            </a:r>
            <a:endParaRPr lang="en-US" sz="780" dirty="0"/>
          </a:p>
        </p:txBody>
      </p:sp>
      <p:sp>
        <p:nvSpPr>
          <p:cNvPr id="42" name="Shape 40"/>
          <p:cNvSpPr/>
          <p:nvPr/>
        </p:nvSpPr>
        <p:spPr>
          <a:xfrm>
            <a:off x="8275320" y="2807208"/>
            <a:ext cx="3227832" cy="347472"/>
          </a:xfrm>
          <a:prstGeom prst="roundRect">
            <a:avLst>
              <a:gd name="adj" fmla="val 57895"/>
            </a:avLst>
          </a:prstGeom>
          <a:solidFill>
            <a:srgbClr val="E8E8EA"/>
          </a:solidFill>
          <a:ln w="12700">
            <a:solidFill>
              <a:srgbClr val="1A1A24"/>
            </a:solidFill>
            <a:prstDash val="solid"/>
          </a:ln>
        </p:spPr>
      </p:sp>
      <p:sp>
        <p:nvSpPr>
          <p:cNvPr id="43" name="Text 41"/>
          <p:cNvSpPr/>
          <p:nvPr/>
        </p:nvSpPr>
        <p:spPr>
          <a:xfrm>
            <a:off x="8321040" y="2807208"/>
            <a:ext cx="3136392" cy="347472"/>
          </a:xfrm>
          <a:prstGeom prst="rect">
            <a:avLst/>
          </a:prstGeom>
          <a:noFill/>
          <a:ln/>
        </p:spPr>
        <p:txBody>
          <a:bodyPr wrap="square" lIns="0" tIns="0" rIns="0" bIns="0" rtlCol="0" anchor="ctr">
            <a:normAutofit/>
          </a:bodyPr>
          <a:lstStyle/>
          <a:p>
            <a:pPr algn="ctr" indent="0" marL="0">
              <a:lnSpc>
                <a:spcPct val="95000"/>
              </a:lnSpc>
              <a:buNone/>
            </a:pPr>
            <a:r>
              <a:rPr lang="en-US" sz="780" dirty="0">
                <a:solidFill>
                  <a:srgbClr val="1A1A24"/>
                </a:solidFill>
                <a:latin typeface="Calibri" pitchFamily="34" charset="0"/>
                <a:ea typeface="Calibri" pitchFamily="34" charset="-122"/>
                <a:cs typeface="Calibri" pitchFamily="34" charset="-120"/>
              </a:rPr>
              <a:t>2. Azure AI Search retrieves relevant loan policy sections</a:t>
            </a:r>
            <a:endParaRPr lang="en-US" sz="780" dirty="0"/>
          </a:p>
        </p:txBody>
      </p:sp>
      <p:sp>
        <p:nvSpPr>
          <p:cNvPr id="44" name="Shape 42"/>
          <p:cNvSpPr/>
          <p:nvPr/>
        </p:nvSpPr>
        <p:spPr>
          <a:xfrm>
            <a:off x="8275320" y="3182112"/>
            <a:ext cx="3227832" cy="347472"/>
          </a:xfrm>
          <a:prstGeom prst="roundRect">
            <a:avLst>
              <a:gd name="adj" fmla="val 57895"/>
            </a:avLst>
          </a:prstGeom>
          <a:solidFill>
            <a:srgbClr val="E8E8EA"/>
          </a:solidFill>
          <a:ln w="12700">
            <a:solidFill>
              <a:srgbClr val="1A1A24"/>
            </a:solidFill>
            <a:prstDash val="solid"/>
          </a:ln>
        </p:spPr>
      </p:sp>
      <p:sp>
        <p:nvSpPr>
          <p:cNvPr id="45" name="Text 43"/>
          <p:cNvSpPr/>
          <p:nvPr/>
        </p:nvSpPr>
        <p:spPr>
          <a:xfrm>
            <a:off x="8321040" y="3182112"/>
            <a:ext cx="3136392" cy="347472"/>
          </a:xfrm>
          <a:prstGeom prst="rect">
            <a:avLst/>
          </a:prstGeom>
          <a:noFill/>
          <a:ln/>
        </p:spPr>
        <p:txBody>
          <a:bodyPr wrap="square" lIns="0" tIns="0" rIns="0" bIns="0" rtlCol="0" anchor="ctr">
            <a:normAutofit/>
          </a:bodyPr>
          <a:lstStyle/>
          <a:p>
            <a:pPr algn="ctr" indent="0" marL="0">
              <a:lnSpc>
                <a:spcPct val="95000"/>
              </a:lnSpc>
              <a:buNone/>
            </a:pPr>
            <a:r>
              <a:rPr lang="en-US" sz="780" dirty="0">
                <a:solidFill>
                  <a:srgbClr val="1A1A24"/>
                </a:solidFill>
                <a:latin typeface="Calibri" pitchFamily="34" charset="0"/>
                <a:ea typeface="Calibri" pitchFamily="34" charset="-122"/>
                <a:cs typeface="Calibri" pitchFamily="34" charset="-120"/>
              </a:rPr>
              <a:t>3. Relevant context is supplied to OpenAI</a:t>
            </a:r>
            <a:endParaRPr lang="en-US" sz="780" dirty="0"/>
          </a:p>
        </p:txBody>
      </p:sp>
      <p:sp>
        <p:nvSpPr>
          <p:cNvPr id="46" name="Shape 44"/>
          <p:cNvSpPr/>
          <p:nvPr/>
        </p:nvSpPr>
        <p:spPr>
          <a:xfrm>
            <a:off x="8275320" y="3557016"/>
            <a:ext cx="3227832" cy="347472"/>
          </a:xfrm>
          <a:prstGeom prst="roundRect">
            <a:avLst>
              <a:gd name="adj" fmla="val 57895"/>
            </a:avLst>
          </a:prstGeom>
          <a:solidFill>
            <a:srgbClr val="FFE600"/>
          </a:solidFill>
          <a:ln w="12700">
            <a:solidFill>
              <a:srgbClr val="1A1A24"/>
            </a:solidFill>
            <a:prstDash val="solid"/>
          </a:ln>
        </p:spPr>
      </p:sp>
      <p:sp>
        <p:nvSpPr>
          <p:cNvPr id="47" name="Text 45"/>
          <p:cNvSpPr/>
          <p:nvPr/>
        </p:nvSpPr>
        <p:spPr>
          <a:xfrm>
            <a:off x="8321040" y="3557016"/>
            <a:ext cx="3136392" cy="347472"/>
          </a:xfrm>
          <a:prstGeom prst="rect">
            <a:avLst/>
          </a:prstGeom>
          <a:noFill/>
          <a:ln/>
        </p:spPr>
        <p:txBody>
          <a:bodyPr wrap="square" lIns="0" tIns="0" rIns="0" bIns="0" rtlCol="0" anchor="ctr">
            <a:normAutofit/>
          </a:bodyPr>
          <a:lstStyle/>
          <a:p>
            <a:pPr algn="ctr" indent="0" marL="0">
              <a:lnSpc>
                <a:spcPct val="95000"/>
              </a:lnSpc>
              <a:buNone/>
            </a:pPr>
            <a:r>
              <a:rPr lang="en-US" sz="780" dirty="0">
                <a:solidFill>
                  <a:srgbClr val="1A1A24"/>
                </a:solidFill>
                <a:latin typeface="Calibri" pitchFamily="34" charset="0"/>
                <a:ea typeface="Calibri" pitchFamily="34" charset="-122"/>
                <a:cs typeface="Calibri" pitchFamily="34" charset="-120"/>
              </a:rPr>
              <a:t>4. OpenAI generates the grounded response</a:t>
            </a:r>
            <a:endParaRPr lang="en-US" sz="780" dirty="0"/>
          </a:p>
        </p:txBody>
      </p:sp>
      <p:sp>
        <p:nvSpPr>
          <p:cNvPr id="48" name="Shape 46"/>
          <p:cNvSpPr/>
          <p:nvPr/>
        </p:nvSpPr>
        <p:spPr>
          <a:xfrm>
            <a:off x="8092440" y="4343400"/>
            <a:ext cx="3593592" cy="1143000"/>
          </a:xfrm>
          <a:prstGeom prst="roundRect">
            <a:avLst>
              <a:gd name="adj" fmla="val 6400"/>
            </a:avLst>
          </a:prstGeom>
          <a:solidFill>
            <a:srgbClr val="43424B"/>
          </a:solidFill>
          <a:ln w="12700">
            <a:solidFill>
              <a:srgbClr val="B7B7BE"/>
            </a:solidFill>
            <a:prstDash val="solid"/>
          </a:ln>
        </p:spPr>
      </p:sp>
      <p:sp>
        <p:nvSpPr>
          <p:cNvPr id="49" name="Text 47"/>
          <p:cNvSpPr/>
          <p:nvPr/>
        </p:nvSpPr>
        <p:spPr>
          <a:xfrm>
            <a:off x="8138160" y="4343400"/>
            <a:ext cx="3502152" cy="114300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Key message: RAG adds enterprise knowledge at runtime; it does not retrain the OpenAI model.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02920" y="274320"/>
            <a:ext cx="11183112" cy="475488"/>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ea typeface="Cambria" pitchFamily="34" charset="-122"/>
                <a:cs typeface="Cambria" pitchFamily="34" charset="-120"/>
              </a:rPr>
              <a:t>Security, Privacy &amp; Data Residency</a:t>
            </a:r>
            <a:endParaRPr lang="en-US" sz="2300" dirty="0"/>
          </a:p>
        </p:txBody>
      </p:sp>
      <p:sp>
        <p:nvSpPr>
          <p:cNvPr id="5" name="Text 3"/>
          <p:cNvSpPr/>
          <p:nvPr/>
        </p:nvSpPr>
        <p:spPr>
          <a:xfrm>
            <a:off x="502920" y="749808"/>
            <a:ext cx="11183112" cy="274320"/>
          </a:xfrm>
          <a:prstGeom prst="rect">
            <a:avLst/>
          </a:prstGeom>
          <a:noFill/>
          <a:ln/>
        </p:spPr>
        <p:txBody>
          <a:bodyPr wrap="square" lIns="0" tIns="0" rIns="0" bIns="0" rtlCol="0" anchor="ctr"/>
          <a:lstStyle/>
          <a:p>
            <a:pPr algn="l" indent="0" marL="0">
              <a:buNone/>
            </a:pPr>
            <a:r>
              <a:rPr lang="en-US" sz="1250" i="1" dirty="0">
                <a:solidFill>
                  <a:srgbClr val="B7B7BE"/>
                </a:solidFill>
                <a:latin typeface="Calibri" pitchFamily="34" charset="0"/>
                <a:ea typeface="Calibri" pitchFamily="34" charset="-122"/>
                <a:cs typeface="Calibri" pitchFamily="34" charset="-120"/>
              </a:rPr>
              <a:t>Enterprise controls from network perimeter to model processing</a:t>
            </a:r>
            <a:endParaRPr lang="en-US" sz="1250" dirty="0"/>
          </a:p>
        </p:txBody>
      </p:sp>
      <p:sp>
        <p:nvSpPr>
          <p:cNvPr id="6" name="Text 4"/>
          <p:cNvSpPr/>
          <p:nvPr/>
        </p:nvSpPr>
        <p:spPr>
          <a:xfrm>
            <a:off x="502920" y="1234440"/>
            <a:ext cx="3429000" cy="274320"/>
          </a:xfrm>
          <a:prstGeom prst="rect">
            <a:avLst/>
          </a:prstGeom>
          <a:noFill/>
          <a:ln/>
        </p:spPr>
        <p:txBody>
          <a:bodyPr wrap="square" lIns="0" tIns="0" rIns="0" bIns="0" rtlCol="0" anchor="ctr"/>
          <a:lstStyle/>
          <a:p>
            <a:pPr algn="l" indent="0" marL="0">
              <a:buNone/>
            </a:pPr>
            <a:r>
              <a:rPr lang="en-US" sz="1300" b="1" dirty="0">
                <a:solidFill>
                  <a:srgbClr val="FFE600"/>
                </a:solidFill>
                <a:latin typeface="Calibri" pitchFamily="34" charset="0"/>
                <a:ea typeface="Calibri" pitchFamily="34" charset="-122"/>
                <a:cs typeface="Calibri" pitchFamily="34" charset="-120"/>
              </a:rPr>
              <a:t>SECURITY</a:t>
            </a:r>
            <a:endParaRPr lang="en-US" sz="1300" dirty="0"/>
          </a:p>
        </p:txBody>
      </p:sp>
      <p:sp>
        <p:nvSpPr>
          <p:cNvPr id="7" name="Text 5"/>
          <p:cNvSpPr/>
          <p:nvPr/>
        </p:nvSpPr>
        <p:spPr>
          <a:xfrm>
            <a:off x="4114800" y="1234440"/>
            <a:ext cx="3429000" cy="274320"/>
          </a:xfrm>
          <a:prstGeom prst="rect">
            <a:avLst/>
          </a:prstGeom>
          <a:noFill/>
          <a:ln/>
        </p:spPr>
        <p:txBody>
          <a:bodyPr wrap="square" lIns="0" tIns="0" rIns="0" bIns="0" rtlCol="0" anchor="ctr"/>
          <a:lstStyle/>
          <a:p>
            <a:pPr algn="l" indent="0" marL="0">
              <a:buNone/>
            </a:pPr>
            <a:r>
              <a:rPr lang="en-US" sz="1300" b="1" dirty="0">
                <a:solidFill>
                  <a:srgbClr val="FFE600"/>
                </a:solidFill>
                <a:latin typeface="Calibri" pitchFamily="34" charset="0"/>
                <a:ea typeface="Calibri" pitchFamily="34" charset="-122"/>
                <a:cs typeface="Calibri" pitchFamily="34" charset="-120"/>
              </a:rPr>
              <a:t>DATA PRIVACY</a:t>
            </a:r>
            <a:endParaRPr lang="en-US" sz="1300" dirty="0"/>
          </a:p>
        </p:txBody>
      </p:sp>
      <p:sp>
        <p:nvSpPr>
          <p:cNvPr id="8" name="Text 6"/>
          <p:cNvSpPr/>
          <p:nvPr/>
        </p:nvSpPr>
        <p:spPr>
          <a:xfrm>
            <a:off x="7726680" y="1234440"/>
            <a:ext cx="3959352" cy="274320"/>
          </a:xfrm>
          <a:prstGeom prst="rect">
            <a:avLst/>
          </a:prstGeom>
          <a:noFill/>
          <a:ln/>
        </p:spPr>
        <p:txBody>
          <a:bodyPr wrap="square" lIns="0" tIns="0" rIns="0" bIns="0" rtlCol="0" anchor="ctr"/>
          <a:lstStyle/>
          <a:p>
            <a:pPr algn="l" indent="0" marL="0">
              <a:buNone/>
            </a:pPr>
            <a:r>
              <a:rPr lang="en-US" sz="1300" b="1" dirty="0">
                <a:solidFill>
                  <a:srgbClr val="FFE600"/>
                </a:solidFill>
                <a:latin typeface="Calibri" pitchFamily="34" charset="0"/>
                <a:ea typeface="Calibri" pitchFamily="34" charset="-122"/>
                <a:cs typeface="Calibri" pitchFamily="34" charset="-120"/>
              </a:rPr>
              <a:t>DATA RESIDENCY</a:t>
            </a:r>
            <a:endParaRPr lang="en-US" sz="1300" dirty="0"/>
          </a:p>
        </p:txBody>
      </p:sp>
      <p:sp>
        <p:nvSpPr>
          <p:cNvPr id="9" name="Shape 7"/>
          <p:cNvSpPr/>
          <p:nvPr/>
        </p:nvSpPr>
        <p:spPr>
          <a:xfrm>
            <a:off x="502920" y="1600200"/>
            <a:ext cx="3429000" cy="329184"/>
          </a:xfrm>
          <a:prstGeom prst="roundRect">
            <a:avLst>
              <a:gd name="adj" fmla="val 13889"/>
            </a:avLst>
          </a:prstGeom>
          <a:solidFill>
            <a:srgbClr val="E8E8EA"/>
          </a:solidFill>
          <a:ln w="12700">
            <a:solidFill>
              <a:srgbClr val="1A1A24"/>
            </a:solidFill>
            <a:prstDash val="solid"/>
          </a:ln>
        </p:spPr>
      </p:sp>
      <p:sp>
        <p:nvSpPr>
          <p:cNvPr id="10" name="Text 8"/>
          <p:cNvSpPr/>
          <p:nvPr/>
        </p:nvSpPr>
        <p:spPr>
          <a:xfrm>
            <a:off x="548640" y="1600200"/>
            <a:ext cx="3337560" cy="329184"/>
          </a:xfrm>
          <a:prstGeom prst="rect">
            <a:avLst/>
          </a:prstGeom>
          <a:noFill/>
          <a:ln/>
        </p:spPr>
        <p:txBody>
          <a:bodyPr wrap="square" lIns="0" tIns="0" rIns="0" bIns="0" rtlCol="0" anchor="ctr">
            <a:normAutofit/>
          </a:bodyPr>
          <a:lstStyle/>
          <a:p>
            <a:pPr algn="ctr" indent="0" marL="0">
              <a:lnSpc>
                <a:spcPct val="95000"/>
              </a:lnSpc>
              <a:buNone/>
            </a:pPr>
            <a:r>
              <a:rPr lang="en-US" sz="840" b="1" dirty="0">
                <a:solidFill>
                  <a:srgbClr val="1A1A24"/>
                </a:solidFill>
                <a:latin typeface="Calibri" pitchFamily="34" charset="0"/>
                <a:ea typeface="Calibri" pitchFamily="34" charset="-122"/>
                <a:cs typeface="Calibri" pitchFamily="34" charset="-120"/>
              </a:rPr>
              <a:t>Identity: Microsoft Entra ID</a:t>
            </a:r>
            <a:endParaRPr lang="en-US" sz="840" dirty="0"/>
          </a:p>
        </p:txBody>
      </p:sp>
      <p:sp>
        <p:nvSpPr>
          <p:cNvPr id="11" name="Shape 9"/>
          <p:cNvSpPr/>
          <p:nvPr/>
        </p:nvSpPr>
        <p:spPr>
          <a:xfrm>
            <a:off x="502920" y="1979676"/>
            <a:ext cx="3429000" cy="329184"/>
          </a:xfrm>
          <a:prstGeom prst="roundRect">
            <a:avLst>
              <a:gd name="adj" fmla="val 13889"/>
            </a:avLst>
          </a:prstGeom>
          <a:solidFill>
            <a:srgbClr val="E8E8EA"/>
          </a:solidFill>
          <a:ln w="12700">
            <a:solidFill>
              <a:srgbClr val="1A1A24"/>
            </a:solidFill>
            <a:prstDash val="solid"/>
          </a:ln>
        </p:spPr>
      </p:sp>
      <p:sp>
        <p:nvSpPr>
          <p:cNvPr id="12" name="Text 10"/>
          <p:cNvSpPr/>
          <p:nvPr/>
        </p:nvSpPr>
        <p:spPr>
          <a:xfrm>
            <a:off x="548640" y="1979676"/>
            <a:ext cx="3337560" cy="329184"/>
          </a:xfrm>
          <a:prstGeom prst="rect">
            <a:avLst/>
          </a:prstGeom>
          <a:noFill/>
          <a:ln/>
        </p:spPr>
        <p:txBody>
          <a:bodyPr wrap="square" lIns="0" tIns="0" rIns="0" bIns="0" rtlCol="0" anchor="ctr">
            <a:normAutofit/>
          </a:bodyPr>
          <a:lstStyle/>
          <a:p>
            <a:pPr algn="ctr" indent="0" marL="0">
              <a:lnSpc>
                <a:spcPct val="95000"/>
              </a:lnSpc>
              <a:buNone/>
            </a:pPr>
            <a:r>
              <a:rPr lang="en-US" sz="840" b="1" dirty="0">
                <a:solidFill>
                  <a:srgbClr val="1A1A24"/>
                </a:solidFill>
                <a:latin typeface="Calibri" pitchFamily="34" charset="0"/>
                <a:ea typeface="Calibri" pitchFamily="34" charset="-122"/>
                <a:cs typeface="Calibri" pitchFamily="34" charset="-120"/>
              </a:rPr>
              <a:t>Authorization: Azure RBAC</a:t>
            </a:r>
            <a:endParaRPr lang="en-US" sz="840" dirty="0"/>
          </a:p>
        </p:txBody>
      </p:sp>
      <p:sp>
        <p:nvSpPr>
          <p:cNvPr id="13" name="Shape 11"/>
          <p:cNvSpPr/>
          <p:nvPr/>
        </p:nvSpPr>
        <p:spPr>
          <a:xfrm>
            <a:off x="502920" y="2359152"/>
            <a:ext cx="3429000" cy="329184"/>
          </a:xfrm>
          <a:prstGeom prst="roundRect">
            <a:avLst>
              <a:gd name="adj" fmla="val 13889"/>
            </a:avLst>
          </a:prstGeom>
          <a:solidFill>
            <a:srgbClr val="E8E8EA"/>
          </a:solidFill>
          <a:ln w="12700">
            <a:solidFill>
              <a:srgbClr val="1A1A24"/>
            </a:solidFill>
            <a:prstDash val="solid"/>
          </a:ln>
        </p:spPr>
      </p:sp>
      <p:sp>
        <p:nvSpPr>
          <p:cNvPr id="14" name="Text 12"/>
          <p:cNvSpPr/>
          <p:nvPr/>
        </p:nvSpPr>
        <p:spPr>
          <a:xfrm>
            <a:off x="548640" y="2359152"/>
            <a:ext cx="3337560" cy="329184"/>
          </a:xfrm>
          <a:prstGeom prst="rect">
            <a:avLst/>
          </a:prstGeom>
          <a:noFill/>
          <a:ln/>
        </p:spPr>
        <p:txBody>
          <a:bodyPr wrap="square" lIns="0" tIns="0" rIns="0" bIns="0" rtlCol="0" anchor="ctr">
            <a:normAutofit/>
          </a:bodyPr>
          <a:lstStyle/>
          <a:p>
            <a:pPr algn="ctr" indent="0" marL="0">
              <a:lnSpc>
                <a:spcPct val="95000"/>
              </a:lnSpc>
              <a:buNone/>
            </a:pPr>
            <a:r>
              <a:rPr lang="en-US" sz="840" b="1" dirty="0">
                <a:solidFill>
                  <a:srgbClr val="1A1A24"/>
                </a:solidFill>
                <a:latin typeface="Calibri" pitchFamily="34" charset="0"/>
                <a:ea typeface="Calibri" pitchFamily="34" charset="-122"/>
                <a:cs typeface="Calibri" pitchFamily="34" charset="-120"/>
              </a:rPr>
              <a:t>Workload identity: Managed Identity</a:t>
            </a:r>
            <a:endParaRPr lang="en-US" sz="840" dirty="0"/>
          </a:p>
        </p:txBody>
      </p:sp>
      <p:sp>
        <p:nvSpPr>
          <p:cNvPr id="15" name="Shape 13"/>
          <p:cNvSpPr/>
          <p:nvPr/>
        </p:nvSpPr>
        <p:spPr>
          <a:xfrm>
            <a:off x="502920" y="2738628"/>
            <a:ext cx="3429000" cy="329184"/>
          </a:xfrm>
          <a:prstGeom prst="roundRect">
            <a:avLst>
              <a:gd name="adj" fmla="val 13889"/>
            </a:avLst>
          </a:prstGeom>
          <a:solidFill>
            <a:srgbClr val="E8E8EA"/>
          </a:solidFill>
          <a:ln w="12700">
            <a:solidFill>
              <a:srgbClr val="1A1A24"/>
            </a:solidFill>
            <a:prstDash val="solid"/>
          </a:ln>
        </p:spPr>
      </p:sp>
      <p:sp>
        <p:nvSpPr>
          <p:cNvPr id="16" name="Text 14"/>
          <p:cNvSpPr/>
          <p:nvPr/>
        </p:nvSpPr>
        <p:spPr>
          <a:xfrm>
            <a:off x="548640" y="2738628"/>
            <a:ext cx="3337560" cy="329184"/>
          </a:xfrm>
          <a:prstGeom prst="rect">
            <a:avLst/>
          </a:prstGeom>
          <a:noFill/>
          <a:ln/>
        </p:spPr>
        <p:txBody>
          <a:bodyPr wrap="square" lIns="0" tIns="0" rIns="0" bIns="0" rtlCol="0" anchor="ctr">
            <a:normAutofit/>
          </a:bodyPr>
          <a:lstStyle/>
          <a:p>
            <a:pPr algn="ctr" indent="0" marL="0">
              <a:lnSpc>
                <a:spcPct val="95000"/>
              </a:lnSpc>
              <a:buNone/>
            </a:pPr>
            <a:r>
              <a:rPr lang="en-US" sz="840" b="1" dirty="0">
                <a:solidFill>
                  <a:srgbClr val="1A1A24"/>
                </a:solidFill>
                <a:latin typeface="Calibri" pitchFamily="34" charset="0"/>
                <a:ea typeface="Calibri" pitchFamily="34" charset="-122"/>
                <a:cs typeface="Calibri" pitchFamily="34" charset="-120"/>
              </a:rPr>
              <a:t>Network: VNet + Private Endpoint</a:t>
            </a:r>
            <a:endParaRPr lang="en-US" sz="840" dirty="0"/>
          </a:p>
        </p:txBody>
      </p:sp>
      <p:sp>
        <p:nvSpPr>
          <p:cNvPr id="17" name="Shape 15"/>
          <p:cNvSpPr/>
          <p:nvPr/>
        </p:nvSpPr>
        <p:spPr>
          <a:xfrm>
            <a:off x="502920" y="3118104"/>
            <a:ext cx="3429000" cy="329184"/>
          </a:xfrm>
          <a:prstGeom prst="roundRect">
            <a:avLst>
              <a:gd name="adj" fmla="val 13889"/>
            </a:avLst>
          </a:prstGeom>
          <a:solidFill>
            <a:srgbClr val="E8E8EA"/>
          </a:solidFill>
          <a:ln w="12700">
            <a:solidFill>
              <a:srgbClr val="1A1A24"/>
            </a:solidFill>
            <a:prstDash val="solid"/>
          </a:ln>
        </p:spPr>
      </p:sp>
      <p:sp>
        <p:nvSpPr>
          <p:cNvPr id="18" name="Text 16"/>
          <p:cNvSpPr/>
          <p:nvPr/>
        </p:nvSpPr>
        <p:spPr>
          <a:xfrm>
            <a:off x="548640" y="3118104"/>
            <a:ext cx="3337560" cy="329184"/>
          </a:xfrm>
          <a:prstGeom prst="rect">
            <a:avLst/>
          </a:prstGeom>
          <a:noFill/>
          <a:ln/>
        </p:spPr>
        <p:txBody>
          <a:bodyPr wrap="square" lIns="0" tIns="0" rIns="0" bIns="0" rtlCol="0" anchor="ctr">
            <a:normAutofit/>
          </a:bodyPr>
          <a:lstStyle/>
          <a:p>
            <a:pPr algn="ctr" indent="0" marL="0">
              <a:lnSpc>
                <a:spcPct val="95000"/>
              </a:lnSpc>
              <a:buNone/>
            </a:pPr>
            <a:r>
              <a:rPr lang="en-US" sz="840" b="1" dirty="0">
                <a:solidFill>
                  <a:srgbClr val="1A1A24"/>
                </a:solidFill>
                <a:latin typeface="Calibri" pitchFamily="34" charset="0"/>
                <a:ea typeface="Calibri" pitchFamily="34" charset="-122"/>
                <a:cs typeface="Calibri" pitchFamily="34" charset="-120"/>
              </a:rPr>
              <a:t>App / API: WAF + APIM</a:t>
            </a:r>
            <a:endParaRPr lang="en-US" sz="840" dirty="0"/>
          </a:p>
        </p:txBody>
      </p:sp>
      <p:sp>
        <p:nvSpPr>
          <p:cNvPr id="19" name="Shape 17"/>
          <p:cNvSpPr/>
          <p:nvPr/>
        </p:nvSpPr>
        <p:spPr>
          <a:xfrm>
            <a:off x="502920" y="3497580"/>
            <a:ext cx="3429000" cy="329184"/>
          </a:xfrm>
          <a:prstGeom prst="roundRect">
            <a:avLst>
              <a:gd name="adj" fmla="val 13889"/>
            </a:avLst>
          </a:prstGeom>
          <a:solidFill>
            <a:srgbClr val="E8E8EA"/>
          </a:solidFill>
          <a:ln w="12700">
            <a:solidFill>
              <a:srgbClr val="1A1A24"/>
            </a:solidFill>
            <a:prstDash val="solid"/>
          </a:ln>
        </p:spPr>
      </p:sp>
      <p:sp>
        <p:nvSpPr>
          <p:cNvPr id="20" name="Text 18"/>
          <p:cNvSpPr/>
          <p:nvPr/>
        </p:nvSpPr>
        <p:spPr>
          <a:xfrm>
            <a:off x="548640" y="3497580"/>
            <a:ext cx="3337560" cy="329184"/>
          </a:xfrm>
          <a:prstGeom prst="rect">
            <a:avLst/>
          </a:prstGeom>
          <a:noFill/>
          <a:ln/>
        </p:spPr>
        <p:txBody>
          <a:bodyPr wrap="square" lIns="0" tIns="0" rIns="0" bIns="0" rtlCol="0" anchor="ctr">
            <a:normAutofit/>
          </a:bodyPr>
          <a:lstStyle/>
          <a:p>
            <a:pPr algn="ctr" indent="0" marL="0">
              <a:lnSpc>
                <a:spcPct val="95000"/>
              </a:lnSpc>
              <a:buNone/>
            </a:pPr>
            <a:r>
              <a:rPr lang="en-US" sz="840" b="1" dirty="0">
                <a:solidFill>
                  <a:srgbClr val="1A1A24"/>
                </a:solidFill>
                <a:latin typeface="Calibri" pitchFamily="34" charset="0"/>
                <a:ea typeface="Calibri" pitchFamily="34" charset="-122"/>
                <a:cs typeface="Calibri" pitchFamily="34" charset="-120"/>
              </a:rPr>
              <a:t>Secrets: Azure Key Vault</a:t>
            </a:r>
            <a:endParaRPr lang="en-US" sz="840" dirty="0"/>
          </a:p>
        </p:txBody>
      </p:sp>
      <p:sp>
        <p:nvSpPr>
          <p:cNvPr id="21" name="Shape 19"/>
          <p:cNvSpPr/>
          <p:nvPr/>
        </p:nvSpPr>
        <p:spPr>
          <a:xfrm>
            <a:off x="502920" y="3877056"/>
            <a:ext cx="3429000" cy="329184"/>
          </a:xfrm>
          <a:prstGeom prst="roundRect">
            <a:avLst>
              <a:gd name="adj" fmla="val 13889"/>
            </a:avLst>
          </a:prstGeom>
          <a:solidFill>
            <a:srgbClr val="E8E8EA"/>
          </a:solidFill>
          <a:ln w="12700">
            <a:solidFill>
              <a:srgbClr val="1A1A24"/>
            </a:solidFill>
            <a:prstDash val="solid"/>
          </a:ln>
        </p:spPr>
      </p:sp>
      <p:sp>
        <p:nvSpPr>
          <p:cNvPr id="22" name="Text 20"/>
          <p:cNvSpPr/>
          <p:nvPr/>
        </p:nvSpPr>
        <p:spPr>
          <a:xfrm>
            <a:off x="548640" y="3877056"/>
            <a:ext cx="3337560" cy="329184"/>
          </a:xfrm>
          <a:prstGeom prst="rect">
            <a:avLst/>
          </a:prstGeom>
          <a:noFill/>
          <a:ln/>
        </p:spPr>
        <p:txBody>
          <a:bodyPr wrap="square" lIns="0" tIns="0" rIns="0" bIns="0" rtlCol="0" anchor="ctr">
            <a:normAutofit/>
          </a:bodyPr>
          <a:lstStyle/>
          <a:p>
            <a:pPr algn="ctr" indent="0" marL="0">
              <a:lnSpc>
                <a:spcPct val="95000"/>
              </a:lnSpc>
              <a:buNone/>
            </a:pPr>
            <a:r>
              <a:rPr lang="en-US" sz="840" b="1" dirty="0">
                <a:solidFill>
                  <a:srgbClr val="1A1A24"/>
                </a:solidFill>
                <a:latin typeface="Calibri" pitchFamily="34" charset="0"/>
                <a:ea typeface="Calibri" pitchFamily="34" charset="-122"/>
                <a:cs typeface="Calibri" pitchFamily="34" charset="-120"/>
              </a:rPr>
              <a:t>Governance: Azure Policy</a:t>
            </a:r>
            <a:endParaRPr lang="en-US" sz="840" dirty="0"/>
          </a:p>
        </p:txBody>
      </p:sp>
      <p:sp>
        <p:nvSpPr>
          <p:cNvPr id="23" name="Shape 21"/>
          <p:cNvSpPr/>
          <p:nvPr/>
        </p:nvSpPr>
        <p:spPr>
          <a:xfrm>
            <a:off x="502920" y="4256532"/>
            <a:ext cx="3429000" cy="329184"/>
          </a:xfrm>
          <a:prstGeom prst="roundRect">
            <a:avLst>
              <a:gd name="adj" fmla="val 13889"/>
            </a:avLst>
          </a:prstGeom>
          <a:solidFill>
            <a:srgbClr val="E8E8EA"/>
          </a:solidFill>
          <a:ln w="12700">
            <a:solidFill>
              <a:srgbClr val="1A1A24"/>
            </a:solidFill>
            <a:prstDash val="solid"/>
          </a:ln>
        </p:spPr>
      </p:sp>
      <p:sp>
        <p:nvSpPr>
          <p:cNvPr id="24" name="Text 22"/>
          <p:cNvSpPr/>
          <p:nvPr/>
        </p:nvSpPr>
        <p:spPr>
          <a:xfrm>
            <a:off x="548640" y="4256532"/>
            <a:ext cx="3337560" cy="329184"/>
          </a:xfrm>
          <a:prstGeom prst="rect">
            <a:avLst/>
          </a:prstGeom>
          <a:noFill/>
          <a:ln/>
        </p:spPr>
        <p:txBody>
          <a:bodyPr wrap="square" lIns="0" tIns="0" rIns="0" bIns="0" rtlCol="0" anchor="ctr">
            <a:normAutofit/>
          </a:bodyPr>
          <a:lstStyle/>
          <a:p>
            <a:pPr algn="ctr" indent="0" marL="0">
              <a:lnSpc>
                <a:spcPct val="95000"/>
              </a:lnSpc>
              <a:buNone/>
            </a:pPr>
            <a:r>
              <a:rPr lang="en-US" sz="840" b="1" dirty="0">
                <a:solidFill>
                  <a:srgbClr val="1A1A24"/>
                </a:solidFill>
                <a:latin typeface="Calibri" pitchFamily="34" charset="0"/>
                <a:ea typeface="Calibri" pitchFamily="34" charset="-122"/>
                <a:cs typeface="Calibri" pitchFamily="34" charset="-120"/>
              </a:rPr>
              <a:t>Monitoring: Monitor + Log Analytics + App Insights</a:t>
            </a:r>
            <a:endParaRPr lang="en-US" sz="840" dirty="0"/>
          </a:p>
        </p:txBody>
      </p:sp>
      <p:sp>
        <p:nvSpPr>
          <p:cNvPr id="25" name="Text 23"/>
          <p:cNvSpPr/>
          <p:nvPr/>
        </p:nvSpPr>
        <p:spPr>
          <a:xfrm>
            <a:off x="4114800" y="1600200"/>
            <a:ext cx="3429000" cy="219456"/>
          </a:xfrm>
          <a:prstGeom prst="rect">
            <a:avLst/>
          </a:prstGeom>
          <a:noFill/>
          <a:ln/>
        </p:spPr>
        <p:txBody>
          <a:bodyPr wrap="square" lIns="0" tIns="0" rIns="0" bIns="0" rtlCol="0" anchor="ctr"/>
          <a:lstStyle/>
          <a:p>
            <a:pPr algn="l" indent="0" marL="0">
              <a:buNone/>
            </a:pPr>
            <a:r>
              <a:rPr lang="en-US" sz="950" b="1" dirty="0">
                <a:solidFill>
                  <a:srgbClr val="B7B7BE"/>
                </a:solidFill>
                <a:latin typeface="Calibri" pitchFamily="34" charset="0"/>
                <a:ea typeface="Calibri" pitchFamily="34" charset="-122"/>
                <a:cs typeface="Calibri" pitchFamily="34" charset="-120"/>
              </a:rPr>
              <a:t>OpenAI Direct</a:t>
            </a:r>
            <a:endParaRPr lang="en-US" sz="950" dirty="0"/>
          </a:p>
        </p:txBody>
      </p:sp>
      <p:sp>
        <p:nvSpPr>
          <p:cNvPr id="26" name="Shape 24"/>
          <p:cNvSpPr/>
          <p:nvPr/>
        </p:nvSpPr>
        <p:spPr>
          <a:xfrm>
            <a:off x="4114800" y="1856232"/>
            <a:ext cx="3429000" cy="329184"/>
          </a:xfrm>
          <a:prstGeom prst="roundRect">
            <a:avLst>
              <a:gd name="adj" fmla="val 13889"/>
            </a:avLst>
          </a:prstGeom>
          <a:solidFill>
            <a:srgbClr val="43424B"/>
          </a:solidFill>
          <a:ln w="12700">
            <a:solidFill>
              <a:srgbClr val="B7B7BE"/>
            </a:solidFill>
            <a:prstDash val="solid"/>
          </a:ln>
        </p:spPr>
      </p:sp>
      <p:sp>
        <p:nvSpPr>
          <p:cNvPr id="27" name="Text 25"/>
          <p:cNvSpPr/>
          <p:nvPr/>
        </p:nvSpPr>
        <p:spPr>
          <a:xfrm>
            <a:off x="4160520" y="1856232"/>
            <a:ext cx="3337560" cy="329184"/>
          </a:xfrm>
          <a:prstGeom prst="rect">
            <a:avLst/>
          </a:prstGeom>
          <a:noFill/>
          <a:ln/>
        </p:spPr>
        <p:txBody>
          <a:bodyPr wrap="square" lIns="0" tIns="0" rIns="0" bIns="0" rtlCol="0" anchor="ctr">
            <a:normAutofit/>
          </a:bodyPr>
          <a:lstStyle/>
          <a:p>
            <a:pPr algn="ctr" indent="0" marL="0">
              <a:lnSpc>
                <a:spcPct val="95000"/>
              </a:lnSpc>
              <a:buNone/>
            </a:pPr>
            <a:r>
              <a:rPr lang="en-US" sz="800" b="1" dirty="0">
                <a:solidFill>
                  <a:srgbClr val="FFFFFF"/>
                </a:solidFill>
                <a:latin typeface="Calibri" pitchFamily="34" charset="0"/>
                <a:ea typeface="Calibri" pitchFamily="34" charset="-122"/>
                <a:cs typeface="Calibri" pitchFamily="34" charset="-120"/>
              </a:rPr>
              <a:t>Application → OpenAI API → OpenAI Infrastructure</a:t>
            </a:r>
            <a:endParaRPr lang="en-US" sz="800" dirty="0"/>
          </a:p>
        </p:txBody>
      </p:sp>
      <p:sp>
        <p:nvSpPr>
          <p:cNvPr id="28" name="Text 26"/>
          <p:cNvSpPr/>
          <p:nvPr/>
        </p:nvSpPr>
        <p:spPr>
          <a:xfrm>
            <a:off x="4114800" y="2331720"/>
            <a:ext cx="3429000" cy="219456"/>
          </a:xfrm>
          <a:prstGeom prst="rect">
            <a:avLst/>
          </a:prstGeom>
          <a:noFill/>
          <a:ln/>
        </p:spPr>
        <p:txBody>
          <a:bodyPr wrap="square" lIns="0" tIns="0" rIns="0" bIns="0" rtlCol="0" anchor="ctr"/>
          <a:lstStyle/>
          <a:p>
            <a:pPr algn="l" indent="0" marL="0">
              <a:buNone/>
            </a:pPr>
            <a:r>
              <a:rPr lang="en-US" sz="950" b="1" dirty="0">
                <a:solidFill>
                  <a:srgbClr val="B7B7BE"/>
                </a:solidFill>
                <a:latin typeface="Calibri" pitchFamily="34" charset="0"/>
                <a:ea typeface="Calibri" pitchFamily="34" charset="-122"/>
                <a:cs typeface="Calibri" pitchFamily="34" charset="-120"/>
              </a:rPr>
              <a:t>Azure-hosted OpenAI</a:t>
            </a:r>
            <a:endParaRPr lang="en-US" sz="950" dirty="0"/>
          </a:p>
        </p:txBody>
      </p:sp>
      <p:sp>
        <p:nvSpPr>
          <p:cNvPr id="29" name="Shape 27"/>
          <p:cNvSpPr/>
          <p:nvPr/>
        </p:nvSpPr>
        <p:spPr>
          <a:xfrm>
            <a:off x="4114800" y="2587752"/>
            <a:ext cx="3429000" cy="329184"/>
          </a:xfrm>
          <a:prstGeom prst="roundRect">
            <a:avLst>
              <a:gd name="adj" fmla="val 13889"/>
            </a:avLst>
          </a:prstGeom>
          <a:solidFill>
            <a:srgbClr val="FFE600"/>
          </a:solidFill>
          <a:ln w="12700">
            <a:solidFill>
              <a:srgbClr val="1A1A24"/>
            </a:solidFill>
            <a:prstDash val="solid"/>
          </a:ln>
        </p:spPr>
      </p:sp>
      <p:sp>
        <p:nvSpPr>
          <p:cNvPr id="30" name="Text 28"/>
          <p:cNvSpPr/>
          <p:nvPr/>
        </p:nvSpPr>
        <p:spPr>
          <a:xfrm>
            <a:off x="4160520" y="2587752"/>
            <a:ext cx="3337560" cy="329184"/>
          </a:xfrm>
          <a:prstGeom prst="rect">
            <a:avLst/>
          </a:prstGeom>
          <a:noFill/>
          <a:ln/>
        </p:spPr>
        <p:txBody>
          <a:bodyPr wrap="square" lIns="0" tIns="0" rIns="0" bIns="0" rtlCol="0" anchor="ctr">
            <a:normAutofit/>
          </a:bodyPr>
          <a:lstStyle/>
          <a:p>
            <a:pPr algn="ctr" indent="0" marL="0">
              <a:lnSpc>
                <a:spcPct val="95000"/>
              </a:lnSpc>
              <a:buNone/>
            </a:pPr>
            <a:r>
              <a:rPr lang="en-US" sz="800" b="1" dirty="0">
                <a:solidFill>
                  <a:srgbClr val="1A1A24"/>
                </a:solidFill>
                <a:latin typeface="Calibri" pitchFamily="34" charset="0"/>
                <a:ea typeface="Calibri" pitchFamily="34" charset="-122"/>
                <a:cs typeface="Calibri" pitchFamily="34" charset="-120"/>
              </a:rPr>
              <a:t>Application → Foundry/Azure OpenAI → Azure-hosted Model</a:t>
            </a:r>
            <a:endParaRPr lang="en-US" sz="800" dirty="0"/>
          </a:p>
        </p:txBody>
      </p:sp>
      <p:sp>
        <p:nvSpPr>
          <p:cNvPr id="31" name="Shape 29"/>
          <p:cNvSpPr/>
          <p:nvPr/>
        </p:nvSpPr>
        <p:spPr>
          <a:xfrm>
            <a:off x="4114800" y="3090672"/>
            <a:ext cx="3429000" cy="1051560"/>
          </a:xfrm>
          <a:prstGeom prst="roundRect">
            <a:avLst>
              <a:gd name="adj" fmla="val 5217"/>
            </a:avLst>
          </a:prstGeom>
          <a:solidFill>
            <a:srgbClr val="43424B"/>
          </a:solidFill>
          <a:ln w="12700">
            <a:solidFill>
              <a:srgbClr val="B7B7BE"/>
            </a:solidFill>
            <a:prstDash val="solid"/>
          </a:ln>
        </p:spPr>
      </p:sp>
      <p:sp>
        <p:nvSpPr>
          <p:cNvPr id="32" name="Text 30"/>
          <p:cNvSpPr/>
          <p:nvPr/>
        </p:nvSpPr>
        <p:spPr>
          <a:xfrm>
            <a:off x="4160520" y="3090672"/>
            <a:ext cx="3337560" cy="1051560"/>
          </a:xfrm>
          <a:prstGeom prst="rect">
            <a:avLst/>
          </a:prstGeom>
          <a:noFill/>
          <a:ln/>
        </p:spPr>
        <p:txBody>
          <a:bodyPr wrap="square" lIns="0" tIns="0" rIns="0" bIns="0" rtlCol="0" anchor="ctr">
            <a:normAutofit/>
          </a:bodyPr>
          <a:lstStyle/>
          <a:p>
            <a:pPr algn="ctr" indent="0" marL="0">
              <a:lnSpc>
                <a:spcPct val="95000"/>
              </a:lnSpc>
              <a:buNone/>
            </a:pPr>
            <a:r>
              <a:rPr lang="en-US" sz="900" dirty="0">
                <a:solidFill>
                  <a:srgbClr val="E8E8EA"/>
                </a:solidFill>
                <a:latin typeface="Calibri" pitchFamily="34" charset="0"/>
                <a:ea typeface="Calibri" pitchFamily="34" charset="-122"/>
                <a:cs typeface="Calibri" pitchFamily="34" charset="-120"/>
              </a:rPr>
              <a:t>Customer prompts/outputs are not used to train foundation models by default in applicable enterprise/API contexts, subject to service terms and configuration.</a:t>
            </a:r>
            <a:endParaRPr lang="en-US" sz="900" dirty="0"/>
          </a:p>
        </p:txBody>
      </p:sp>
      <p:sp>
        <p:nvSpPr>
          <p:cNvPr id="33" name="Text 31"/>
          <p:cNvSpPr/>
          <p:nvPr/>
        </p:nvSpPr>
        <p:spPr>
          <a:xfrm>
            <a:off x="4114800" y="4279392"/>
            <a:ext cx="3429000" cy="82296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870" dirty="0">
                <a:solidFill>
                  <a:srgbClr val="FFFFFF"/>
                </a:solidFill>
                <a:latin typeface="Calibri" pitchFamily="34" charset="0"/>
                <a:ea typeface="Calibri" pitchFamily="34" charset="-122"/>
                <a:cs typeface="Calibri" pitchFamily="34" charset="-120"/>
              </a:rPr>
              <a:t>Azure-hosted: prompts/outputs/embeddings aren't made available to the model provider for training</a:t>
            </a:r>
            <a:endParaRPr lang="en-US" sz="870" dirty="0"/>
          </a:p>
          <a:p>
            <a:pPr marL="152400" indent="-152400">
              <a:lnSpc>
                <a:spcPct val="105000"/>
              </a:lnSpc>
              <a:spcAft>
                <a:spcPts val="500"/>
              </a:spcAft>
              <a:buSzPct val="100000"/>
              <a:buChar char="▪"/>
            </a:pPr>
            <a:r>
              <a:rPr lang="en-US" sz="870" dirty="0">
                <a:solidFill>
                  <a:srgbClr val="FFFFFF"/>
                </a:solidFill>
                <a:latin typeface="Calibri" pitchFamily="34" charset="0"/>
                <a:ea typeface="Calibri" pitchFamily="34" charset="-122"/>
                <a:cs typeface="Calibri" pitchFamily="34" charset="-120"/>
              </a:rPr>
              <a:t>Azure provides native identity, networking and governance controls</a:t>
            </a:r>
            <a:endParaRPr lang="en-US" sz="870" dirty="0"/>
          </a:p>
        </p:txBody>
      </p:sp>
      <p:sp>
        <p:nvSpPr>
          <p:cNvPr id="34" name="Text 32"/>
          <p:cNvSpPr/>
          <p:nvPr/>
        </p:nvSpPr>
        <p:spPr>
          <a:xfrm>
            <a:off x="7726680" y="1600200"/>
            <a:ext cx="3959352" cy="77724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950" dirty="0">
                <a:solidFill>
                  <a:srgbClr val="FFFFFF"/>
                </a:solidFill>
                <a:latin typeface="Calibri" pitchFamily="34" charset="0"/>
                <a:ea typeface="Calibri" pitchFamily="34" charset="-122"/>
                <a:cs typeface="Calibri" pitchFamily="34" charset="-120"/>
              </a:rPr>
              <a:t>Where is data STORED?</a:t>
            </a:r>
            <a:endParaRPr lang="en-US" sz="950" dirty="0"/>
          </a:p>
          <a:p>
            <a:pPr marL="152400" indent="-152400">
              <a:lnSpc>
                <a:spcPct val="105000"/>
              </a:lnSpc>
              <a:spcAft>
                <a:spcPts val="500"/>
              </a:spcAft>
              <a:buSzPct val="100000"/>
              <a:buChar char="▪"/>
            </a:pPr>
            <a:r>
              <a:rPr lang="en-US" sz="950" dirty="0">
                <a:solidFill>
                  <a:srgbClr val="FFFFFF"/>
                </a:solidFill>
                <a:latin typeface="Calibri" pitchFamily="34" charset="0"/>
                <a:ea typeface="Calibri" pitchFamily="34" charset="-122"/>
                <a:cs typeface="Calibri" pitchFamily="34" charset="-120"/>
              </a:rPr>
              <a:t>Where is inference PROCESSED?</a:t>
            </a:r>
            <a:endParaRPr lang="en-US" sz="950" dirty="0"/>
          </a:p>
          <a:p>
            <a:pPr marL="152400" indent="-152400">
              <a:lnSpc>
                <a:spcPct val="105000"/>
              </a:lnSpc>
              <a:spcAft>
                <a:spcPts val="500"/>
              </a:spcAft>
              <a:buSzPct val="100000"/>
              <a:buChar char="▪"/>
            </a:pPr>
            <a:r>
              <a:rPr lang="en-US" sz="950" dirty="0">
                <a:solidFill>
                  <a:srgbClr val="FFFFFF"/>
                </a:solidFill>
                <a:latin typeface="Calibri" pitchFamily="34" charset="0"/>
                <a:ea typeface="Calibri" pitchFamily="34" charset="-122"/>
                <a:cs typeface="Calibri" pitchFamily="34" charset="-120"/>
              </a:rPr>
              <a:t>Which REGION and DEPLOYMENT TYPE is used?</a:t>
            </a:r>
            <a:endParaRPr lang="en-US" sz="950" dirty="0"/>
          </a:p>
        </p:txBody>
      </p:sp>
      <p:sp>
        <p:nvSpPr>
          <p:cNvPr id="35" name="Shape 33"/>
          <p:cNvSpPr/>
          <p:nvPr/>
        </p:nvSpPr>
        <p:spPr>
          <a:xfrm>
            <a:off x="7726680" y="2468880"/>
            <a:ext cx="1228344" cy="365760"/>
          </a:xfrm>
          <a:prstGeom prst="roundRect">
            <a:avLst>
              <a:gd name="adj" fmla="val 12500"/>
            </a:avLst>
          </a:prstGeom>
          <a:solidFill>
            <a:srgbClr val="43424B"/>
          </a:solidFill>
          <a:ln w="12700">
            <a:solidFill>
              <a:srgbClr val="B7B7BE"/>
            </a:solidFill>
            <a:prstDash val="solid"/>
          </a:ln>
        </p:spPr>
      </p:sp>
      <p:sp>
        <p:nvSpPr>
          <p:cNvPr id="36" name="Text 34"/>
          <p:cNvSpPr/>
          <p:nvPr/>
        </p:nvSpPr>
        <p:spPr>
          <a:xfrm>
            <a:off x="7772400" y="2468880"/>
            <a:ext cx="1136904" cy="365760"/>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FFFFFF"/>
                </a:solidFill>
                <a:latin typeface="Calibri" pitchFamily="34" charset="0"/>
                <a:ea typeface="Calibri" pitchFamily="34" charset="-122"/>
                <a:cs typeface="Calibri" pitchFamily="34" charset="-120"/>
              </a:rPr>
              <a:t>Regional</a:t>
            </a:r>
            <a:endParaRPr lang="en-US" sz="900" dirty="0"/>
          </a:p>
        </p:txBody>
      </p:sp>
      <p:sp>
        <p:nvSpPr>
          <p:cNvPr id="37" name="Shape 35"/>
          <p:cNvSpPr/>
          <p:nvPr/>
        </p:nvSpPr>
        <p:spPr>
          <a:xfrm>
            <a:off x="9092184" y="2468880"/>
            <a:ext cx="1228344" cy="365760"/>
          </a:xfrm>
          <a:prstGeom prst="roundRect">
            <a:avLst>
              <a:gd name="adj" fmla="val 12500"/>
            </a:avLst>
          </a:prstGeom>
          <a:solidFill>
            <a:srgbClr val="43424B"/>
          </a:solidFill>
          <a:ln w="12700">
            <a:solidFill>
              <a:srgbClr val="B7B7BE"/>
            </a:solidFill>
            <a:prstDash val="solid"/>
          </a:ln>
        </p:spPr>
      </p:sp>
      <p:sp>
        <p:nvSpPr>
          <p:cNvPr id="38" name="Text 36"/>
          <p:cNvSpPr/>
          <p:nvPr/>
        </p:nvSpPr>
        <p:spPr>
          <a:xfrm>
            <a:off x="9137904" y="2468880"/>
            <a:ext cx="1136904" cy="365760"/>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FFFFFF"/>
                </a:solidFill>
                <a:latin typeface="Calibri" pitchFamily="34" charset="0"/>
                <a:ea typeface="Calibri" pitchFamily="34" charset="-122"/>
                <a:cs typeface="Calibri" pitchFamily="34" charset="-120"/>
              </a:rPr>
              <a:t>Data Zone</a:t>
            </a:r>
            <a:endParaRPr lang="en-US" sz="900" dirty="0"/>
          </a:p>
        </p:txBody>
      </p:sp>
      <p:sp>
        <p:nvSpPr>
          <p:cNvPr id="39" name="Shape 37"/>
          <p:cNvSpPr/>
          <p:nvPr/>
        </p:nvSpPr>
        <p:spPr>
          <a:xfrm>
            <a:off x="10457688" y="2468880"/>
            <a:ext cx="1228344" cy="365760"/>
          </a:xfrm>
          <a:prstGeom prst="roundRect">
            <a:avLst>
              <a:gd name="adj" fmla="val 12500"/>
            </a:avLst>
          </a:prstGeom>
          <a:solidFill>
            <a:srgbClr val="43424B"/>
          </a:solidFill>
          <a:ln w="12700">
            <a:solidFill>
              <a:srgbClr val="B7B7BE"/>
            </a:solidFill>
            <a:prstDash val="solid"/>
          </a:ln>
        </p:spPr>
      </p:sp>
      <p:sp>
        <p:nvSpPr>
          <p:cNvPr id="40" name="Text 38"/>
          <p:cNvSpPr/>
          <p:nvPr/>
        </p:nvSpPr>
        <p:spPr>
          <a:xfrm>
            <a:off x="10503408" y="2468880"/>
            <a:ext cx="1136904" cy="365760"/>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FFFFFF"/>
                </a:solidFill>
                <a:latin typeface="Calibri" pitchFamily="34" charset="0"/>
                <a:ea typeface="Calibri" pitchFamily="34" charset="-122"/>
                <a:cs typeface="Calibri" pitchFamily="34" charset="-120"/>
              </a:rPr>
              <a:t>Global</a:t>
            </a:r>
            <a:endParaRPr lang="en-US" sz="900" dirty="0"/>
          </a:p>
        </p:txBody>
      </p:sp>
      <p:sp>
        <p:nvSpPr>
          <p:cNvPr id="41" name="Shape 39"/>
          <p:cNvSpPr/>
          <p:nvPr/>
        </p:nvSpPr>
        <p:spPr>
          <a:xfrm>
            <a:off x="7726680" y="2971800"/>
            <a:ext cx="3959352" cy="777240"/>
          </a:xfrm>
          <a:prstGeom prst="roundRect">
            <a:avLst>
              <a:gd name="adj" fmla="val 7059"/>
            </a:avLst>
          </a:prstGeom>
          <a:solidFill>
            <a:srgbClr val="FFE600"/>
          </a:solidFill>
          <a:ln w="12700">
            <a:solidFill>
              <a:srgbClr val="1A1A24"/>
            </a:solidFill>
            <a:prstDash val="solid"/>
          </a:ln>
        </p:spPr>
      </p:sp>
      <p:sp>
        <p:nvSpPr>
          <p:cNvPr id="42" name="Text 40"/>
          <p:cNvSpPr/>
          <p:nvPr/>
        </p:nvSpPr>
        <p:spPr>
          <a:xfrm>
            <a:off x="7772400" y="2971800"/>
            <a:ext cx="3867912" cy="777240"/>
          </a:xfrm>
          <a:prstGeom prst="rect">
            <a:avLst/>
          </a:prstGeom>
          <a:noFill/>
          <a:ln/>
        </p:spPr>
        <p:txBody>
          <a:bodyPr wrap="square" lIns="0" tIns="0" rIns="0" bIns="0" rtlCol="0" anchor="ctr">
            <a:normAutofit/>
          </a:bodyPr>
          <a:lstStyle/>
          <a:p>
            <a:pPr algn="ctr" indent="0" marL="0">
              <a:lnSpc>
                <a:spcPct val="95000"/>
              </a:lnSpc>
              <a:buNone/>
            </a:pPr>
            <a:r>
              <a:rPr lang="en-US" sz="830" dirty="0">
                <a:solidFill>
                  <a:srgbClr val="1A1A24"/>
                </a:solidFill>
                <a:latin typeface="Calibri" pitchFamily="34" charset="0"/>
                <a:ea typeface="Calibri" pitchFamily="34" charset="-122"/>
                <a:cs typeface="Calibri" pitchFamily="34" charset="-120"/>
              </a:rPr>
              <a:t>Don't treat the Azure resource region as the complete answer to data residency — validate storage and processing location separately for the exact model, deployment type and region.</a:t>
            </a:r>
            <a:endParaRPr lang="en-US" sz="830" dirty="0"/>
          </a:p>
        </p:txBody>
      </p:sp>
      <p:sp>
        <p:nvSpPr>
          <p:cNvPr id="43" name="Text 41"/>
          <p:cNvSpPr/>
          <p:nvPr/>
        </p:nvSpPr>
        <p:spPr>
          <a:xfrm>
            <a:off x="502920" y="4892040"/>
            <a:ext cx="5486400" cy="256032"/>
          </a:xfrm>
          <a:prstGeom prst="rect">
            <a:avLst/>
          </a:prstGeom>
          <a:noFill/>
          <a:ln/>
        </p:spPr>
        <p:txBody>
          <a:bodyPr wrap="square" lIns="0" tIns="0" rIns="0" bIns="0" rtlCol="0" anchor="ctr"/>
          <a:lstStyle/>
          <a:p>
            <a:pPr algn="l" indent="0" marL="0">
              <a:buNone/>
            </a:pPr>
            <a:r>
              <a:rPr lang="en-US" sz="1100" b="1" dirty="0">
                <a:solidFill>
                  <a:srgbClr val="FFE600"/>
                </a:solidFill>
                <a:latin typeface="Calibri" pitchFamily="34" charset="0"/>
                <a:ea typeface="Calibri" pitchFamily="34" charset="-122"/>
                <a:cs typeface="Calibri" pitchFamily="34" charset="-120"/>
              </a:rPr>
              <a:t>PRODUCTION CHECKLIST</a:t>
            </a:r>
            <a:endParaRPr lang="en-US" sz="1100" dirty="0"/>
          </a:p>
        </p:txBody>
      </p:sp>
      <p:sp>
        <p:nvSpPr>
          <p:cNvPr id="44" name="Shape 42"/>
          <p:cNvSpPr/>
          <p:nvPr/>
        </p:nvSpPr>
        <p:spPr>
          <a:xfrm>
            <a:off x="502920" y="5184648"/>
            <a:ext cx="1757172" cy="384048"/>
          </a:xfrm>
          <a:prstGeom prst="roundRect">
            <a:avLst>
              <a:gd name="adj" fmla="val 11905"/>
            </a:avLst>
          </a:prstGeom>
          <a:solidFill>
            <a:srgbClr val="FFFFFF"/>
          </a:solidFill>
          <a:ln w="12700">
            <a:solidFill>
              <a:srgbClr val="B7B7BE"/>
            </a:solidFill>
            <a:prstDash val="solid"/>
          </a:ln>
        </p:spPr>
      </p:sp>
      <p:sp>
        <p:nvSpPr>
          <p:cNvPr id="45" name="Text 43"/>
          <p:cNvSpPr/>
          <p:nvPr/>
        </p:nvSpPr>
        <p:spPr>
          <a:xfrm>
            <a:off x="548640" y="5184648"/>
            <a:ext cx="1665732" cy="384048"/>
          </a:xfrm>
          <a:prstGeom prst="rect">
            <a:avLst/>
          </a:prstGeom>
          <a:noFill/>
          <a:ln/>
        </p:spPr>
        <p:txBody>
          <a:bodyPr wrap="square" lIns="0" tIns="0" rIns="0" bIns="0" rtlCol="0" anchor="ctr">
            <a:normAutofit/>
          </a:bodyPr>
          <a:lstStyle/>
          <a:p>
            <a:pPr algn="ctr" indent="0" marL="0">
              <a:lnSpc>
                <a:spcPct val="95000"/>
              </a:lnSpc>
              <a:buNone/>
            </a:pPr>
            <a:r>
              <a:rPr lang="en-US" sz="850" b="1" dirty="0">
                <a:solidFill>
                  <a:srgbClr val="1A1A24"/>
                </a:solidFill>
                <a:latin typeface="Calibri" pitchFamily="34" charset="0"/>
                <a:ea typeface="Calibri" pitchFamily="34" charset="-122"/>
                <a:cs typeface="Calibri" pitchFamily="34" charset="-120"/>
              </a:rPr>
              <a:t>Region</a:t>
            </a:r>
            <a:endParaRPr lang="en-US" sz="850" dirty="0"/>
          </a:p>
        </p:txBody>
      </p:sp>
      <p:sp>
        <p:nvSpPr>
          <p:cNvPr id="46" name="Shape 44"/>
          <p:cNvSpPr/>
          <p:nvPr/>
        </p:nvSpPr>
        <p:spPr>
          <a:xfrm>
            <a:off x="2260092" y="5376672"/>
            <a:ext cx="128016" cy="0"/>
          </a:xfrm>
          <a:prstGeom prst="line">
            <a:avLst/>
          </a:prstGeom>
          <a:noFill/>
          <a:ln w="17780">
            <a:solidFill>
              <a:srgbClr val="B7B7BE"/>
            </a:solidFill>
            <a:prstDash val="solid"/>
            <a:tailEnd type="triangle"/>
          </a:ln>
        </p:spPr>
      </p:sp>
      <p:sp>
        <p:nvSpPr>
          <p:cNvPr id="47" name="Shape 45"/>
          <p:cNvSpPr/>
          <p:nvPr/>
        </p:nvSpPr>
        <p:spPr>
          <a:xfrm>
            <a:off x="2388108" y="5184648"/>
            <a:ext cx="1757172" cy="384048"/>
          </a:xfrm>
          <a:prstGeom prst="roundRect">
            <a:avLst>
              <a:gd name="adj" fmla="val 11905"/>
            </a:avLst>
          </a:prstGeom>
          <a:solidFill>
            <a:srgbClr val="E8E8EA"/>
          </a:solidFill>
          <a:ln w="12700">
            <a:solidFill>
              <a:srgbClr val="B7B7BE"/>
            </a:solidFill>
            <a:prstDash val="solid"/>
          </a:ln>
        </p:spPr>
      </p:sp>
      <p:sp>
        <p:nvSpPr>
          <p:cNvPr id="48" name="Text 46"/>
          <p:cNvSpPr/>
          <p:nvPr/>
        </p:nvSpPr>
        <p:spPr>
          <a:xfrm>
            <a:off x="2433828" y="5184648"/>
            <a:ext cx="1665732" cy="384048"/>
          </a:xfrm>
          <a:prstGeom prst="rect">
            <a:avLst/>
          </a:prstGeom>
          <a:noFill/>
          <a:ln/>
        </p:spPr>
        <p:txBody>
          <a:bodyPr wrap="square" lIns="0" tIns="0" rIns="0" bIns="0" rtlCol="0" anchor="ctr">
            <a:normAutofit/>
          </a:bodyPr>
          <a:lstStyle/>
          <a:p>
            <a:pPr algn="ctr" indent="0" marL="0">
              <a:lnSpc>
                <a:spcPct val="95000"/>
              </a:lnSpc>
              <a:buNone/>
            </a:pPr>
            <a:r>
              <a:rPr lang="en-US" sz="850" b="1" dirty="0">
                <a:solidFill>
                  <a:srgbClr val="1A1A24"/>
                </a:solidFill>
                <a:latin typeface="Calibri" pitchFamily="34" charset="0"/>
                <a:ea typeface="Calibri" pitchFamily="34" charset="-122"/>
                <a:cs typeface="Calibri" pitchFamily="34" charset="-120"/>
              </a:rPr>
              <a:t>Deployment Type</a:t>
            </a:r>
            <a:endParaRPr lang="en-US" sz="850" dirty="0"/>
          </a:p>
        </p:txBody>
      </p:sp>
      <p:sp>
        <p:nvSpPr>
          <p:cNvPr id="49" name="Shape 47"/>
          <p:cNvSpPr/>
          <p:nvPr/>
        </p:nvSpPr>
        <p:spPr>
          <a:xfrm>
            <a:off x="4145280" y="5376672"/>
            <a:ext cx="128016" cy="0"/>
          </a:xfrm>
          <a:prstGeom prst="line">
            <a:avLst/>
          </a:prstGeom>
          <a:noFill/>
          <a:ln w="17780">
            <a:solidFill>
              <a:srgbClr val="B7B7BE"/>
            </a:solidFill>
            <a:prstDash val="solid"/>
            <a:tailEnd type="triangle"/>
          </a:ln>
        </p:spPr>
      </p:sp>
      <p:sp>
        <p:nvSpPr>
          <p:cNvPr id="50" name="Shape 48"/>
          <p:cNvSpPr/>
          <p:nvPr/>
        </p:nvSpPr>
        <p:spPr>
          <a:xfrm>
            <a:off x="4273296" y="5184648"/>
            <a:ext cx="1757172" cy="384048"/>
          </a:xfrm>
          <a:prstGeom prst="roundRect">
            <a:avLst>
              <a:gd name="adj" fmla="val 11905"/>
            </a:avLst>
          </a:prstGeom>
          <a:solidFill>
            <a:srgbClr val="FFFFFF"/>
          </a:solidFill>
          <a:ln w="12700">
            <a:solidFill>
              <a:srgbClr val="B7B7BE"/>
            </a:solidFill>
            <a:prstDash val="solid"/>
          </a:ln>
        </p:spPr>
      </p:sp>
      <p:sp>
        <p:nvSpPr>
          <p:cNvPr id="51" name="Text 49"/>
          <p:cNvSpPr/>
          <p:nvPr/>
        </p:nvSpPr>
        <p:spPr>
          <a:xfrm>
            <a:off x="4319016" y="5184648"/>
            <a:ext cx="1665732" cy="384048"/>
          </a:xfrm>
          <a:prstGeom prst="rect">
            <a:avLst/>
          </a:prstGeom>
          <a:noFill/>
          <a:ln/>
        </p:spPr>
        <p:txBody>
          <a:bodyPr wrap="square" lIns="0" tIns="0" rIns="0" bIns="0" rtlCol="0" anchor="ctr">
            <a:normAutofit/>
          </a:bodyPr>
          <a:lstStyle/>
          <a:p>
            <a:pPr algn="ctr" indent="0" marL="0">
              <a:lnSpc>
                <a:spcPct val="95000"/>
              </a:lnSpc>
              <a:buNone/>
            </a:pPr>
            <a:r>
              <a:rPr lang="en-US" sz="850" b="1" dirty="0">
                <a:solidFill>
                  <a:srgbClr val="1A1A24"/>
                </a:solidFill>
                <a:latin typeface="Calibri" pitchFamily="34" charset="0"/>
                <a:ea typeface="Calibri" pitchFamily="34" charset="-122"/>
                <a:cs typeface="Calibri" pitchFamily="34" charset="-120"/>
              </a:rPr>
              <a:t>Storage Location</a:t>
            </a:r>
            <a:endParaRPr lang="en-US" sz="850" dirty="0"/>
          </a:p>
        </p:txBody>
      </p:sp>
      <p:sp>
        <p:nvSpPr>
          <p:cNvPr id="52" name="Shape 50"/>
          <p:cNvSpPr/>
          <p:nvPr/>
        </p:nvSpPr>
        <p:spPr>
          <a:xfrm>
            <a:off x="6030468" y="5376672"/>
            <a:ext cx="128016" cy="0"/>
          </a:xfrm>
          <a:prstGeom prst="line">
            <a:avLst/>
          </a:prstGeom>
          <a:noFill/>
          <a:ln w="17780">
            <a:solidFill>
              <a:srgbClr val="B7B7BE"/>
            </a:solidFill>
            <a:prstDash val="solid"/>
            <a:tailEnd type="triangle"/>
          </a:ln>
        </p:spPr>
      </p:sp>
      <p:sp>
        <p:nvSpPr>
          <p:cNvPr id="53" name="Shape 51"/>
          <p:cNvSpPr/>
          <p:nvPr/>
        </p:nvSpPr>
        <p:spPr>
          <a:xfrm>
            <a:off x="6158484" y="5184648"/>
            <a:ext cx="1757172" cy="384048"/>
          </a:xfrm>
          <a:prstGeom prst="roundRect">
            <a:avLst>
              <a:gd name="adj" fmla="val 11905"/>
            </a:avLst>
          </a:prstGeom>
          <a:solidFill>
            <a:srgbClr val="E8E8EA"/>
          </a:solidFill>
          <a:ln w="12700">
            <a:solidFill>
              <a:srgbClr val="B7B7BE"/>
            </a:solidFill>
            <a:prstDash val="solid"/>
          </a:ln>
        </p:spPr>
      </p:sp>
      <p:sp>
        <p:nvSpPr>
          <p:cNvPr id="54" name="Text 52"/>
          <p:cNvSpPr/>
          <p:nvPr/>
        </p:nvSpPr>
        <p:spPr>
          <a:xfrm>
            <a:off x="6204204" y="5184648"/>
            <a:ext cx="1665732" cy="384048"/>
          </a:xfrm>
          <a:prstGeom prst="rect">
            <a:avLst/>
          </a:prstGeom>
          <a:noFill/>
          <a:ln/>
        </p:spPr>
        <p:txBody>
          <a:bodyPr wrap="square" lIns="0" tIns="0" rIns="0" bIns="0" rtlCol="0" anchor="ctr">
            <a:normAutofit/>
          </a:bodyPr>
          <a:lstStyle/>
          <a:p>
            <a:pPr algn="ctr" indent="0" marL="0">
              <a:lnSpc>
                <a:spcPct val="95000"/>
              </a:lnSpc>
              <a:buNone/>
            </a:pPr>
            <a:r>
              <a:rPr lang="en-US" sz="850" b="1" dirty="0">
                <a:solidFill>
                  <a:srgbClr val="1A1A24"/>
                </a:solidFill>
                <a:latin typeface="Calibri" pitchFamily="34" charset="0"/>
                <a:ea typeface="Calibri" pitchFamily="34" charset="-122"/>
                <a:cs typeface="Calibri" pitchFamily="34" charset="-120"/>
              </a:rPr>
              <a:t>Inference Location</a:t>
            </a:r>
            <a:endParaRPr lang="en-US" sz="850" dirty="0"/>
          </a:p>
        </p:txBody>
      </p:sp>
      <p:sp>
        <p:nvSpPr>
          <p:cNvPr id="55" name="Shape 53"/>
          <p:cNvSpPr/>
          <p:nvPr/>
        </p:nvSpPr>
        <p:spPr>
          <a:xfrm>
            <a:off x="7915656" y="5376672"/>
            <a:ext cx="128016" cy="0"/>
          </a:xfrm>
          <a:prstGeom prst="line">
            <a:avLst/>
          </a:prstGeom>
          <a:noFill/>
          <a:ln w="17780">
            <a:solidFill>
              <a:srgbClr val="B7B7BE"/>
            </a:solidFill>
            <a:prstDash val="solid"/>
            <a:tailEnd type="triangle"/>
          </a:ln>
        </p:spPr>
      </p:sp>
      <p:sp>
        <p:nvSpPr>
          <p:cNvPr id="56" name="Shape 54"/>
          <p:cNvSpPr/>
          <p:nvPr/>
        </p:nvSpPr>
        <p:spPr>
          <a:xfrm>
            <a:off x="8043672" y="5184648"/>
            <a:ext cx="1757172" cy="384048"/>
          </a:xfrm>
          <a:prstGeom prst="roundRect">
            <a:avLst>
              <a:gd name="adj" fmla="val 11905"/>
            </a:avLst>
          </a:prstGeom>
          <a:solidFill>
            <a:srgbClr val="FFFFFF"/>
          </a:solidFill>
          <a:ln w="12700">
            <a:solidFill>
              <a:srgbClr val="B7B7BE"/>
            </a:solidFill>
            <a:prstDash val="solid"/>
          </a:ln>
        </p:spPr>
      </p:sp>
      <p:sp>
        <p:nvSpPr>
          <p:cNvPr id="57" name="Text 55"/>
          <p:cNvSpPr/>
          <p:nvPr/>
        </p:nvSpPr>
        <p:spPr>
          <a:xfrm>
            <a:off x="8089392" y="5184648"/>
            <a:ext cx="1665732" cy="384048"/>
          </a:xfrm>
          <a:prstGeom prst="rect">
            <a:avLst/>
          </a:prstGeom>
          <a:noFill/>
          <a:ln/>
        </p:spPr>
        <p:txBody>
          <a:bodyPr wrap="square" lIns="0" tIns="0" rIns="0" bIns="0" rtlCol="0" anchor="ctr">
            <a:normAutofit/>
          </a:bodyPr>
          <a:lstStyle/>
          <a:p>
            <a:pPr algn="ctr" indent="0" marL="0">
              <a:lnSpc>
                <a:spcPct val="95000"/>
              </a:lnSpc>
              <a:buNone/>
            </a:pPr>
            <a:r>
              <a:rPr lang="en-US" sz="850" b="1" dirty="0">
                <a:solidFill>
                  <a:srgbClr val="1A1A24"/>
                </a:solidFill>
                <a:latin typeface="Calibri" pitchFamily="34" charset="0"/>
                <a:ea typeface="Calibri" pitchFamily="34" charset="-122"/>
                <a:cs typeface="Calibri" pitchFamily="34" charset="-120"/>
              </a:rPr>
              <a:t>Retention</a:t>
            </a:r>
            <a:endParaRPr lang="en-US" sz="850" dirty="0"/>
          </a:p>
        </p:txBody>
      </p:sp>
      <p:sp>
        <p:nvSpPr>
          <p:cNvPr id="58" name="Shape 56"/>
          <p:cNvSpPr/>
          <p:nvPr/>
        </p:nvSpPr>
        <p:spPr>
          <a:xfrm>
            <a:off x="9800844" y="5376672"/>
            <a:ext cx="128016" cy="0"/>
          </a:xfrm>
          <a:prstGeom prst="line">
            <a:avLst/>
          </a:prstGeom>
          <a:noFill/>
          <a:ln w="17780">
            <a:solidFill>
              <a:srgbClr val="B7B7BE"/>
            </a:solidFill>
            <a:prstDash val="solid"/>
            <a:tailEnd type="triangle"/>
          </a:ln>
        </p:spPr>
      </p:sp>
      <p:sp>
        <p:nvSpPr>
          <p:cNvPr id="59" name="Shape 57"/>
          <p:cNvSpPr/>
          <p:nvPr/>
        </p:nvSpPr>
        <p:spPr>
          <a:xfrm>
            <a:off x="9928860" y="5184648"/>
            <a:ext cx="1757172" cy="384048"/>
          </a:xfrm>
          <a:prstGeom prst="roundRect">
            <a:avLst>
              <a:gd name="adj" fmla="val 11905"/>
            </a:avLst>
          </a:prstGeom>
          <a:solidFill>
            <a:srgbClr val="E8E8EA"/>
          </a:solidFill>
          <a:ln w="12700">
            <a:solidFill>
              <a:srgbClr val="B7B7BE"/>
            </a:solidFill>
            <a:prstDash val="solid"/>
          </a:ln>
        </p:spPr>
      </p:sp>
      <p:sp>
        <p:nvSpPr>
          <p:cNvPr id="60" name="Text 58"/>
          <p:cNvSpPr/>
          <p:nvPr/>
        </p:nvSpPr>
        <p:spPr>
          <a:xfrm>
            <a:off x="9974580" y="5184648"/>
            <a:ext cx="1665732" cy="384048"/>
          </a:xfrm>
          <a:prstGeom prst="rect">
            <a:avLst/>
          </a:prstGeom>
          <a:noFill/>
          <a:ln/>
        </p:spPr>
        <p:txBody>
          <a:bodyPr wrap="square" lIns="0" tIns="0" rIns="0" bIns="0" rtlCol="0" anchor="ctr">
            <a:normAutofit/>
          </a:bodyPr>
          <a:lstStyle/>
          <a:p>
            <a:pPr algn="ctr" indent="0" marL="0">
              <a:lnSpc>
                <a:spcPct val="95000"/>
              </a:lnSpc>
              <a:buNone/>
            </a:pPr>
            <a:r>
              <a:rPr lang="en-US" sz="850" b="1" dirty="0">
                <a:solidFill>
                  <a:srgbClr val="1A1A24"/>
                </a:solidFill>
                <a:latin typeface="Calibri" pitchFamily="34" charset="0"/>
                <a:ea typeface="Calibri" pitchFamily="34" charset="-122"/>
                <a:cs typeface="Calibri" pitchFamily="34" charset="-120"/>
              </a:rPr>
              <a:t>Compliance</a:t>
            </a:r>
            <a:endParaRPr lang="en-US" sz="850" dirty="0"/>
          </a:p>
        </p:txBody>
      </p:sp>
      <p:sp>
        <p:nvSpPr>
          <p:cNvPr id="61" name="Shape 59"/>
          <p:cNvSpPr/>
          <p:nvPr/>
        </p:nvSpPr>
        <p:spPr>
          <a:xfrm>
            <a:off x="502920" y="5760720"/>
            <a:ext cx="10378440" cy="502920"/>
          </a:xfrm>
          <a:prstGeom prst="roundRect">
            <a:avLst>
              <a:gd name="adj" fmla="val 10909"/>
            </a:avLst>
          </a:prstGeom>
          <a:solidFill>
            <a:srgbClr val="43424B"/>
          </a:solidFill>
          <a:ln w="12700">
            <a:solidFill>
              <a:srgbClr val="FFE600"/>
            </a:solidFill>
            <a:prstDash val="solid"/>
          </a:ln>
        </p:spPr>
      </p:sp>
      <p:sp>
        <p:nvSpPr>
          <p:cNvPr id="62" name="Text 60"/>
          <p:cNvSpPr/>
          <p:nvPr/>
        </p:nvSpPr>
        <p:spPr>
          <a:xfrm>
            <a:off x="548640" y="5760720"/>
            <a:ext cx="10287000" cy="502920"/>
          </a:xfrm>
          <a:prstGeom prst="rect">
            <a:avLst/>
          </a:prstGeom>
          <a:noFill/>
          <a:ln/>
        </p:spPr>
        <p:txBody>
          <a:bodyPr wrap="square" lIns="0" tIns="0" rIns="0" bIns="0" rtlCol="0" anchor="ctr">
            <a:normAutofit/>
          </a:bodyPr>
          <a:lstStyle/>
          <a:p>
            <a:pPr algn="ctr" indent="0" marL="0">
              <a:lnSpc>
                <a:spcPct val="95000"/>
              </a:lnSpc>
              <a:buNone/>
            </a:pPr>
            <a:r>
              <a:rPr lang="en-US" sz="1000" b="1" dirty="0">
                <a:solidFill>
                  <a:srgbClr val="FFE600"/>
                </a:solidFill>
                <a:latin typeface="Calibri" pitchFamily="34" charset="0"/>
                <a:ea typeface="Calibri" pitchFamily="34" charset="-122"/>
                <a:cs typeface="Calibri" pitchFamily="34" charset="-120"/>
              </a:rPr>
              <a:t>For regulated workloads, validate both storage and processing location for the exact model, deployment type and region.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02920" y="274320"/>
            <a:ext cx="11183112" cy="475488"/>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ea typeface="Cambria" pitchFamily="34" charset="-122"/>
                <a:cs typeface="Cambria" pitchFamily="34" charset="-120"/>
              </a:rPr>
              <a:t>Model Selection &amp; Multi-Model Strategy</a:t>
            </a:r>
            <a:endParaRPr lang="en-US" sz="2300" dirty="0"/>
          </a:p>
        </p:txBody>
      </p:sp>
      <p:sp>
        <p:nvSpPr>
          <p:cNvPr id="5" name="Text 3"/>
          <p:cNvSpPr/>
          <p:nvPr/>
        </p:nvSpPr>
        <p:spPr>
          <a:xfrm>
            <a:off x="502920" y="749808"/>
            <a:ext cx="11183112" cy="274320"/>
          </a:xfrm>
          <a:prstGeom prst="rect">
            <a:avLst/>
          </a:prstGeom>
          <a:noFill/>
          <a:ln/>
        </p:spPr>
        <p:txBody>
          <a:bodyPr wrap="square" lIns="0" tIns="0" rIns="0" bIns="0" rtlCol="0" anchor="ctr"/>
          <a:lstStyle/>
          <a:p>
            <a:pPr algn="l" indent="0" marL="0">
              <a:buNone/>
            </a:pPr>
            <a:r>
              <a:rPr lang="en-US" sz="1250" i="1" dirty="0">
                <a:solidFill>
                  <a:srgbClr val="B7B7BE"/>
                </a:solidFill>
                <a:latin typeface="Calibri" pitchFamily="34" charset="0"/>
                <a:ea typeface="Calibri" pitchFamily="34" charset="-122"/>
                <a:cs typeface="Calibri" pitchFamily="34" charset="-120"/>
              </a:rPr>
              <a:t>Selecting the right OpenAI model by workload</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097280"/>
          <a:ext cx="6903720" cy="3703320"/>
        </p:xfrm>
        <a:graphic>
          <a:graphicData uri="http://schemas.openxmlformats.org/drawingml/2006/table">
            <a:tbl>
              <a:tblPr/>
              <a:tblGrid>
                <a:gridCol w="2880360"/>
                <a:gridCol w="1783080"/>
                <a:gridCol w="2240280"/>
              </a:tblGrid>
              <a:tr h="37033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Workload</a:t>
                      </a:r>
                      <a:endParaRPr lang="en-US" sz="9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Recommended model</a:t>
                      </a:r>
                      <a:endParaRPr lang="en-US" sz="9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Why</a:t>
                      </a:r>
                      <a:endParaRPr lang="en-US" sz="9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43424B"/>
                    </a:solidFill>
                  </a:tcPr>
                </a:tc>
              </a:tr>
              <a:tr h="370332">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General enterprise assistant / complex chat</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830" b="1" dirty="0">
                          <a:solidFill>
                            <a:srgbClr val="1A1A24"/>
                          </a:solidFill>
                          <a:latin typeface="Calibri" pitchFamily="34" charset="0"/>
                          <a:ea typeface="Calibri" pitchFamily="34" charset="-122"/>
                          <a:cs typeface="Calibri" pitchFamily="34" charset="-120"/>
                        </a:rPr>
                        <a:t>GPT-5.6</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E600"/>
                    </a:solidFill>
                  </a:tcPr>
                </a:tc>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Latest flagship reasoning, multimodal, tools</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r>
              <a:tr h="370332">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High-quality complex reasoning / long context</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FFFF"/>
                    </a:solidFill>
                  </a:tcPr>
                </a:tc>
                <a:tc>
                  <a:txBody>
                    <a:bodyPr/>
                    <a:lstStyle/>
                    <a:p>
                      <a:pPr algn="l" indent="0" marL="0">
                        <a:buNone/>
                      </a:pPr>
                      <a:r>
                        <a:rPr lang="en-US" sz="830" b="1" dirty="0">
                          <a:solidFill>
                            <a:srgbClr val="1A1A24"/>
                          </a:solidFill>
                          <a:latin typeface="Calibri" pitchFamily="34" charset="0"/>
                          <a:ea typeface="Calibri" pitchFamily="34" charset="-122"/>
                          <a:cs typeface="Calibri" pitchFamily="34" charset="-120"/>
                        </a:rPr>
                        <a:t>GPT-5.5</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E600"/>
                    </a:solidFill>
                  </a:tcPr>
                </a:tc>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Agentic multi-step reasoning, large context</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FFFF"/>
                    </a:solidFill>
                  </a:tcPr>
                </a:tc>
              </a:tr>
              <a:tr h="370332">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Cost/latency-sensitive reasoning</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830" b="1" dirty="0">
                          <a:solidFill>
                            <a:srgbClr val="1A1A24"/>
                          </a:solidFill>
                          <a:latin typeface="Calibri" pitchFamily="34" charset="0"/>
                          <a:ea typeface="Calibri" pitchFamily="34" charset="-122"/>
                          <a:cs typeface="Calibri" pitchFamily="34" charset="-120"/>
                        </a:rPr>
                        <a:t>GPT-5.4-mini</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E600"/>
                    </a:solidFill>
                  </a:tcPr>
                </a:tc>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Smaller, faster reasoning tier</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r>
              <a:tr h="370332">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Coding / software engineering</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FFFF"/>
                    </a:solidFill>
                  </a:tcPr>
                </a:tc>
                <a:tc>
                  <a:txBody>
                    <a:bodyPr/>
                    <a:lstStyle/>
                    <a:p>
                      <a:pPr algn="l" indent="0" marL="0">
                        <a:buNone/>
                      </a:pPr>
                      <a:r>
                        <a:rPr lang="en-US" sz="830" b="1" dirty="0">
                          <a:solidFill>
                            <a:srgbClr val="1A1A24"/>
                          </a:solidFill>
                          <a:latin typeface="Calibri" pitchFamily="34" charset="0"/>
                          <a:ea typeface="Calibri" pitchFamily="34" charset="-122"/>
                          <a:cs typeface="Calibri" pitchFamily="34" charset="-120"/>
                        </a:rPr>
                        <a:t>GPT-5.3-Codex</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E600"/>
                    </a:solidFill>
                  </a:tcPr>
                </a:tc>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Coding + reasoning, engineering-scale tasks</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FFFF"/>
                    </a:solidFill>
                  </a:tcPr>
                </a:tc>
              </a:tr>
              <a:tr h="370332">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Lower-cost coding</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830" b="1" dirty="0">
                          <a:solidFill>
                            <a:srgbClr val="1A1A24"/>
                          </a:solidFill>
                          <a:latin typeface="Calibri" pitchFamily="34" charset="0"/>
                          <a:ea typeface="Calibri" pitchFamily="34" charset="-122"/>
                          <a:cs typeface="Calibri" pitchFamily="34" charset="-120"/>
                        </a:rPr>
                        <a:t>GPT-5.1-Codex-mini</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E600"/>
                    </a:solidFill>
                  </a:tcPr>
                </a:tc>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Smaller coding-focused option</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r>
              <a:tr h="370332">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RAG generation</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FFFF"/>
                    </a:solidFill>
                  </a:tcPr>
                </a:tc>
                <a:tc>
                  <a:txBody>
                    <a:bodyPr/>
                    <a:lstStyle/>
                    <a:p>
                      <a:pPr algn="l" indent="0" marL="0">
                        <a:buNone/>
                      </a:pPr>
                      <a:r>
                        <a:rPr lang="en-US" sz="830" b="1" dirty="0">
                          <a:solidFill>
                            <a:srgbClr val="1A1A24"/>
                          </a:solidFill>
                          <a:latin typeface="Calibri" pitchFamily="34" charset="0"/>
                          <a:ea typeface="Calibri" pitchFamily="34" charset="-122"/>
                          <a:cs typeface="Calibri" pitchFamily="34" charset="-120"/>
                        </a:rPr>
                        <a:t>GPT-5.5 / GPT-5.4</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E600"/>
                    </a:solidFill>
                  </a:tcPr>
                </a:tc>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Reasoning + structured output / tool use</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FFFF"/>
                    </a:solidFill>
                  </a:tcPr>
                </a:tc>
              </a:tr>
              <a:tr h="370332">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Semantic search / retrieval</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830" b="1" dirty="0">
                          <a:solidFill>
                            <a:srgbClr val="1A1A24"/>
                          </a:solidFill>
                          <a:latin typeface="Calibri" pitchFamily="34" charset="0"/>
                          <a:ea typeface="Calibri" pitchFamily="34" charset="-122"/>
                          <a:cs typeface="Calibri" pitchFamily="34" charset="-120"/>
                        </a:rPr>
                        <a:t>text-embedding-3-large</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E600"/>
                    </a:solidFill>
                  </a:tcPr>
                </a:tc>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Converts text to vectors for similarity search</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r>
              <a:tr h="370332">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Voice / real-time speech</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FFFF"/>
                    </a:solidFill>
                  </a:tcPr>
                </a:tc>
                <a:tc>
                  <a:txBody>
                    <a:bodyPr/>
                    <a:lstStyle/>
                    <a:p>
                      <a:pPr algn="l" indent="0" marL="0">
                        <a:buNone/>
                      </a:pPr>
                      <a:r>
                        <a:rPr lang="en-US" sz="830" b="1" dirty="0">
                          <a:solidFill>
                            <a:srgbClr val="1A1A24"/>
                          </a:solidFill>
                          <a:latin typeface="Calibri" pitchFamily="34" charset="0"/>
                          <a:ea typeface="Calibri" pitchFamily="34" charset="-122"/>
                          <a:cs typeface="Calibri" pitchFamily="34" charset="-120"/>
                        </a:rPr>
                        <a:t>GPT-Audio-1.5 / GPT-Realtime-1.5</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E600"/>
                    </a:solidFill>
                  </a:tcPr>
                </a:tc>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Low-latency speech-in / speech-out</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FFFF"/>
                    </a:solidFill>
                  </a:tcPr>
                </a:tc>
              </a:tr>
              <a:tr h="370332">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Image &amp; video generation</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830" b="1" dirty="0">
                          <a:solidFill>
                            <a:srgbClr val="1A1A24"/>
                          </a:solidFill>
                          <a:latin typeface="Calibri" pitchFamily="34" charset="0"/>
                          <a:ea typeface="Calibri" pitchFamily="34" charset="-122"/>
                          <a:cs typeface="Calibri" pitchFamily="34" charset="-120"/>
                        </a:rPr>
                        <a:t>GPT-image-1  ·  Sora-2 (preview)</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FFE600"/>
                    </a:solidFill>
                  </a:tcPr>
                </a:tc>
                <a:tc>
                  <a:txBody>
                    <a:bodyPr/>
                    <a:lstStyle/>
                    <a:p>
                      <a:pPr algn="l" indent="0" marL="0">
                        <a:buNone/>
                      </a:pPr>
                      <a:r>
                        <a:rPr lang="en-US" sz="830" dirty="0">
                          <a:solidFill>
                            <a:srgbClr val="6F6F77"/>
                          </a:solidFill>
                          <a:latin typeface="Calibri" pitchFamily="34" charset="0"/>
                          <a:ea typeface="Calibri" pitchFamily="34" charset="-122"/>
                          <a:cs typeface="Calibri" pitchFamily="34" charset="-120"/>
                        </a:rPr>
                        <a:t>Image generation  ·  text-to-video generation</a:t>
                      </a:r>
                      <a:endParaRPr lang="en-US" sz="83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r>
            </a:tbl>
          </a:graphicData>
        </a:graphic>
      </p:graphicFrame>
      <p:sp>
        <p:nvSpPr>
          <p:cNvPr id="7" name="Text 4"/>
          <p:cNvSpPr/>
          <p:nvPr/>
        </p:nvSpPr>
        <p:spPr>
          <a:xfrm>
            <a:off x="502920" y="4892040"/>
            <a:ext cx="6903720" cy="502920"/>
          </a:xfrm>
          <a:prstGeom prst="rect">
            <a:avLst/>
          </a:prstGeom>
          <a:noFill/>
          <a:ln/>
        </p:spPr>
        <p:txBody>
          <a:bodyPr wrap="square" lIns="0" tIns="0" rIns="0" bIns="0" rtlCol="0" anchor="ctr"/>
          <a:lstStyle/>
          <a:p>
            <a:pPr algn="l" indent="0" marL="0">
              <a:buNone/>
            </a:pPr>
            <a:r>
              <a:rPr lang="en-US" sz="870" i="1" dirty="0">
                <a:solidFill>
                  <a:srgbClr val="B7B7BE"/>
                </a:solidFill>
                <a:latin typeface="Calibri" pitchFamily="34" charset="0"/>
                <a:ea typeface="Calibri" pitchFamily="34" charset="-122"/>
                <a:cs typeface="Calibri" pitchFamily="34" charset="-120"/>
              </a:rPr>
              <a:t>Model availability varies by Azure region, deployment type and lifecycle. Validate current availability in the Foundry model catalog and confirm the choice through workload-specific evaluation before deployment.</a:t>
            </a:r>
            <a:endParaRPr lang="en-US" sz="870" dirty="0"/>
          </a:p>
        </p:txBody>
      </p:sp>
      <p:sp>
        <p:nvSpPr>
          <p:cNvPr id="8" name="Shape 5"/>
          <p:cNvSpPr/>
          <p:nvPr/>
        </p:nvSpPr>
        <p:spPr>
          <a:xfrm>
            <a:off x="8106156" y="1143000"/>
            <a:ext cx="3108960" cy="411480"/>
          </a:xfrm>
          <a:prstGeom prst="roundRect">
            <a:avLst>
              <a:gd name="adj" fmla="val 11111"/>
            </a:avLst>
          </a:prstGeom>
          <a:solidFill>
            <a:srgbClr val="FFFFFF"/>
          </a:solidFill>
          <a:ln w="12700">
            <a:solidFill>
              <a:srgbClr val="1A1A24"/>
            </a:solidFill>
            <a:prstDash val="solid"/>
          </a:ln>
        </p:spPr>
      </p:sp>
      <p:sp>
        <p:nvSpPr>
          <p:cNvPr id="9" name="Text 6"/>
          <p:cNvSpPr/>
          <p:nvPr/>
        </p:nvSpPr>
        <p:spPr>
          <a:xfrm>
            <a:off x="8151876" y="1143000"/>
            <a:ext cx="3017520" cy="4114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A1A24"/>
                </a:solidFill>
                <a:latin typeface="Calibri" pitchFamily="34" charset="0"/>
                <a:ea typeface="Calibri" pitchFamily="34" charset="-122"/>
                <a:cs typeface="Calibri" pitchFamily="34" charset="-120"/>
              </a:rPr>
              <a:t>USER REQUEST</a:t>
            </a:r>
            <a:endParaRPr lang="en-US" sz="1100" dirty="0"/>
          </a:p>
        </p:txBody>
      </p:sp>
      <p:sp>
        <p:nvSpPr>
          <p:cNvPr id="10" name="Shape 7"/>
          <p:cNvSpPr/>
          <p:nvPr/>
        </p:nvSpPr>
        <p:spPr>
          <a:xfrm>
            <a:off x="9660636" y="1554480"/>
            <a:ext cx="0" cy="228600"/>
          </a:xfrm>
          <a:prstGeom prst="line">
            <a:avLst/>
          </a:prstGeom>
          <a:noFill/>
          <a:ln w="19050">
            <a:solidFill>
              <a:srgbClr val="B7B7BE"/>
            </a:solidFill>
            <a:prstDash val="solid"/>
            <a:tailEnd type="triangle"/>
          </a:ln>
        </p:spPr>
      </p:sp>
      <p:sp>
        <p:nvSpPr>
          <p:cNvPr id="11" name="Shape 8"/>
          <p:cNvSpPr/>
          <p:nvPr/>
        </p:nvSpPr>
        <p:spPr>
          <a:xfrm>
            <a:off x="7923276" y="1783080"/>
            <a:ext cx="3474720" cy="438912"/>
          </a:xfrm>
          <a:prstGeom prst="roundRect">
            <a:avLst>
              <a:gd name="adj" fmla="val 10417"/>
            </a:avLst>
          </a:prstGeom>
          <a:solidFill>
            <a:srgbClr val="FFE600"/>
          </a:solidFill>
          <a:ln w="12700">
            <a:solidFill>
              <a:srgbClr val="1A1A24"/>
            </a:solidFill>
            <a:prstDash val="solid"/>
          </a:ln>
        </p:spPr>
      </p:sp>
      <p:sp>
        <p:nvSpPr>
          <p:cNvPr id="12" name="Text 9"/>
          <p:cNvSpPr/>
          <p:nvPr/>
        </p:nvSpPr>
        <p:spPr>
          <a:xfrm>
            <a:off x="7968996" y="1783080"/>
            <a:ext cx="3383280" cy="438912"/>
          </a:xfrm>
          <a:prstGeom prst="rect">
            <a:avLst/>
          </a:prstGeom>
          <a:noFill/>
          <a:ln/>
        </p:spPr>
        <p:txBody>
          <a:bodyPr wrap="square" lIns="0" tIns="0" rIns="0" bIns="0" rtlCol="0" anchor="ctr">
            <a:normAutofit/>
          </a:bodyPr>
          <a:lstStyle/>
          <a:p>
            <a:pPr algn="ctr" indent="0" marL="0">
              <a:lnSpc>
                <a:spcPct val="95000"/>
              </a:lnSpc>
              <a:buNone/>
            </a:pPr>
            <a:r>
              <a:rPr lang="en-US" sz="1050" b="1" dirty="0">
                <a:solidFill>
                  <a:srgbClr val="1A1A24"/>
                </a:solidFill>
                <a:latin typeface="Calibri" pitchFamily="34" charset="0"/>
                <a:ea typeface="Calibri" pitchFamily="34" charset="-122"/>
                <a:cs typeface="Calibri" pitchFamily="34" charset="-120"/>
              </a:rPr>
              <a:t>FOUNDRY MODEL ROUTER</a:t>
            </a:r>
            <a:endParaRPr lang="en-US" sz="1050" dirty="0"/>
          </a:p>
        </p:txBody>
      </p:sp>
      <p:sp>
        <p:nvSpPr>
          <p:cNvPr id="13" name="Text 10"/>
          <p:cNvSpPr/>
          <p:nvPr/>
        </p:nvSpPr>
        <p:spPr>
          <a:xfrm>
            <a:off x="7635240" y="2240280"/>
            <a:ext cx="4050792" cy="219456"/>
          </a:xfrm>
          <a:prstGeom prst="rect">
            <a:avLst/>
          </a:prstGeom>
          <a:noFill/>
          <a:ln/>
        </p:spPr>
        <p:txBody>
          <a:bodyPr wrap="square" lIns="0" tIns="0" rIns="0" bIns="0" rtlCol="0" anchor="ctr"/>
          <a:lstStyle/>
          <a:p>
            <a:pPr algn="ctr" indent="0" marL="0">
              <a:buNone/>
            </a:pPr>
            <a:r>
              <a:rPr lang="en-US" sz="850" i="1" dirty="0">
                <a:solidFill>
                  <a:srgbClr val="B7B7BE"/>
                </a:solidFill>
                <a:latin typeface="Calibri" pitchFamily="34" charset="0"/>
                <a:ea typeface="Calibri" pitchFamily="34" charset="-122"/>
                <a:cs typeface="Calibri" pitchFamily="34" charset="-120"/>
              </a:rPr>
              <a:t>Balanced · Cost · Quality routing modes</a:t>
            </a:r>
            <a:endParaRPr lang="en-US" sz="850" dirty="0"/>
          </a:p>
        </p:txBody>
      </p:sp>
      <p:sp>
        <p:nvSpPr>
          <p:cNvPr id="14" name="Shape 11"/>
          <p:cNvSpPr/>
          <p:nvPr/>
        </p:nvSpPr>
        <p:spPr>
          <a:xfrm flipH="1">
            <a:off x="8252460" y="2468880"/>
            <a:ext cx="1408176" cy="320040"/>
          </a:xfrm>
          <a:prstGeom prst="line">
            <a:avLst/>
          </a:prstGeom>
          <a:noFill/>
          <a:ln w="17780">
            <a:solidFill>
              <a:srgbClr val="B7B7BE"/>
            </a:solidFill>
            <a:prstDash val="solid"/>
            <a:tailEnd type="triangle"/>
          </a:ln>
        </p:spPr>
      </p:sp>
      <p:sp>
        <p:nvSpPr>
          <p:cNvPr id="15" name="Shape 12"/>
          <p:cNvSpPr/>
          <p:nvPr/>
        </p:nvSpPr>
        <p:spPr>
          <a:xfrm>
            <a:off x="7635240" y="2788920"/>
            <a:ext cx="1234440" cy="548640"/>
          </a:xfrm>
          <a:prstGeom prst="roundRect">
            <a:avLst>
              <a:gd name="adj" fmla="val 8333"/>
            </a:avLst>
          </a:prstGeom>
          <a:solidFill>
            <a:srgbClr val="43424B"/>
          </a:solidFill>
          <a:ln w="12700">
            <a:solidFill>
              <a:srgbClr val="B7B7BE"/>
            </a:solidFill>
            <a:prstDash val="solid"/>
          </a:ln>
        </p:spPr>
      </p:sp>
      <p:sp>
        <p:nvSpPr>
          <p:cNvPr id="16" name="Text 13"/>
          <p:cNvSpPr/>
          <p:nvPr/>
        </p:nvSpPr>
        <p:spPr>
          <a:xfrm>
            <a:off x="7680960" y="2788920"/>
            <a:ext cx="1143000" cy="548640"/>
          </a:xfrm>
          <a:prstGeom prst="rect">
            <a:avLst/>
          </a:prstGeom>
          <a:noFill/>
          <a:ln/>
        </p:spPr>
        <p:txBody>
          <a:bodyPr wrap="square" lIns="0" tIns="0" rIns="0" bIns="0" rtlCol="0" anchor="ctr">
            <a:normAutofit/>
          </a:bodyPr>
          <a:lstStyle/>
          <a:p>
            <a:pPr algn="ctr" indent="0" marL="0">
              <a:lnSpc>
                <a:spcPct val="95000"/>
              </a:lnSpc>
              <a:buNone/>
            </a:pPr>
            <a:r>
              <a:rPr lang="en-US" sz="800" b="1" dirty="0">
                <a:solidFill>
                  <a:srgbClr val="FFFFFF"/>
                </a:solidFill>
                <a:latin typeface="Calibri" pitchFamily="34" charset="0"/>
                <a:ea typeface="Calibri" pitchFamily="34" charset="-122"/>
                <a:cs typeface="Calibri" pitchFamily="34" charset="-120"/>
              </a:rPr>
              <a:t>GPT-5.6</a:t>
            </a:r>
            <a:endParaRPr lang="en-US" sz="800" dirty="0"/>
          </a:p>
          <a:p>
            <a:pPr algn="ctr" indent="0" marL="0">
              <a:lnSpc>
                <a:spcPct val="95000"/>
              </a:lnSpc>
              <a:buNone/>
            </a:pPr>
            <a:r>
              <a:rPr lang="en-US" sz="800" b="1" dirty="0">
                <a:solidFill>
                  <a:srgbClr val="FFFFFF"/>
                </a:solidFill>
                <a:latin typeface="Calibri" pitchFamily="34" charset="0"/>
                <a:ea typeface="Calibri" pitchFamily="34" charset="-122"/>
                <a:cs typeface="Calibri" pitchFamily="34" charset="-120"/>
              </a:rPr>
              <a:t>General</a:t>
            </a:r>
            <a:endParaRPr lang="en-US" sz="800" dirty="0"/>
          </a:p>
        </p:txBody>
      </p:sp>
      <p:sp>
        <p:nvSpPr>
          <p:cNvPr id="17" name="Shape 14"/>
          <p:cNvSpPr/>
          <p:nvPr/>
        </p:nvSpPr>
        <p:spPr>
          <a:xfrm>
            <a:off x="9660636" y="2468880"/>
            <a:ext cx="9144" cy="320040"/>
          </a:xfrm>
          <a:prstGeom prst="line">
            <a:avLst/>
          </a:prstGeom>
          <a:noFill/>
          <a:ln w="17780">
            <a:solidFill>
              <a:srgbClr val="B7B7BE"/>
            </a:solidFill>
            <a:prstDash val="solid"/>
            <a:tailEnd type="triangle"/>
          </a:ln>
        </p:spPr>
      </p:sp>
      <p:sp>
        <p:nvSpPr>
          <p:cNvPr id="18" name="Shape 15"/>
          <p:cNvSpPr/>
          <p:nvPr/>
        </p:nvSpPr>
        <p:spPr>
          <a:xfrm>
            <a:off x="9052560" y="2788920"/>
            <a:ext cx="1234440" cy="548640"/>
          </a:xfrm>
          <a:prstGeom prst="roundRect">
            <a:avLst>
              <a:gd name="adj" fmla="val 8333"/>
            </a:avLst>
          </a:prstGeom>
          <a:solidFill>
            <a:srgbClr val="43424B"/>
          </a:solidFill>
          <a:ln w="12700">
            <a:solidFill>
              <a:srgbClr val="B7B7BE"/>
            </a:solidFill>
            <a:prstDash val="solid"/>
          </a:ln>
        </p:spPr>
      </p:sp>
      <p:sp>
        <p:nvSpPr>
          <p:cNvPr id="19" name="Text 16"/>
          <p:cNvSpPr/>
          <p:nvPr/>
        </p:nvSpPr>
        <p:spPr>
          <a:xfrm>
            <a:off x="9098280" y="2788920"/>
            <a:ext cx="1143000" cy="548640"/>
          </a:xfrm>
          <a:prstGeom prst="rect">
            <a:avLst/>
          </a:prstGeom>
          <a:noFill/>
          <a:ln/>
        </p:spPr>
        <p:txBody>
          <a:bodyPr wrap="square" lIns="0" tIns="0" rIns="0" bIns="0" rtlCol="0" anchor="ctr">
            <a:normAutofit/>
          </a:bodyPr>
          <a:lstStyle/>
          <a:p>
            <a:pPr algn="ctr" indent="0" marL="0">
              <a:lnSpc>
                <a:spcPct val="95000"/>
              </a:lnSpc>
              <a:buNone/>
            </a:pPr>
            <a:r>
              <a:rPr lang="en-US" sz="800" b="1" dirty="0">
                <a:solidFill>
                  <a:srgbClr val="FFFFFF"/>
                </a:solidFill>
                <a:latin typeface="Calibri" pitchFamily="34" charset="0"/>
                <a:ea typeface="Calibri" pitchFamily="34" charset="-122"/>
                <a:cs typeface="Calibri" pitchFamily="34" charset="-120"/>
              </a:rPr>
              <a:t>Claude</a:t>
            </a:r>
            <a:endParaRPr lang="en-US" sz="800" dirty="0"/>
          </a:p>
          <a:p>
            <a:pPr algn="ctr" indent="0" marL="0">
              <a:lnSpc>
                <a:spcPct val="95000"/>
              </a:lnSpc>
              <a:buNone/>
            </a:pPr>
            <a:r>
              <a:rPr lang="en-US" sz="800" b="1" dirty="0">
                <a:solidFill>
                  <a:srgbClr val="FFFFFF"/>
                </a:solidFill>
                <a:latin typeface="Calibri" pitchFamily="34" charset="0"/>
                <a:ea typeface="Calibri" pitchFamily="34" charset="-122"/>
                <a:cs typeface="Calibri" pitchFamily="34" charset="-120"/>
              </a:rPr>
              <a:t>Coding / long ctx</a:t>
            </a:r>
            <a:endParaRPr lang="en-US" sz="800" dirty="0"/>
          </a:p>
        </p:txBody>
      </p:sp>
      <p:sp>
        <p:nvSpPr>
          <p:cNvPr id="20" name="Shape 17"/>
          <p:cNvSpPr/>
          <p:nvPr/>
        </p:nvSpPr>
        <p:spPr>
          <a:xfrm>
            <a:off x="9660636" y="2468880"/>
            <a:ext cx="1426464" cy="320040"/>
          </a:xfrm>
          <a:prstGeom prst="line">
            <a:avLst/>
          </a:prstGeom>
          <a:noFill/>
          <a:ln w="17780">
            <a:solidFill>
              <a:srgbClr val="B7B7BE"/>
            </a:solidFill>
            <a:prstDash val="solid"/>
            <a:tailEnd type="triangle"/>
          </a:ln>
        </p:spPr>
      </p:sp>
      <p:sp>
        <p:nvSpPr>
          <p:cNvPr id="21" name="Shape 18"/>
          <p:cNvSpPr/>
          <p:nvPr/>
        </p:nvSpPr>
        <p:spPr>
          <a:xfrm>
            <a:off x="10469880" y="2788920"/>
            <a:ext cx="1234440" cy="548640"/>
          </a:xfrm>
          <a:prstGeom prst="roundRect">
            <a:avLst>
              <a:gd name="adj" fmla="val 8333"/>
            </a:avLst>
          </a:prstGeom>
          <a:solidFill>
            <a:srgbClr val="43424B"/>
          </a:solidFill>
          <a:ln w="12700">
            <a:solidFill>
              <a:srgbClr val="B7B7BE"/>
            </a:solidFill>
            <a:prstDash val="solid"/>
          </a:ln>
        </p:spPr>
      </p:sp>
      <p:sp>
        <p:nvSpPr>
          <p:cNvPr id="22" name="Text 19"/>
          <p:cNvSpPr/>
          <p:nvPr/>
        </p:nvSpPr>
        <p:spPr>
          <a:xfrm>
            <a:off x="10515600" y="2788920"/>
            <a:ext cx="1143000" cy="548640"/>
          </a:xfrm>
          <a:prstGeom prst="rect">
            <a:avLst/>
          </a:prstGeom>
          <a:noFill/>
          <a:ln/>
        </p:spPr>
        <p:txBody>
          <a:bodyPr wrap="square" lIns="0" tIns="0" rIns="0" bIns="0" rtlCol="0" anchor="ctr">
            <a:normAutofit/>
          </a:bodyPr>
          <a:lstStyle/>
          <a:p>
            <a:pPr algn="ctr" indent="0" marL="0">
              <a:lnSpc>
                <a:spcPct val="95000"/>
              </a:lnSpc>
              <a:buNone/>
            </a:pPr>
            <a:r>
              <a:rPr lang="en-US" sz="800" b="1" dirty="0">
                <a:solidFill>
                  <a:srgbClr val="FFFFFF"/>
                </a:solidFill>
                <a:latin typeface="Calibri" pitchFamily="34" charset="0"/>
                <a:ea typeface="Calibri" pitchFamily="34" charset="-122"/>
                <a:cs typeface="Calibri" pitchFamily="34" charset="-120"/>
              </a:rPr>
              <a:t>GPT-5.4-mini</a:t>
            </a:r>
            <a:endParaRPr lang="en-US" sz="800" dirty="0"/>
          </a:p>
          <a:p>
            <a:pPr algn="ctr" indent="0" marL="0">
              <a:lnSpc>
                <a:spcPct val="95000"/>
              </a:lnSpc>
              <a:buNone/>
            </a:pPr>
            <a:r>
              <a:rPr lang="en-US" sz="800" b="1" dirty="0">
                <a:solidFill>
                  <a:srgbClr val="FFFFFF"/>
                </a:solidFill>
                <a:latin typeface="Calibri" pitchFamily="34" charset="0"/>
                <a:ea typeface="Calibri" pitchFamily="34" charset="-122"/>
                <a:cs typeface="Calibri" pitchFamily="34" charset="-120"/>
              </a:rPr>
              <a:t>Cost-sensitive</a:t>
            </a:r>
            <a:endParaRPr lang="en-US" sz="800" dirty="0"/>
          </a:p>
        </p:txBody>
      </p:sp>
      <p:sp>
        <p:nvSpPr>
          <p:cNvPr id="23" name="Shape 20"/>
          <p:cNvSpPr/>
          <p:nvPr/>
        </p:nvSpPr>
        <p:spPr>
          <a:xfrm>
            <a:off x="8252460" y="3337560"/>
            <a:ext cx="1408176" cy="320040"/>
          </a:xfrm>
          <a:prstGeom prst="line">
            <a:avLst/>
          </a:prstGeom>
          <a:noFill/>
          <a:ln w="17780">
            <a:solidFill>
              <a:srgbClr val="B7B7BE"/>
            </a:solidFill>
            <a:prstDash val="solid"/>
            <a:tailEnd type="triangle"/>
          </a:ln>
        </p:spPr>
      </p:sp>
      <p:sp>
        <p:nvSpPr>
          <p:cNvPr id="24" name="Shape 21"/>
          <p:cNvSpPr/>
          <p:nvPr/>
        </p:nvSpPr>
        <p:spPr>
          <a:xfrm flipH="1">
            <a:off x="9660636" y="3337560"/>
            <a:ext cx="9144" cy="320040"/>
          </a:xfrm>
          <a:prstGeom prst="line">
            <a:avLst/>
          </a:prstGeom>
          <a:noFill/>
          <a:ln w="17780">
            <a:solidFill>
              <a:srgbClr val="B7B7BE"/>
            </a:solidFill>
            <a:prstDash val="solid"/>
            <a:tailEnd type="triangle"/>
          </a:ln>
        </p:spPr>
      </p:sp>
      <p:sp>
        <p:nvSpPr>
          <p:cNvPr id="25" name="Shape 22"/>
          <p:cNvSpPr/>
          <p:nvPr/>
        </p:nvSpPr>
        <p:spPr>
          <a:xfrm flipH="1">
            <a:off x="9660636" y="3337560"/>
            <a:ext cx="1426464" cy="320040"/>
          </a:xfrm>
          <a:prstGeom prst="line">
            <a:avLst/>
          </a:prstGeom>
          <a:noFill/>
          <a:ln w="17780">
            <a:solidFill>
              <a:srgbClr val="B7B7BE"/>
            </a:solidFill>
            <a:prstDash val="solid"/>
            <a:tailEnd type="triangle"/>
          </a:ln>
        </p:spPr>
      </p:sp>
      <p:sp>
        <p:nvSpPr>
          <p:cNvPr id="26" name="Shape 23"/>
          <p:cNvSpPr/>
          <p:nvPr/>
        </p:nvSpPr>
        <p:spPr>
          <a:xfrm>
            <a:off x="8106156" y="3657600"/>
            <a:ext cx="3108960" cy="411480"/>
          </a:xfrm>
          <a:prstGeom prst="roundRect">
            <a:avLst>
              <a:gd name="adj" fmla="val 11111"/>
            </a:avLst>
          </a:prstGeom>
          <a:solidFill>
            <a:srgbClr val="FFFFFF"/>
          </a:solidFill>
          <a:ln w="12700">
            <a:solidFill>
              <a:srgbClr val="1A1A24"/>
            </a:solidFill>
            <a:prstDash val="solid"/>
          </a:ln>
        </p:spPr>
      </p:sp>
      <p:sp>
        <p:nvSpPr>
          <p:cNvPr id="27" name="Text 24"/>
          <p:cNvSpPr/>
          <p:nvPr/>
        </p:nvSpPr>
        <p:spPr>
          <a:xfrm>
            <a:off x="8151876" y="3657600"/>
            <a:ext cx="3017520" cy="4114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A1A24"/>
                </a:solidFill>
                <a:latin typeface="Calibri" pitchFamily="34" charset="0"/>
                <a:ea typeface="Calibri" pitchFamily="34" charset="-122"/>
                <a:cs typeface="Calibri" pitchFamily="34" charset="-120"/>
              </a:rPr>
              <a:t>RESPONSE</a:t>
            </a:r>
            <a:endParaRPr lang="en-US" sz="1100" dirty="0"/>
          </a:p>
        </p:txBody>
      </p:sp>
      <p:sp>
        <p:nvSpPr>
          <p:cNvPr id="28" name="Shape 25"/>
          <p:cNvSpPr/>
          <p:nvPr/>
        </p:nvSpPr>
        <p:spPr>
          <a:xfrm>
            <a:off x="7635240" y="4206240"/>
            <a:ext cx="4050792" cy="1234440"/>
          </a:xfrm>
          <a:prstGeom prst="roundRect">
            <a:avLst>
              <a:gd name="adj" fmla="val 4444"/>
            </a:avLst>
          </a:prstGeom>
          <a:solidFill>
            <a:srgbClr val="43424B"/>
          </a:solidFill>
          <a:ln w="12700">
            <a:solidFill>
              <a:srgbClr val="B7B7BE"/>
            </a:solidFill>
            <a:prstDash val="solid"/>
          </a:ln>
        </p:spPr>
      </p:sp>
      <p:sp>
        <p:nvSpPr>
          <p:cNvPr id="29" name="Text 26"/>
          <p:cNvSpPr/>
          <p:nvPr/>
        </p:nvSpPr>
        <p:spPr>
          <a:xfrm>
            <a:off x="7680960" y="4206240"/>
            <a:ext cx="3959352" cy="1234440"/>
          </a:xfrm>
          <a:prstGeom prst="rect">
            <a:avLst/>
          </a:prstGeom>
          <a:noFill/>
          <a:ln/>
        </p:spPr>
        <p:txBody>
          <a:bodyPr wrap="square" lIns="0" tIns="0" rIns="0" bIns="0" rtlCol="0" anchor="ctr">
            <a:normAutofit/>
          </a:bodyPr>
          <a:lstStyle/>
          <a:p>
            <a:pPr algn="ctr" indent="0" marL="0">
              <a:lnSpc>
                <a:spcPct val="95000"/>
              </a:lnSpc>
              <a:buNone/>
            </a:pPr>
            <a:r>
              <a:rPr lang="en-US" sz="870" dirty="0">
                <a:solidFill>
                  <a:srgbClr val="E8E8EA"/>
                </a:solidFill>
                <a:latin typeface="Calibri" pitchFamily="34" charset="0"/>
                <a:ea typeface="Calibri" pitchFamily="34" charset="-122"/>
                <a:cs typeface="Calibri" pitchFamily="34" charset="-120"/>
              </a:rPr>
              <a:t>Model Router can route by Balanced, Cost or Quality modes across eligible OpenAI, Anthropic and OSS models. Claude models must be deployed to the same Foundry resource before the router can select them.</a:t>
            </a:r>
            <a:endParaRPr lang="en-US" sz="870" dirty="0"/>
          </a:p>
        </p:txBody>
      </p:sp>
      <p:sp>
        <p:nvSpPr>
          <p:cNvPr id="30" name="Shape 27"/>
          <p:cNvSpPr/>
          <p:nvPr/>
        </p:nvSpPr>
        <p:spPr>
          <a:xfrm>
            <a:off x="502920" y="5806440"/>
            <a:ext cx="10378440" cy="777240"/>
          </a:xfrm>
          <a:prstGeom prst="roundRect">
            <a:avLst>
              <a:gd name="adj" fmla="val 7059"/>
            </a:avLst>
          </a:prstGeom>
          <a:solidFill>
            <a:srgbClr val="FFE600"/>
          </a:solidFill>
          <a:ln w="12700">
            <a:solidFill>
              <a:srgbClr val="1A1A24"/>
            </a:solidFill>
            <a:prstDash val="solid"/>
          </a:ln>
        </p:spPr>
      </p:sp>
      <p:sp>
        <p:nvSpPr>
          <p:cNvPr id="31" name="Text 28"/>
          <p:cNvSpPr/>
          <p:nvPr/>
        </p:nvSpPr>
        <p:spPr>
          <a:xfrm>
            <a:off x="548640" y="5806440"/>
            <a:ext cx="10287000" cy="777240"/>
          </a:xfrm>
          <a:prstGeom prst="rect">
            <a:avLst/>
          </a:prstGeom>
          <a:noFill/>
          <a:ln/>
        </p:spPr>
        <p:txBody>
          <a:bodyPr wrap="square" lIns="0" tIns="0" rIns="0" bIns="0" rtlCol="0" anchor="ctr">
            <a:normAutofit/>
          </a:bodyPr>
          <a:lstStyle/>
          <a:p>
            <a:pPr algn="ctr" indent="0" marL="0">
              <a:lnSpc>
                <a:spcPct val="95000"/>
              </a:lnSpc>
              <a:buNone/>
            </a:pPr>
            <a:r>
              <a:rPr lang="en-US" sz="1150" b="1" dirty="0">
                <a:solidFill>
                  <a:srgbClr val="1A1A24"/>
                </a:solidFill>
                <a:latin typeface="Calibri" pitchFamily="34" charset="0"/>
                <a:ea typeface="Calibri" pitchFamily="34" charset="-122"/>
                <a:cs typeface="Calibri" pitchFamily="34" charset="-120"/>
              </a:rPr>
              <a:t>Use Foundry as the enterprise AI platform; select the model based on workload evaluation rather than assuming one model is best for every task.</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2026-09-02T11:07:52Z</dcterms:created>
  <dcterms:modified xsi:type="dcterms:W3CDTF">2026-09-02T11:07:52Z</dcterms:modified>
</cp:coreProperties>
</file>