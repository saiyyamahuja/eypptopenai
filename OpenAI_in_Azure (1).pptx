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understanding is that OpenAI provides the model capability, while Microsoft Foundry acts as the broader AI platform where we can manage models, agents, tools and governance. For an enterprise implementation, the model is only one part of the complete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we are not blindly recommending Azure for everything — the choice depends on whether the workload needs enterprise Azure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deployment is more than just selecting GPT. We first create the Azure and Foundry environment, define the workload boundary, configure access using Entra ID and RBAC, deploy the model, connect data and tools, and finally monitor and govern the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OpenAI model is the intelligence layer, but the production solution is built around it using Azure services: WAF and APIM protect and govern traffic, the application/agent layer holds business logic, Foundry and Azure AI Search provide the platform and retrieval, and the enterprise foundation provides identity, security, networking, monitoring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an actual enterprise use case rather than just the model — RAG allows OpenAI to answer using enterprise knowledge without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regulated workloads, we cannot just ask where the model is hosted. We need to understand where prompts are processed, where data is stored, and what deployment configuration is being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approach: use Microsoft Foundry as the enterprise AI platform, select OpenAI models based on workload requirements, integrate Azure AI Search for enterprise knowledge, and use Azure security and governance services as the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320040"/>
            <a:ext cx="731520" cy="384048"/>
          </a:xfrm>
          <a:prstGeom prst="rect">
            <a:avLst/>
          </a:prstGeom>
          <a:solidFill>
            <a:srgbClr val="FFE600"/>
          </a:solidFill>
          <a:ln w="12700">
            <a:solidFill>
              <a:srgbClr val="FFE600"/>
            </a:solidFill>
            <a:prstDash val="solid"/>
          </a:ln>
        </p:spPr>
      </p:sp>
      <p:sp>
        <p:nvSpPr>
          <p:cNvPr id="3" name="Text 1"/>
          <p:cNvSpPr/>
          <p:nvPr/>
        </p:nvSpPr>
        <p:spPr>
          <a:xfrm>
            <a:off x="11137392" y="320040"/>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OpenAI in Azure</a:t>
            </a:r>
            <a:endParaRPr lang="en-US" sz="3800" dirty="0"/>
          </a:p>
        </p:txBody>
      </p:sp>
      <p:sp>
        <p:nvSpPr>
          <p:cNvPr id="5" name="Text 3"/>
          <p:cNvSpPr/>
          <p:nvPr/>
        </p:nvSpPr>
        <p:spPr>
          <a:xfrm>
            <a:off x="640080" y="1188720"/>
            <a:ext cx="10881360" cy="411480"/>
          </a:xfrm>
          <a:prstGeom prst="rect">
            <a:avLst/>
          </a:prstGeom>
          <a:noFill/>
          <a:ln/>
        </p:spPr>
        <p:txBody>
          <a:bodyPr wrap="square" lIns="0" tIns="0" rIns="0" bIns="0" rtlCol="0" anchor="ctr"/>
          <a:lstStyle/>
          <a:p>
            <a:pPr indent="0" marL="0">
              <a:buNone/>
            </a:pPr>
            <a:r>
              <a:rPr lang="en-US" sz="1600" i="1" dirty="0">
                <a:solidFill>
                  <a:srgbClr val="E8E8EA"/>
                </a:solidFill>
                <a:latin typeface="Calibri" pitchFamily="34" charset="0"/>
                <a:ea typeface="Calibri" pitchFamily="34" charset="-122"/>
                <a:cs typeface="Calibri" pitchFamily="34" charset="-120"/>
              </a:rPr>
              <a:t>Enterprise Implementation Overview  —  Where does it fit?</a:t>
            </a:r>
            <a:endParaRPr lang="en-US" sz="1600" dirty="0"/>
          </a:p>
        </p:txBody>
      </p:sp>
      <p:sp>
        <p:nvSpPr>
          <p:cNvPr id="6" name="Shape 4"/>
          <p:cNvSpPr/>
          <p:nvPr/>
        </p:nvSpPr>
        <p:spPr>
          <a:xfrm>
            <a:off x="822960" y="1965960"/>
            <a:ext cx="4297680" cy="566928"/>
          </a:xfrm>
          <a:prstGeom prst="roundRect">
            <a:avLst>
              <a:gd name="adj" fmla="val 9677"/>
            </a:avLst>
          </a:prstGeom>
          <a:solidFill>
            <a:srgbClr val="FFFFFF"/>
          </a:solidFill>
          <a:ln w="12700">
            <a:solidFill>
              <a:srgbClr val="1A1A24"/>
            </a:solidFill>
            <a:prstDash val="solid"/>
          </a:ln>
        </p:spPr>
      </p:sp>
      <p:sp>
        <p:nvSpPr>
          <p:cNvPr id="7" name="Text 5"/>
          <p:cNvSpPr/>
          <p:nvPr/>
        </p:nvSpPr>
        <p:spPr>
          <a:xfrm>
            <a:off x="877824" y="1965960"/>
            <a:ext cx="4187952" cy="56692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User / Business Application</a:t>
            </a:r>
            <a:endParaRPr lang="en-US" sz="1250" dirty="0"/>
          </a:p>
        </p:txBody>
      </p:sp>
      <p:sp>
        <p:nvSpPr>
          <p:cNvPr id="8" name="Shape 6"/>
          <p:cNvSpPr/>
          <p:nvPr/>
        </p:nvSpPr>
        <p:spPr>
          <a:xfrm>
            <a:off x="2971800" y="2532888"/>
            <a:ext cx="0" cy="301752"/>
          </a:xfrm>
          <a:prstGeom prst="line">
            <a:avLst/>
          </a:prstGeom>
          <a:noFill/>
          <a:ln w="22225">
            <a:solidFill>
              <a:srgbClr val="E8E8EA"/>
            </a:solidFill>
            <a:prstDash val="solid"/>
            <a:tailEnd type="triangle"/>
          </a:ln>
        </p:spPr>
      </p:sp>
      <p:sp>
        <p:nvSpPr>
          <p:cNvPr id="9" name="Shape 7"/>
          <p:cNvSpPr/>
          <p:nvPr/>
        </p:nvSpPr>
        <p:spPr>
          <a:xfrm>
            <a:off x="822960" y="2834640"/>
            <a:ext cx="4297680" cy="566928"/>
          </a:xfrm>
          <a:prstGeom prst="roundRect">
            <a:avLst>
              <a:gd name="adj" fmla="val 9677"/>
            </a:avLst>
          </a:prstGeom>
          <a:solidFill>
            <a:srgbClr val="FFFFFF"/>
          </a:solidFill>
          <a:ln w="12700">
            <a:solidFill>
              <a:srgbClr val="1A1A24"/>
            </a:solidFill>
            <a:prstDash val="solid"/>
          </a:ln>
        </p:spPr>
      </p:sp>
      <p:sp>
        <p:nvSpPr>
          <p:cNvPr id="10" name="Text 8"/>
          <p:cNvSpPr/>
          <p:nvPr/>
        </p:nvSpPr>
        <p:spPr>
          <a:xfrm>
            <a:off x="877824" y="2834640"/>
            <a:ext cx="4187952" cy="56692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Application / Agent Layer</a:t>
            </a:r>
            <a:endParaRPr lang="en-US" sz="1250" dirty="0"/>
          </a:p>
        </p:txBody>
      </p:sp>
      <p:sp>
        <p:nvSpPr>
          <p:cNvPr id="11" name="Shape 9"/>
          <p:cNvSpPr/>
          <p:nvPr/>
        </p:nvSpPr>
        <p:spPr>
          <a:xfrm>
            <a:off x="2971800" y="3401568"/>
            <a:ext cx="0" cy="301752"/>
          </a:xfrm>
          <a:prstGeom prst="line">
            <a:avLst/>
          </a:prstGeom>
          <a:noFill/>
          <a:ln w="22225">
            <a:solidFill>
              <a:srgbClr val="E8E8EA"/>
            </a:solidFill>
            <a:prstDash val="solid"/>
            <a:tailEnd type="triangle"/>
          </a:ln>
        </p:spPr>
      </p:sp>
      <p:sp>
        <p:nvSpPr>
          <p:cNvPr id="12" name="Shape 10"/>
          <p:cNvSpPr/>
          <p:nvPr/>
        </p:nvSpPr>
        <p:spPr>
          <a:xfrm>
            <a:off x="822960" y="3703320"/>
            <a:ext cx="4297680" cy="566928"/>
          </a:xfrm>
          <a:prstGeom prst="roundRect">
            <a:avLst>
              <a:gd name="adj" fmla="val 9677"/>
            </a:avLst>
          </a:prstGeom>
          <a:solidFill>
            <a:srgbClr val="FFE600"/>
          </a:solidFill>
          <a:ln w="12700">
            <a:solidFill>
              <a:srgbClr val="1A1A24"/>
            </a:solidFill>
            <a:prstDash val="solid"/>
          </a:ln>
        </p:spPr>
      </p:sp>
      <p:sp>
        <p:nvSpPr>
          <p:cNvPr id="13" name="Text 11"/>
          <p:cNvSpPr/>
          <p:nvPr/>
        </p:nvSpPr>
        <p:spPr>
          <a:xfrm>
            <a:off x="877824" y="3703320"/>
            <a:ext cx="4187952" cy="566928"/>
          </a:xfrm>
          <a:prstGeom prst="rect">
            <a:avLst/>
          </a:prstGeom>
          <a:noFill/>
          <a:ln/>
        </p:spPr>
        <p:txBody>
          <a:bodyPr wrap="square" lIns="0" tIns="0" rIns="0" bIns="0" rtlCol="0" anchor="ctr">
            <a:normAutofit/>
          </a:bodyPr>
          <a:lstStyle/>
          <a:p>
            <a:pPr algn="ctr" indent="0" marL="0">
              <a:buNone/>
            </a:pPr>
            <a:r>
              <a:rPr lang="en-US" sz="1350" b="1" dirty="0">
                <a:solidFill>
                  <a:srgbClr val="1A1A24"/>
                </a:solidFill>
                <a:latin typeface="Calibri" pitchFamily="34" charset="0"/>
                <a:ea typeface="Calibri" pitchFamily="34" charset="-122"/>
                <a:cs typeface="Calibri" pitchFamily="34" charset="-120"/>
              </a:rPr>
              <a:t>Microsoft Foundry</a:t>
            </a:r>
            <a:endParaRPr lang="en-US" sz="1350" dirty="0"/>
          </a:p>
        </p:txBody>
      </p:sp>
      <p:sp>
        <p:nvSpPr>
          <p:cNvPr id="14" name="Shape 12"/>
          <p:cNvSpPr/>
          <p:nvPr/>
        </p:nvSpPr>
        <p:spPr>
          <a:xfrm flipH="1">
            <a:off x="1828800" y="4270248"/>
            <a:ext cx="1143000" cy="347472"/>
          </a:xfrm>
          <a:prstGeom prst="line">
            <a:avLst/>
          </a:prstGeom>
          <a:noFill/>
          <a:ln w="19050">
            <a:solidFill>
              <a:srgbClr val="E8E8EA"/>
            </a:solidFill>
            <a:prstDash val="solid"/>
            <a:tailEnd type="triangle"/>
          </a:ln>
        </p:spPr>
      </p:sp>
      <p:sp>
        <p:nvSpPr>
          <p:cNvPr id="15" name="Shape 13"/>
          <p:cNvSpPr/>
          <p:nvPr/>
        </p:nvSpPr>
        <p:spPr>
          <a:xfrm>
            <a:off x="2971800" y="4270248"/>
            <a:ext cx="1143000" cy="347472"/>
          </a:xfrm>
          <a:prstGeom prst="line">
            <a:avLst/>
          </a:prstGeom>
          <a:noFill/>
          <a:ln w="19050">
            <a:solidFill>
              <a:srgbClr val="E8E8EA"/>
            </a:solidFill>
            <a:prstDash val="solid"/>
            <a:tailEnd type="triangle"/>
          </a:ln>
        </p:spPr>
      </p:sp>
      <p:sp>
        <p:nvSpPr>
          <p:cNvPr id="16" name="Shape 14"/>
          <p:cNvSpPr/>
          <p:nvPr/>
        </p:nvSpPr>
        <p:spPr>
          <a:xfrm>
            <a:off x="822960" y="4617720"/>
            <a:ext cx="2011680" cy="566928"/>
          </a:xfrm>
          <a:prstGeom prst="roundRect">
            <a:avLst>
              <a:gd name="adj" fmla="val 9677"/>
            </a:avLst>
          </a:prstGeom>
          <a:solidFill>
            <a:srgbClr val="43424B"/>
          </a:solidFill>
          <a:ln w="12700">
            <a:solidFill>
              <a:srgbClr val="1A1A24"/>
            </a:solidFill>
            <a:prstDash val="solid"/>
          </a:ln>
        </p:spPr>
      </p:sp>
      <p:sp>
        <p:nvSpPr>
          <p:cNvPr id="17" name="Text 15"/>
          <p:cNvSpPr/>
          <p:nvPr/>
        </p:nvSpPr>
        <p:spPr>
          <a:xfrm>
            <a:off x="877824" y="4617720"/>
            <a:ext cx="1901952" cy="56692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OpenAI Models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GPT etc.</a:t>
            </a:r>
            <a:endParaRPr lang="en-US" sz="1150" dirty="0"/>
          </a:p>
        </p:txBody>
      </p:sp>
      <p:sp>
        <p:nvSpPr>
          <p:cNvPr id="18" name="Shape 16"/>
          <p:cNvSpPr/>
          <p:nvPr/>
        </p:nvSpPr>
        <p:spPr>
          <a:xfrm>
            <a:off x="3108960" y="4617720"/>
            <a:ext cx="2011680" cy="566928"/>
          </a:xfrm>
          <a:prstGeom prst="roundRect">
            <a:avLst>
              <a:gd name="adj" fmla="val 9677"/>
            </a:avLst>
          </a:prstGeom>
          <a:solidFill>
            <a:srgbClr val="43424B"/>
          </a:solidFill>
          <a:ln w="12700">
            <a:solidFill>
              <a:srgbClr val="1A1A24"/>
            </a:solidFill>
            <a:prstDash val="solid"/>
          </a:ln>
        </p:spPr>
      </p:sp>
      <p:sp>
        <p:nvSpPr>
          <p:cNvPr id="19" name="Text 17"/>
          <p:cNvSpPr/>
          <p:nvPr/>
        </p:nvSpPr>
        <p:spPr>
          <a:xfrm>
            <a:off x="3163824" y="4617720"/>
            <a:ext cx="1901952" cy="56692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Other Models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Claude etc.</a:t>
            </a:r>
            <a:endParaRPr lang="en-US" sz="1150" dirty="0"/>
          </a:p>
        </p:txBody>
      </p:sp>
      <p:sp>
        <p:nvSpPr>
          <p:cNvPr id="20" name="Text 18"/>
          <p:cNvSpPr/>
          <p:nvPr/>
        </p:nvSpPr>
        <p:spPr>
          <a:xfrm>
            <a:off x="822960" y="5349240"/>
            <a:ext cx="4297680" cy="502920"/>
          </a:xfrm>
          <a:prstGeom prst="rect">
            <a:avLst/>
          </a:prstGeom>
          <a:noFill/>
          <a:ln/>
        </p:spPr>
        <p:txBody>
          <a:bodyPr wrap="square" lIns="0" tIns="0" rIns="0" bIns="0" rtlCol="0" anchor="ctr"/>
          <a:lstStyle/>
          <a:p>
            <a:pPr algn="ctr" indent="0" marL="0">
              <a:buNone/>
            </a:pPr>
            <a:r>
              <a:rPr lang="en-US" sz="1050" i="1" dirty="0">
                <a:solidFill>
                  <a:srgbClr val="E8E8EA"/>
                </a:solidFill>
                <a:latin typeface="Calibri" pitchFamily="34" charset="0"/>
                <a:ea typeface="Calibri" pitchFamily="34" charset="-122"/>
                <a:cs typeface="Calibri" pitchFamily="34" charset="-120"/>
              </a:rPr>
              <a:t>Foundry supports models, agents, tools, evaluation, monitoring &amp; governance.</a:t>
            </a:r>
            <a:endParaRPr lang="en-US" sz="1050" dirty="0"/>
          </a:p>
        </p:txBody>
      </p:sp>
      <p:sp>
        <p:nvSpPr>
          <p:cNvPr id="21" name="Text 19"/>
          <p:cNvSpPr/>
          <p:nvPr/>
        </p:nvSpPr>
        <p:spPr>
          <a:xfrm>
            <a:off x="5440680" y="1965960"/>
            <a:ext cx="6126480" cy="411480"/>
          </a:xfrm>
          <a:prstGeom prst="rect">
            <a:avLst/>
          </a:prstGeom>
          <a:noFill/>
          <a:ln/>
        </p:spPr>
        <p:txBody>
          <a:bodyPr wrap="square" lIns="0" tIns="0" rIns="0" bIns="0" rtlCol="0" anchor="ctr"/>
          <a:lstStyle/>
          <a:p>
            <a:pPr indent="0" marL="0">
              <a:buNone/>
            </a:pPr>
            <a:r>
              <a:rPr lang="en-US" sz="1800" b="1" dirty="0">
                <a:solidFill>
                  <a:srgbClr val="FFE600"/>
                </a:solidFill>
                <a:latin typeface="Cambria" pitchFamily="34" charset="0"/>
                <a:ea typeface="Cambria" pitchFamily="34" charset="-122"/>
                <a:cs typeface="Cambria" pitchFamily="34" charset="-120"/>
              </a:rPr>
              <a:t>Key Points</a:t>
            </a:r>
            <a:endParaRPr lang="en-US" sz="1800" dirty="0"/>
          </a:p>
        </p:txBody>
      </p:sp>
      <p:sp>
        <p:nvSpPr>
          <p:cNvPr id="22" name="Text 20"/>
          <p:cNvSpPr/>
          <p:nvPr/>
        </p:nvSpPr>
        <p:spPr>
          <a:xfrm>
            <a:off x="5440680" y="2468880"/>
            <a:ext cx="6126480" cy="3108960"/>
          </a:xfrm>
          <a:prstGeom prst="rect">
            <a:avLst/>
          </a:prstGeom>
          <a:noFill/>
          <a:ln/>
        </p:spPr>
        <p:txBody>
          <a:bodyPr wrap="square" lIns="0" tIns="0" rIns="0" bIns="0" rtlCol="0" anchor="t"/>
          <a:lstStyle/>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OpenAI models provide the AI intelligence.</a:t>
            </a:r>
            <a:endParaRPr lang="en-US" sz="1400" dirty="0"/>
          </a:p>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Microsoft Foundry provides the broader platform to build and manage AI applications.</a:t>
            </a:r>
            <a:endParaRPr lang="en-US" sz="1400" dirty="0"/>
          </a:p>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Foundry supports models, agents, tools, evaluation, monitoring and governance.</a:t>
            </a:r>
            <a:endParaRPr lang="en-US" sz="1400" dirty="0"/>
          </a:p>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OpenAI should be viewed as part of the overall enterprise AI architecture, not as a standalone component.</a:t>
            </a:r>
            <a:endParaRPr lang="en-US" sz="1400" dirty="0"/>
          </a:p>
        </p:txBody>
      </p:sp>
      <p:sp>
        <p:nvSpPr>
          <p:cNvPr id="23" name="Shape 21"/>
          <p:cNvSpPr/>
          <p:nvPr/>
        </p:nvSpPr>
        <p:spPr>
          <a:xfrm>
            <a:off x="5440680" y="5623560"/>
            <a:ext cx="6126480" cy="868680"/>
          </a:xfrm>
          <a:prstGeom prst="roundRect">
            <a:avLst>
              <a:gd name="adj" fmla="val 8421"/>
            </a:avLst>
          </a:prstGeom>
          <a:solidFill>
            <a:srgbClr val="43424B"/>
          </a:solidFill>
          <a:ln w="6350">
            <a:solidFill>
              <a:srgbClr val="FFFFFF"/>
            </a:solidFill>
            <a:prstDash val="solid"/>
          </a:ln>
        </p:spPr>
      </p:sp>
      <p:sp>
        <p:nvSpPr>
          <p:cNvPr id="24" name="Text 22"/>
          <p:cNvSpPr/>
          <p:nvPr/>
        </p:nvSpPr>
        <p:spPr>
          <a:xfrm>
            <a:off x="5495544" y="5623560"/>
            <a:ext cx="6016752" cy="868680"/>
          </a:xfrm>
          <a:prstGeom prst="rect">
            <a:avLst/>
          </a:prstGeom>
          <a:noFill/>
          <a:ln/>
        </p:spPr>
        <p:txBody>
          <a:bodyPr wrap="square" lIns="0" tIns="0" rIns="0" bIns="0" rtlCol="0" anchor="ctr">
            <a:normAutofit/>
          </a:bodyPr>
          <a:lstStyle/>
          <a:p>
            <a:pPr algn="ctr" indent="0" marL="0">
              <a:buNone/>
            </a:pPr>
            <a:r>
              <a:rPr lang="en-US" sz="1150" dirty="0">
                <a:solidFill>
                  <a:srgbClr val="E8E8EA"/>
                </a:solidFill>
                <a:latin typeface="Calibri" pitchFamily="34" charset="0"/>
                <a:ea typeface="Calibri" pitchFamily="34" charset="-122"/>
                <a:cs typeface="Calibri" pitchFamily="34" charset="-120"/>
              </a:rPr>
              <a:t>“The model is only one part of the complete architecture — Foundry is where we manage models, agents, tools and governance.”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8"/>
        </a:solidFill>
      </p:bgPr>
    </p:bg>
    <p:spTree>
      <p:nvGrpSpPr>
        <p:cNvPr id="1" name=""/>
        <p:cNvGrpSpPr/>
        <p:nvPr/>
      </p:nvGrpSpPr>
      <p:grpSpPr>
        <a:xfrm>
          <a:off x="0" y="0"/>
          <a:ext cx="0" cy="0"/>
          <a:chOff x="0" y="0"/>
          <a:chExt cx="0" cy="0"/>
        </a:xfrm>
      </p:grpSpPr>
      <p:sp>
        <p:nvSpPr>
          <p:cNvPr id="2" name="Shape 0"/>
          <p:cNvSpPr/>
          <p:nvPr/>
        </p:nvSpPr>
        <p:spPr>
          <a:xfrm>
            <a:off x="11137392" y="320040"/>
            <a:ext cx="731520" cy="384048"/>
          </a:xfrm>
          <a:prstGeom prst="rect">
            <a:avLst/>
          </a:prstGeom>
          <a:solidFill>
            <a:srgbClr val="FFE600"/>
          </a:solidFill>
          <a:ln w="12700">
            <a:solidFill>
              <a:srgbClr val="FFE600"/>
            </a:solidFill>
            <a:prstDash val="solid"/>
          </a:ln>
        </p:spPr>
      </p:sp>
      <p:sp>
        <p:nvSpPr>
          <p:cNvPr id="3" name="Text 1"/>
          <p:cNvSpPr/>
          <p:nvPr/>
        </p:nvSpPr>
        <p:spPr>
          <a:xfrm>
            <a:off x="11137392" y="320040"/>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731520"/>
          </a:xfrm>
          <a:prstGeom prst="rect">
            <a:avLst/>
          </a:prstGeom>
          <a:noFill/>
          <a:ln/>
        </p:spPr>
        <p:txBody>
          <a:bodyPr wrap="square" lIns="0" tIns="0" rIns="0" bIns="0" rtlCol="0" anchor="ctr"/>
          <a:lstStyle/>
          <a:p>
            <a:pPr algn="l" indent="0" marL="0">
              <a:buNone/>
            </a:pPr>
            <a:r>
              <a:rPr lang="en-US" sz="3000" b="1" dirty="0">
                <a:solidFill>
                  <a:srgbClr val="1A1A24"/>
                </a:solidFill>
                <a:latin typeface="Cambria" pitchFamily="34" charset="0"/>
                <a:ea typeface="Cambria" pitchFamily="34" charset="-122"/>
                <a:cs typeface="Cambria" pitchFamily="34" charset="-120"/>
              </a:rPr>
              <a:t>OpenAI Direct vs. Azure / Microsoft Foundry</a:t>
            </a:r>
            <a:endParaRPr lang="en-US" sz="3000" dirty="0"/>
          </a:p>
        </p:txBody>
      </p:sp>
      <p:sp>
        <p:nvSpPr>
          <p:cNvPr id="5" name="Text 3"/>
          <p:cNvSpPr/>
          <p:nvPr/>
        </p:nvSpPr>
        <p:spPr>
          <a:xfrm>
            <a:off x="548640" y="1051560"/>
            <a:ext cx="11091672" cy="365760"/>
          </a:xfrm>
          <a:prstGeom prst="rect">
            <a:avLst/>
          </a:prstGeom>
          <a:noFill/>
          <a:ln/>
        </p:spPr>
        <p:txBody>
          <a:bodyPr wrap="square" lIns="0" tIns="0" rIns="0" bIns="0" rtlCol="0" anchor="ctr"/>
          <a:lstStyle/>
          <a:p>
            <a:pPr algn="l" indent="0" marL="0">
              <a:buNone/>
            </a:pPr>
            <a:r>
              <a:rPr lang="en-US" sz="1400" i="1" dirty="0">
                <a:solidFill>
                  <a:srgbClr val="6F6F77"/>
                </a:solidFill>
                <a:latin typeface="Calibri" pitchFamily="34" charset="0"/>
                <a:ea typeface="Calibri" pitchFamily="34" charset="-122"/>
                <a:cs typeface="Calibri" pitchFamily="34" charset="-120"/>
              </a:rPr>
              <a:t>When to use provider infrastructure vs. Azure infrastructure</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3566160"/>
        </p:xfrm>
        <a:graphic>
          <a:graphicData uri="http://schemas.openxmlformats.org/drawingml/2006/table">
            <a:tbl>
              <a:tblPr/>
              <a:tblGrid>
                <a:gridCol w="2404872"/>
                <a:gridCol w="4343400"/>
                <a:gridCol w="4343400"/>
              </a:tblGrid>
              <a:tr h="445770">
                <a:tc>
                  <a:txBody>
                    <a:bodyPr/>
                    <a:lstStyle/>
                    <a:p>
                      <a:pPr algn="l" indent="0" marL="0">
                        <a:buNone/>
                      </a:pP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OpenAI Direct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2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Azure / Microsoft Foundry</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24"/>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Direct model consumption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Enterprise Azure workloads</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OpenAI authentication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Entra ID + Azure RBAC</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Networking</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Provider-managed</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VNet + Private Endpoint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Enterprise data</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Custom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Azure-native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RAG</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Custom setup</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Azure AI Search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Governance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OpenAI platform controls</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Azure Policy + Azure Monitor</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Landing Zone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Outside Azure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Native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r>
            </a:tbl>
          </a:graphicData>
        </a:graphic>
      </p:graphicFrame>
      <p:sp>
        <p:nvSpPr>
          <p:cNvPr id="7" name="Shape 4"/>
          <p:cNvSpPr/>
          <p:nvPr/>
        </p:nvSpPr>
        <p:spPr>
          <a:xfrm>
            <a:off x="548640" y="5394960"/>
            <a:ext cx="11091672" cy="1005840"/>
          </a:xfrm>
          <a:prstGeom prst="roundRect">
            <a:avLst>
              <a:gd name="adj" fmla="val 7273"/>
            </a:avLst>
          </a:prstGeom>
          <a:solidFill>
            <a:srgbClr val="FFE600"/>
          </a:solidFill>
          <a:ln w="12700">
            <a:solidFill>
              <a:srgbClr val="FFFFFF"/>
            </a:solidFill>
            <a:prstDash val="solid"/>
          </a:ln>
        </p:spPr>
      </p:sp>
      <p:sp>
        <p:nvSpPr>
          <p:cNvPr id="8" name="Text 5"/>
          <p:cNvSpPr/>
          <p:nvPr/>
        </p:nvSpPr>
        <p:spPr>
          <a:xfrm>
            <a:off x="603504" y="5394960"/>
            <a:ext cx="10981944" cy="1005840"/>
          </a:xfrm>
          <a:prstGeom prst="rect">
            <a:avLst/>
          </a:prstGeom>
          <a:noFill/>
          <a:ln/>
        </p:spPr>
        <p:txBody>
          <a:bodyPr wrap="square" lIns="0" tIns="0" rIns="0" bIns="0" rtlCol="0" anchor="ctr">
            <a:normAutofit/>
          </a:bodyPr>
          <a:lstStyle/>
          <a:p>
            <a:pPr algn="ctr" indent="0" marL="0">
              <a:buNone/>
            </a:pPr>
            <a:r>
              <a:rPr lang="en-US" sz="1350" b="1" dirty="0">
                <a:solidFill>
                  <a:srgbClr val="1A1A24"/>
                </a:solidFill>
                <a:latin typeface="Calibri" pitchFamily="34" charset="0"/>
                <a:ea typeface="Calibri" pitchFamily="34" charset="-122"/>
                <a:cs typeface="Calibri" pitchFamily="34" charset="-120"/>
              </a:rPr>
              <a:t>Recommendation:  Use OpenAI directly when simple, direct consumption of OpenAI capabilities is the priority. Use Azure / Foundry when the workload needs to integrate with enterprise Azure identity, networking, governance and data services.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8"/>
        </a:solidFill>
      </p:bgPr>
    </p:bg>
    <p:spTree>
      <p:nvGrpSpPr>
        <p:cNvPr id="1" name=""/>
        <p:cNvGrpSpPr/>
        <p:nvPr/>
      </p:nvGrpSpPr>
      <p:grpSpPr>
        <a:xfrm>
          <a:off x="0" y="0"/>
          <a:ext cx="0" cy="0"/>
          <a:chOff x="0" y="0"/>
          <a:chExt cx="0" cy="0"/>
        </a:xfrm>
      </p:grpSpPr>
      <p:sp>
        <p:nvSpPr>
          <p:cNvPr id="2" name="Shape 0"/>
          <p:cNvSpPr/>
          <p:nvPr/>
        </p:nvSpPr>
        <p:spPr>
          <a:xfrm>
            <a:off x="11137392" y="320040"/>
            <a:ext cx="731520" cy="384048"/>
          </a:xfrm>
          <a:prstGeom prst="rect">
            <a:avLst/>
          </a:prstGeom>
          <a:solidFill>
            <a:srgbClr val="FFE600"/>
          </a:solidFill>
          <a:ln w="12700">
            <a:solidFill>
              <a:srgbClr val="FFE600"/>
            </a:solidFill>
            <a:prstDash val="solid"/>
          </a:ln>
        </p:spPr>
      </p:sp>
      <p:sp>
        <p:nvSpPr>
          <p:cNvPr id="3" name="Text 1"/>
          <p:cNvSpPr/>
          <p:nvPr/>
        </p:nvSpPr>
        <p:spPr>
          <a:xfrm>
            <a:off x="11137392" y="320040"/>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731520"/>
          </a:xfrm>
          <a:prstGeom prst="rect">
            <a:avLst/>
          </a:prstGeom>
          <a:noFill/>
          <a:ln/>
        </p:spPr>
        <p:txBody>
          <a:bodyPr wrap="square" lIns="0" tIns="0" rIns="0" bIns="0" rtlCol="0" anchor="ctr"/>
          <a:lstStyle/>
          <a:p>
            <a:pPr algn="l" indent="0" marL="0">
              <a:buNone/>
            </a:pPr>
            <a:r>
              <a:rPr lang="en-US" sz="3000" b="1" dirty="0">
                <a:solidFill>
                  <a:srgbClr val="1A1A24"/>
                </a:solidFill>
                <a:latin typeface="Cambria" pitchFamily="34" charset="0"/>
                <a:ea typeface="Cambria" pitchFamily="34" charset="-122"/>
                <a:cs typeface="Cambria" pitchFamily="34" charset="-120"/>
              </a:rPr>
              <a:t>How Do We Deploy OpenAI in Azure?</a:t>
            </a:r>
            <a:endParaRPr lang="en-US" sz="3000" dirty="0"/>
          </a:p>
        </p:txBody>
      </p:sp>
      <p:sp>
        <p:nvSpPr>
          <p:cNvPr id="5" name="Text 3"/>
          <p:cNvSpPr/>
          <p:nvPr/>
        </p:nvSpPr>
        <p:spPr>
          <a:xfrm>
            <a:off x="548640" y="1051560"/>
            <a:ext cx="11091672" cy="365760"/>
          </a:xfrm>
          <a:prstGeom prst="rect">
            <a:avLst/>
          </a:prstGeom>
          <a:noFill/>
          <a:ln/>
        </p:spPr>
        <p:txBody>
          <a:bodyPr wrap="square" lIns="0" tIns="0" rIns="0" bIns="0" rtlCol="0" anchor="ctr"/>
          <a:lstStyle/>
          <a:p>
            <a:pPr algn="l" indent="0" marL="0">
              <a:buNone/>
            </a:pPr>
            <a:r>
              <a:rPr lang="en-US" sz="1400" i="1" dirty="0">
                <a:solidFill>
                  <a:srgbClr val="6F6F77"/>
                </a:solidFill>
                <a:latin typeface="Calibri" pitchFamily="34" charset="0"/>
                <a:ea typeface="Calibri" pitchFamily="34" charset="-122"/>
                <a:cs typeface="Calibri" pitchFamily="34" charset="-120"/>
              </a:rPr>
              <a:t>Azure Subscription → Foundry → Select Model → Deploy</a:t>
            </a:r>
            <a:endParaRPr lang="en-US" sz="1400" dirty="0"/>
          </a:p>
        </p:txBody>
      </p:sp>
      <p:sp>
        <p:nvSpPr>
          <p:cNvPr id="6" name="Shape 4"/>
          <p:cNvSpPr/>
          <p:nvPr/>
        </p:nvSpPr>
        <p:spPr>
          <a:xfrm>
            <a:off x="822960" y="1737360"/>
            <a:ext cx="310896" cy="310896"/>
          </a:xfrm>
          <a:prstGeom prst="ellipse">
            <a:avLst/>
          </a:prstGeom>
          <a:solidFill>
            <a:srgbClr val="1A1A24"/>
          </a:solidFill>
          <a:ln w="12700">
            <a:solidFill>
              <a:srgbClr val="FFFFFF"/>
            </a:solidFill>
            <a:prstDash val="solid"/>
          </a:ln>
        </p:spPr>
      </p:sp>
      <p:sp>
        <p:nvSpPr>
          <p:cNvPr id="7" name="Text 5"/>
          <p:cNvSpPr/>
          <p:nvPr/>
        </p:nvSpPr>
        <p:spPr>
          <a:xfrm>
            <a:off x="822960" y="173736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6"/>
          <p:cNvSpPr/>
          <p:nvPr/>
        </p:nvSpPr>
        <p:spPr>
          <a:xfrm>
            <a:off x="1325880" y="1691640"/>
            <a:ext cx="5257800" cy="402336"/>
          </a:xfrm>
          <a:prstGeom prst="roundRect">
            <a:avLst>
              <a:gd name="adj" fmla="val 13636"/>
            </a:avLst>
          </a:prstGeom>
          <a:solidFill>
            <a:srgbClr val="FFFFFF"/>
          </a:solidFill>
          <a:ln w="12700">
            <a:solidFill>
              <a:srgbClr val="B7B7BE"/>
            </a:solidFill>
            <a:prstDash val="solid"/>
          </a:ln>
        </p:spPr>
      </p:sp>
      <p:sp>
        <p:nvSpPr>
          <p:cNvPr id="9" name="Text 7"/>
          <p:cNvSpPr/>
          <p:nvPr/>
        </p:nvSpPr>
        <p:spPr>
          <a:xfrm>
            <a:off x="1380744" y="1691640"/>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Azure Subscription</a:t>
            </a:r>
            <a:endParaRPr lang="en-US" sz="1250" dirty="0"/>
          </a:p>
        </p:txBody>
      </p:sp>
      <p:sp>
        <p:nvSpPr>
          <p:cNvPr id="10" name="Shape 8"/>
          <p:cNvSpPr/>
          <p:nvPr/>
        </p:nvSpPr>
        <p:spPr>
          <a:xfrm>
            <a:off x="978408" y="2093976"/>
            <a:ext cx="0" cy="91440"/>
          </a:xfrm>
          <a:prstGeom prst="line">
            <a:avLst/>
          </a:prstGeom>
          <a:noFill/>
          <a:ln w="22225">
            <a:solidFill>
              <a:srgbClr val="6F6F77"/>
            </a:solidFill>
            <a:prstDash val="solid"/>
            <a:tailEnd type="triangle"/>
          </a:ln>
        </p:spPr>
      </p:sp>
      <p:sp>
        <p:nvSpPr>
          <p:cNvPr id="11" name="Shape 9"/>
          <p:cNvSpPr/>
          <p:nvPr/>
        </p:nvSpPr>
        <p:spPr>
          <a:xfrm>
            <a:off x="822960" y="2231136"/>
            <a:ext cx="310896" cy="310896"/>
          </a:xfrm>
          <a:prstGeom prst="ellipse">
            <a:avLst/>
          </a:prstGeom>
          <a:solidFill>
            <a:srgbClr val="1A1A24"/>
          </a:solidFill>
          <a:ln w="12700">
            <a:solidFill>
              <a:srgbClr val="FFFFFF"/>
            </a:solidFill>
            <a:prstDash val="solid"/>
          </a:ln>
        </p:spPr>
      </p:sp>
      <p:sp>
        <p:nvSpPr>
          <p:cNvPr id="12" name="Text 10"/>
          <p:cNvSpPr/>
          <p:nvPr/>
        </p:nvSpPr>
        <p:spPr>
          <a:xfrm>
            <a:off x="822960" y="22311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Shape 11"/>
          <p:cNvSpPr/>
          <p:nvPr/>
        </p:nvSpPr>
        <p:spPr>
          <a:xfrm>
            <a:off x="1325880" y="2185416"/>
            <a:ext cx="5257800" cy="402336"/>
          </a:xfrm>
          <a:prstGeom prst="roundRect">
            <a:avLst>
              <a:gd name="adj" fmla="val 13636"/>
            </a:avLst>
          </a:prstGeom>
          <a:solidFill>
            <a:srgbClr val="FFFFFF"/>
          </a:solidFill>
          <a:ln w="12700">
            <a:solidFill>
              <a:srgbClr val="B7B7BE"/>
            </a:solidFill>
            <a:prstDash val="solid"/>
          </a:ln>
        </p:spPr>
      </p:sp>
      <p:sp>
        <p:nvSpPr>
          <p:cNvPr id="14" name="Text 12"/>
          <p:cNvSpPr/>
          <p:nvPr/>
        </p:nvSpPr>
        <p:spPr>
          <a:xfrm>
            <a:off x="1380744" y="2185416"/>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Microsoft Foundry</a:t>
            </a:r>
            <a:endParaRPr lang="en-US" sz="1250" dirty="0"/>
          </a:p>
        </p:txBody>
      </p:sp>
      <p:sp>
        <p:nvSpPr>
          <p:cNvPr id="15" name="Shape 13"/>
          <p:cNvSpPr/>
          <p:nvPr/>
        </p:nvSpPr>
        <p:spPr>
          <a:xfrm>
            <a:off x="978408" y="2587752"/>
            <a:ext cx="0" cy="91440"/>
          </a:xfrm>
          <a:prstGeom prst="line">
            <a:avLst/>
          </a:prstGeom>
          <a:noFill/>
          <a:ln w="22225">
            <a:solidFill>
              <a:srgbClr val="6F6F77"/>
            </a:solidFill>
            <a:prstDash val="solid"/>
            <a:tailEnd type="triangle"/>
          </a:ln>
        </p:spPr>
      </p:sp>
      <p:sp>
        <p:nvSpPr>
          <p:cNvPr id="16" name="Shape 14"/>
          <p:cNvSpPr/>
          <p:nvPr/>
        </p:nvSpPr>
        <p:spPr>
          <a:xfrm>
            <a:off x="822960" y="2724912"/>
            <a:ext cx="310896" cy="310896"/>
          </a:xfrm>
          <a:prstGeom prst="ellipse">
            <a:avLst/>
          </a:prstGeom>
          <a:solidFill>
            <a:srgbClr val="1A1A24"/>
          </a:solidFill>
          <a:ln w="12700">
            <a:solidFill>
              <a:srgbClr val="FFFFFF"/>
            </a:solidFill>
            <a:prstDash val="solid"/>
          </a:ln>
        </p:spPr>
      </p:sp>
      <p:sp>
        <p:nvSpPr>
          <p:cNvPr id="17" name="Text 15"/>
          <p:cNvSpPr/>
          <p:nvPr/>
        </p:nvSpPr>
        <p:spPr>
          <a:xfrm>
            <a:off x="82296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Shape 16"/>
          <p:cNvSpPr/>
          <p:nvPr/>
        </p:nvSpPr>
        <p:spPr>
          <a:xfrm>
            <a:off x="1325880" y="2679192"/>
            <a:ext cx="5257800" cy="402336"/>
          </a:xfrm>
          <a:prstGeom prst="roundRect">
            <a:avLst>
              <a:gd name="adj" fmla="val 13636"/>
            </a:avLst>
          </a:prstGeom>
          <a:solidFill>
            <a:srgbClr val="FFFFFF"/>
          </a:solidFill>
          <a:ln w="12700">
            <a:solidFill>
              <a:srgbClr val="B7B7BE"/>
            </a:solidFill>
            <a:prstDash val="solid"/>
          </a:ln>
        </p:spPr>
      </p:sp>
      <p:sp>
        <p:nvSpPr>
          <p:cNvPr id="19" name="Text 17"/>
          <p:cNvSpPr/>
          <p:nvPr/>
        </p:nvSpPr>
        <p:spPr>
          <a:xfrm>
            <a:off x="1380744" y="2679192"/>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Create Project</a:t>
            </a:r>
            <a:endParaRPr lang="en-US" sz="1250" dirty="0"/>
          </a:p>
        </p:txBody>
      </p:sp>
      <p:sp>
        <p:nvSpPr>
          <p:cNvPr id="20" name="Shape 18"/>
          <p:cNvSpPr/>
          <p:nvPr/>
        </p:nvSpPr>
        <p:spPr>
          <a:xfrm>
            <a:off x="978408" y="3081528"/>
            <a:ext cx="0" cy="91440"/>
          </a:xfrm>
          <a:prstGeom prst="line">
            <a:avLst/>
          </a:prstGeom>
          <a:noFill/>
          <a:ln w="22225">
            <a:solidFill>
              <a:srgbClr val="6F6F77"/>
            </a:solidFill>
            <a:prstDash val="solid"/>
            <a:tailEnd type="triangle"/>
          </a:ln>
        </p:spPr>
      </p:sp>
      <p:sp>
        <p:nvSpPr>
          <p:cNvPr id="21" name="Shape 19"/>
          <p:cNvSpPr/>
          <p:nvPr/>
        </p:nvSpPr>
        <p:spPr>
          <a:xfrm>
            <a:off x="822960" y="3218688"/>
            <a:ext cx="310896" cy="310896"/>
          </a:xfrm>
          <a:prstGeom prst="ellipse">
            <a:avLst/>
          </a:prstGeom>
          <a:solidFill>
            <a:srgbClr val="1A1A24"/>
          </a:solidFill>
          <a:ln w="12700">
            <a:solidFill>
              <a:srgbClr val="FFFFFF"/>
            </a:solidFill>
            <a:prstDash val="solid"/>
          </a:ln>
        </p:spPr>
      </p:sp>
      <p:sp>
        <p:nvSpPr>
          <p:cNvPr id="22" name="Text 20"/>
          <p:cNvSpPr/>
          <p:nvPr/>
        </p:nvSpPr>
        <p:spPr>
          <a:xfrm>
            <a:off x="822960" y="32186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Shape 21"/>
          <p:cNvSpPr/>
          <p:nvPr/>
        </p:nvSpPr>
        <p:spPr>
          <a:xfrm>
            <a:off x="1325880" y="3172968"/>
            <a:ext cx="5257800" cy="402336"/>
          </a:xfrm>
          <a:prstGeom prst="roundRect">
            <a:avLst>
              <a:gd name="adj" fmla="val 13636"/>
            </a:avLst>
          </a:prstGeom>
          <a:solidFill>
            <a:srgbClr val="FFE600"/>
          </a:solidFill>
          <a:ln w="12700">
            <a:solidFill>
              <a:srgbClr val="B7B7BE"/>
            </a:solidFill>
            <a:prstDash val="solid"/>
          </a:ln>
        </p:spPr>
      </p:sp>
      <p:sp>
        <p:nvSpPr>
          <p:cNvPr id="24" name="Text 22"/>
          <p:cNvSpPr/>
          <p:nvPr/>
        </p:nvSpPr>
        <p:spPr>
          <a:xfrm>
            <a:off x="1380744" y="3172968"/>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Configure Entra ID + RBAC</a:t>
            </a:r>
            <a:endParaRPr lang="en-US" sz="1250" dirty="0"/>
          </a:p>
        </p:txBody>
      </p:sp>
      <p:sp>
        <p:nvSpPr>
          <p:cNvPr id="25" name="Shape 23"/>
          <p:cNvSpPr/>
          <p:nvPr/>
        </p:nvSpPr>
        <p:spPr>
          <a:xfrm>
            <a:off x="978408" y="3575304"/>
            <a:ext cx="0" cy="91440"/>
          </a:xfrm>
          <a:prstGeom prst="line">
            <a:avLst/>
          </a:prstGeom>
          <a:noFill/>
          <a:ln w="22225">
            <a:solidFill>
              <a:srgbClr val="6F6F77"/>
            </a:solidFill>
            <a:prstDash val="solid"/>
            <a:tailEnd type="triangle"/>
          </a:ln>
        </p:spPr>
      </p:sp>
      <p:sp>
        <p:nvSpPr>
          <p:cNvPr id="26" name="Shape 24"/>
          <p:cNvSpPr/>
          <p:nvPr/>
        </p:nvSpPr>
        <p:spPr>
          <a:xfrm>
            <a:off x="822960" y="3712464"/>
            <a:ext cx="310896" cy="310896"/>
          </a:xfrm>
          <a:prstGeom prst="ellipse">
            <a:avLst/>
          </a:prstGeom>
          <a:solidFill>
            <a:srgbClr val="1A1A24"/>
          </a:solidFill>
          <a:ln w="12700">
            <a:solidFill>
              <a:srgbClr val="FFFFFF"/>
            </a:solidFill>
            <a:prstDash val="solid"/>
          </a:ln>
        </p:spPr>
      </p:sp>
      <p:sp>
        <p:nvSpPr>
          <p:cNvPr id="27" name="Text 25"/>
          <p:cNvSpPr/>
          <p:nvPr/>
        </p:nvSpPr>
        <p:spPr>
          <a:xfrm>
            <a:off x="822960" y="37124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Shape 26"/>
          <p:cNvSpPr/>
          <p:nvPr/>
        </p:nvSpPr>
        <p:spPr>
          <a:xfrm>
            <a:off x="1325880" y="3666744"/>
            <a:ext cx="5257800" cy="402336"/>
          </a:xfrm>
          <a:prstGeom prst="roundRect">
            <a:avLst>
              <a:gd name="adj" fmla="val 13636"/>
            </a:avLst>
          </a:prstGeom>
          <a:solidFill>
            <a:srgbClr val="FFFFFF"/>
          </a:solidFill>
          <a:ln w="12700">
            <a:solidFill>
              <a:srgbClr val="B7B7BE"/>
            </a:solidFill>
            <a:prstDash val="solid"/>
          </a:ln>
        </p:spPr>
      </p:sp>
      <p:sp>
        <p:nvSpPr>
          <p:cNvPr id="29" name="Text 27"/>
          <p:cNvSpPr/>
          <p:nvPr/>
        </p:nvSpPr>
        <p:spPr>
          <a:xfrm>
            <a:off x="1380744" y="3666744"/>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Select OpenAI Model</a:t>
            </a:r>
            <a:endParaRPr lang="en-US" sz="1250" dirty="0"/>
          </a:p>
        </p:txBody>
      </p:sp>
      <p:sp>
        <p:nvSpPr>
          <p:cNvPr id="30" name="Shape 28"/>
          <p:cNvSpPr/>
          <p:nvPr/>
        </p:nvSpPr>
        <p:spPr>
          <a:xfrm>
            <a:off x="978408" y="4069080"/>
            <a:ext cx="0" cy="91440"/>
          </a:xfrm>
          <a:prstGeom prst="line">
            <a:avLst/>
          </a:prstGeom>
          <a:noFill/>
          <a:ln w="22225">
            <a:solidFill>
              <a:srgbClr val="6F6F77"/>
            </a:solidFill>
            <a:prstDash val="solid"/>
            <a:tailEnd type="triangle"/>
          </a:ln>
        </p:spPr>
      </p:sp>
      <p:sp>
        <p:nvSpPr>
          <p:cNvPr id="31" name="Shape 29"/>
          <p:cNvSpPr/>
          <p:nvPr/>
        </p:nvSpPr>
        <p:spPr>
          <a:xfrm>
            <a:off x="822960" y="4206240"/>
            <a:ext cx="310896" cy="310896"/>
          </a:xfrm>
          <a:prstGeom prst="ellipse">
            <a:avLst/>
          </a:prstGeom>
          <a:solidFill>
            <a:srgbClr val="1A1A24"/>
          </a:solidFill>
          <a:ln w="12700">
            <a:solidFill>
              <a:srgbClr val="FFFFFF"/>
            </a:solidFill>
            <a:prstDash val="solid"/>
          </a:ln>
        </p:spPr>
      </p:sp>
      <p:sp>
        <p:nvSpPr>
          <p:cNvPr id="32" name="Text 30"/>
          <p:cNvSpPr/>
          <p:nvPr/>
        </p:nvSpPr>
        <p:spPr>
          <a:xfrm>
            <a:off x="822960" y="42062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Shape 31"/>
          <p:cNvSpPr/>
          <p:nvPr/>
        </p:nvSpPr>
        <p:spPr>
          <a:xfrm>
            <a:off x="1325880" y="4160520"/>
            <a:ext cx="5257800" cy="402336"/>
          </a:xfrm>
          <a:prstGeom prst="roundRect">
            <a:avLst>
              <a:gd name="adj" fmla="val 13636"/>
            </a:avLst>
          </a:prstGeom>
          <a:solidFill>
            <a:srgbClr val="FFFFFF"/>
          </a:solidFill>
          <a:ln w="12700">
            <a:solidFill>
              <a:srgbClr val="B7B7BE"/>
            </a:solidFill>
            <a:prstDash val="solid"/>
          </a:ln>
        </p:spPr>
      </p:sp>
      <p:sp>
        <p:nvSpPr>
          <p:cNvPr id="34" name="Text 32"/>
          <p:cNvSpPr/>
          <p:nvPr/>
        </p:nvSpPr>
        <p:spPr>
          <a:xfrm>
            <a:off x="1380744" y="4160520"/>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Deploy Model</a:t>
            </a:r>
            <a:endParaRPr lang="en-US" sz="1250" dirty="0"/>
          </a:p>
        </p:txBody>
      </p:sp>
      <p:sp>
        <p:nvSpPr>
          <p:cNvPr id="35" name="Shape 33"/>
          <p:cNvSpPr/>
          <p:nvPr/>
        </p:nvSpPr>
        <p:spPr>
          <a:xfrm>
            <a:off x="978408" y="4562856"/>
            <a:ext cx="0" cy="91440"/>
          </a:xfrm>
          <a:prstGeom prst="line">
            <a:avLst/>
          </a:prstGeom>
          <a:noFill/>
          <a:ln w="22225">
            <a:solidFill>
              <a:srgbClr val="6F6F77"/>
            </a:solidFill>
            <a:prstDash val="solid"/>
            <a:tailEnd type="triangle"/>
          </a:ln>
        </p:spPr>
      </p:sp>
      <p:sp>
        <p:nvSpPr>
          <p:cNvPr id="36" name="Shape 34"/>
          <p:cNvSpPr/>
          <p:nvPr/>
        </p:nvSpPr>
        <p:spPr>
          <a:xfrm>
            <a:off x="822960" y="4700016"/>
            <a:ext cx="310896" cy="310896"/>
          </a:xfrm>
          <a:prstGeom prst="ellipse">
            <a:avLst/>
          </a:prstGeom>
          <a:solidFill>
            <a:srgbClr val="1A1A24"/>
          </a:solidFill>
          <a:ln w="12700">
            <a:solidFill>
              <a:srgbClr val="FFFFFF"/>
            </a:solidFill>
            <a:prstDash val="solid"/>
          </a:ln>
        </p:spPr>
      </p:sp>
      <p:sp>
        <p:nvSpPr>
          <p:cNvPr id="37" name="Text 35"/>
          <p:cNvSpPr/>
          <p:nvPr/>
        </p:nvSpPr>
        <p:spPr>
          <a:xfrm>
            <a:off x="822960" y="47000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8" name="Shape 36"/>
          <p:cNvSpPr/>
          <p:nvPr/>
        </p:nvSpPr>
        <p:spPr>
          <a:xfrm>
            <a:off x="1325880" y="4654296"/>
            <a:ext cx="5257800" cy="402336"/>
          </a:xfrm>
          <a:prstGeom prst="roundRect">
            <a:avLst>
              <a:gd name="adj" fmla="val 13636"/>
            </a:avLst>
          </a:prstGeom>
          <a:solidFill>
            <a:srgbClr val="FFFFFF"/>
          </a:solidFill>
          <a:ln w="12700">
            <a:solidFill>
              <a:srgbClr val="B7B7BE"/>
            </a:solidFill>
            <a:prstDash val="solid"/>
          </a:ln>
        </p:spPr>
      </p:sp>
      <p:sp>
        <p:nvSpPr>
          <p:cNvPr id="39" name="Text 37"/>
          <p:cNvSpPr/>
          <p:nvPr/>
        </p:nvSpPr>
        <p:spPr>
          <a:xfrm>
            <a:off x="1380744" y="4654296"/>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Connect Data / Tools</a:t>
            </a:r>
            <a:endParaRPr lang="en-US" sz="1250" dirty="0"/>
          </a:p>
        </p:txBody>
      </p:sp>
      <p:sp>
        <p:nvSpPr>
          <p:cNvPr id="40" name="Shape 38"/>
          <p:cNvSpPr/>
          <p:nvPr/>
        </p:nvSpPr>
        <p:spPr>
          <a:xfrm>
            <a:off x="978408" y="5056632"/>
            <a:ext cx="0" cy="91440"/>
          </a:xfrm>
          <a:prstGeom prst="line">
            <a:avLst/>
          </a:prstGeom>
          <a:noFill/>
          <a:ln w="22225">
            <a:solidFill>
              <a:srgbClr val="6F6F77"/>
            </a:solidFill>
            <a:prstDash val="solid"/>
            <a:tailEnd type="triangle"/>
          </a:ln>
        </p:spPr>
      </p:sp>
      <p:sp>
        <p:nvSpPr>
          <p:cNvPr id="41" name="Shape 39"/>
          <p:cNvSpPr/>
          <p:nvPr/>
        </p:nvSpPr>
        <p:spPr>
          <a:xfrm>
            <a:off x="822960" y="5193792"/>
            <a:ext cx="310896" cy="310896"/>
          </a:xfrm>
          <a:prstGeom prst="ellipse">
            <a:avLst/>
          </a:prstGeom>
          <a:solidFill>
            <a:srgbClr val="1A1A24"/>
          </a:solidFill>
          <a:ln w="12700">
            <a:solidFill>
              <a:srgbClr val="FFFFFF"/>
            </a:solidFill>
            <a:prstDash val="solid"/>
          </a:ln>
        </p:spPr>
      </p:sp>
      <p:sp>
        <p:nvSpPr>
          <p:cNvPr id="42" name="Text 40"/>
          <p:cNvSpPr/>
          <p:nvPr/>
        </p:nvSpPr>
        <p:spPr>
          <a:xfrm>
            <a:off x="822960" y="51937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3" name="Shape 41"/>
          <p:cNvSpPr/>
          <p:nvPr/>
        </p:nvSpPr>
        <p:spPr>
          <a:xfrm>
            <a:off x="1325880" y="5148072"/>
            <a:ext cx="5257800" cy="402336"/>
          </a:xfrm>
          <a:prstGeom prst="roundRect">
            <a:avLst>
              <a:gd name="adj" fmla="val 13636"/>
            </a:avLst>
          </a:prstGeom>
          <a:solidFill>
            <a:srgbClr val="FFFFFF"/>
          </a:solidFill>
          <a:ln w="12700">
            <a:solidFill>
              <a:srgbClr val="B7B7BE"/>
            </a:solidFill>
            <a:prstDash val="solid"/>
          </a:ln>
        </p:spPr>
      </p:sp>
      <p:sp>
        <p:nvSpPr>
          <p:cNvPr id="44" name="Text 42"/>
          <p:cNvSpPr/>
          <p:nvPr/>
        </p:nvSpPr>
        <p:spPr>
          <a:xfrm>
            <a:off x="1380744" y="5148072"/>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Build Application / Agent</a:t>
            </a:r>
            <a:endParaRPr lang="en-US" sz="1250" dirty="0"/>
          </a:p>
        </p:txBody>
      </p:sp>
      <p:sp>
        <p:nvSpPr>
          <p:cNvPr id="45" name="Shape 43"/>
          <p:cNvSpPr/>
          <p:nvPr/>
        </p:nvSpPr>
        <p:spPr>
          <a:xfrm>
            <a:off x="978408" y="5550408"/>
            <a:ext cx="0" cy="91440"/>
          </a:xfrm>
          <a:prstGeom prst="line">
            <a:avLst/>
          </a:prstGeom>
          <a:noFill/>
          <a:ln w="22225">
            <a:solidFill>
              <a:srgbClr val="6F6F77"/>
            </a:solidFill>
            <a:prstDash val="solid"/>
            <a:tailEnd type="triangle"/>
          </a:ln>
        </p:spPr>
      </p:sp>
      <p:sp>
        <p:nvSpPr>
          <p:cNvPr id="46" name="Shape 44"/>
          <p:cNvSpPr/>
          <p:nvPr/>
        </p:nvSpPr>
        <p:spPr>
          <a:xfrm>
            <a:off x="822960" y="5687568"/>
            <a:ext cx="310896" cy="310896"/>
          </a:xfrm>
          <a:prstGeom prst="ellipse">
            <a:avLst/>
          </a:prstGeom>
          <a:solidFill>
            <a:srgbClr val="1A1A24"/>
          </a:solidFill>
          <a:ln w="12700">
            <a:solidFill>
              <a:srgbClr val="FFFFFF"/>
            </a:solidFill>
            <a:prstDash val="solid"/>
          </a:ln>
        </p:spPr>
      </p:sp>
      <p:sp>
        <p:nvSpPr>
          <p:cNvPr id="47" name="Text 45"/>
          <p:cNvSpPr/>
          <p:nvPr/>
        </p:nvSpPr>
        <p:spPr>
          <a:xfrm>
            <a:off x="822960" y="56875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8" name="Shape 46"/>
          <p:cNvSpPr/>
          <p:nvPr/>
        </p:nvSpPr>
        <p:spPr>
          <a:xfrm>
            <a:off x="1325880" y="5641848"/>
            <a:ext cx="5257800" cy="402336"/>
          </a:xfrm>
          <a:prstGeom prst="roundRect">
            <a:avLst>
              <a:gd name="adj" fmla="val 13636"/>
            </a:avLst>
          </a:prstGeom>
          <a:solidFill>
            <a:srgbClr val="FFE600"/>
          </a:solidFill>
          <a:ln w="12700">
            <a:solidFill>
              <a:srgbClr val="B7B7BE"/>
            </a:solidFill>
            <a:prstDash val="solid"/>
          </a:ln>
        </p:spPr>
      </p:sp>
      <p:sp>
        <p:nvSpPr>
          <p:cNvPr id="49" name="Text 47"/>
          <p:cNvSpPr/>
          <p:nvPr/>
        </p:nvSpPr>
        <p:spPr>
          <a:xfrm>
            <a:off x="1380744" y="5641848"/>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Monitor + Evaluate + Govern</a:t>
            </a:r>
            <a:endParaRPr lang="en-US" sz="1250" dirty="0"/>
          </a:p>
        </p:txBody>
      </p:sp>
      <p:sp>
        <p:nvSpPr>
          <p:cNvPr id="50" name="Text 48"/>
          <p:cNvSpPr/>
          <p:nvPr/>
        </p:nvSpPr>
        <p:spPr>
          <a:xfrm>
            <a:off x="7086600" y="1691640"/>
            <a:ext cx="4480560" cy="411480"/>
          </a:xfrm>
          <a:prstGeom prst="rect">
            <a:avLst/>
          </a:prstGeom>
          <a:noFill/>
          <a:ln/>
        </p:spPr>
        <p:txBody>
          <a:bodyPr wrap="square" lIns="0" tIns="0" rIns="0" bIns="0" rtlCol="0" anchor="ctr"/>
          <a:lstStyle/>
          <a:p>
            <a:pPr indent="0" marL="0">
              <a:buNone/>
            </a:pPr>
            <a:r>
              <a:rPr lang="en-US" sz="1800" b="1" dirty="0">
                <a:solidFill>
                  <a:srgbClr val="1A1A24"/>
                </a:solidFill>
                <a:latin typeface="Cambria" pitchFamily="34" charset="0"/>
                <a:ea typeface="Cambria" pitchFamily="34" charset="-122"/>
                <a:cs typeface="Cambria" pitchFamily="34" charset="-120"/>
              </a:rPr>
              <a:t>Authentication</a:t>
            </a:r>
            <a:endParaRPr lang="en-US" sz="1800" dirty="0"/>
          </a:p>
        </p:txBody>
      </p:sp>
      <p:sp>
        <p:nvSpPr>
          <p:cNvPr id="51" name="Shape 49"/>
          <p:cNvSpPr/>
          <p:nvPr/>
        </p:nvSpPr>
        <p:spPr>
          <a:xfrm>
            <a:off x="7086600" y="2194560"/>
            <a:ext cx="4480560" cy="1051560"/>
          </a:xfrm>
          <a:prstGeom prst="roundRect">
            <a:avLst>
              <a:gd name="adj" fmla="val 8696"/>
            </a:avLst>
          </a:prstGeom>
          <a:solidFill>
            <a:srgbClr val="E8E8EA"/>
          </a:solidFill>
          <a:ln w="12700">
            <a:solidFill>
              <a:srgbClr val="1A1A24"/>
            </a:solidFill>
            <a:prstDash val="solid"/>
          </a:ln>
        </p:spPr>
      </p:sp>
      <p:sp>
        <p:nvSpPr>
          <p:cNvPr id="52" name="Text 50"/>
          <p:cNvSpPr/>
          <p:nvPr/>
        </p:nvSpPr>
        <p:spPr>
          <a:xfrm>
            <a:off x="7141464" y="2194560"/>
            <a:ext cx="4370832" cy="1051560"/>
          </a:xfrm>
          <a:prstGeom prst="rect">
            <a:avLst/>
          </a:prstGeom>
          <a:noFill/>
          <a:ln/>
        </p:spPr>
        <p:txBody>
          <a:bodyPr wrap="square" lIns="0" tIns="0" rIns="0" bIns="0" rtlCol="0" anchor="ctr">
            <a:normAutofit/>
          </a:bodyPr>
          <a:lstStyle/>
          <a:p>
            <a:pPr algn="ctr" indent="0" marL="0">
              <a:buNone/>
            </a:pPr>
            <a:r>
              <a:rPr lang="en-US" sz="1300" b="1" dirty="0">
                <a:solidFill>
                  <a:srgbClr val="1A1A24"/>
                </a:solidFill>
                <a:latin typeface="Calibri" pitchFamily="34" charset="0"/>
                <a:ea typeface="Calibri" pitchFamily="34" charset="-122"/>
                <a:cs typeface="Calibri" pitchFamily="34" charset="-120"/>
              </a:rPr>
              <a:t>Development / PoC</a:t>
            </a:r>
            <a:endParaRPr lang="en-US" sz="1300" dirty="0"/>
          </a:p>
          <a:p>
            <a:pPr algn="ctr" indent="0" marL="0">
              <a:buNone/>
            </a:pPr>
            <a:r>
              <a:rPr lang="en-US" sz="1300" b="1" dirty="0">
                <a:solidFill>
                  <a:srgbClr val="1A1A24"/>
                </a:solidFill>
                <a:latin typeface="Calibri" pitchFamily="34" charset="0"/>
                <a:ea typeface="Calibri" pitchFamily="34" charset="-122"/>
                <a:cs typeface="Calibri" pitchFamily="34" charset="-120"/>
              </a:rPr>
              <a:t>↓</a:t>
            </a:r>
            <a:endParaRPr lang="en-US" sz="1300" dirty="0"/>
          </a:p>
          <a:p>
            <a:pPr algn="ctr" indent="0" marL="0">
              <a:buNone/>
            </a:pPr>
            <a:r>
              <a:rPr lang="en-US" sz="1300" b="1" dirty="0">
                <a:solidFill>
                  <a:srgbClr val="1A1A24"/>
                </a:solidFill>
                <a:latin typeface="Calibri" pitchFamily="34" charset="0"/>
                <a:ea typeface="Calibri" pitchFamily="34" charset="-122"/>
                <a:cs typeface="Calibri" pitchFamily="34" charset="-120"/>
              </a:rPr>
              <a:t>API Key can be used</a:t>
            </a:r>
            <a:endParaRPr lang="en-US" sz="1300" dirty="0"/>
          </a:p>
        </p:txBody>
      </p:sp>
      <p:sp>
        <p:nvSpPr>
          <p:cNvPr id="53" name="Shape 51"/>
          <p:cNvSpPr/>
          <p:nvPr/>
        </p:nvSpPr>
        <p:spPr>
          <a:xfrm>
            <a:off x="9326880" y="3246120"/>
            <a:ext cx="0" cy="274320"/>
          </a:xfrm>
          <a:prstGeom prst="line">
            <a:avLst/>
          </a:prstGeom>
          <a:noFill/>
          <a:ln w="22225">
            <a:solidFill>
              <a:srgbClr val="6F6F77"/>
            </a:solidFill>
            <a:prstDash val="solid"/>
            <a:tailEnd type="triangle"/>
          </a:ln>
        </p:spPr>
      </p:sp>
      <p:sp>
        <p:nvSpPr>
          <p:cNvPr id="54" name="Shape 52"/>
          <p:cNvSpPr/>
          <p:nvPr/>
        </p:nvSpPr>
        <p:spPr>
          <a:xfrm>
            <a:off x="7086600" y="3520440"/>
            <a:ext cx="4480560" cy="1051560"/>
          </a:xfrm>
          <a:prstGeom prst="roundRect">
            <a:avLst>
              <a:gd name="adj" fmla="val 8696"/>
            </a:avLst>
          </a:prstGeom>
          <a:solidFill>
            <a:srgbClr val="1A1A24"/>
          </a:solidFill>
          <a:ln w="12700">
            <a:solidFill>
              <a:srgbClr val="1A1A24"/>
            </a:solidFill>
            <a:prstDash val="solid"/>
          </a:ln>
        </p:spPr>
      </p:sp>
      <p:sp>
        <p:nvSpPr>
          <p:cNvPr id="55" name="Text 53"/>
          <p:cNvSpPr/>
          <p:nvPr/>
        </p:nvSpPr>
        <p:spPr>
          <a:xfrm>
            <a:off x="7141464" y="3520440"/>
            <a:ext cx="4370832" cy="105156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Production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Entra ID + Managed Identity preferred</a:t>
            </a:r>
            <a:endParaRPr lang="en-US" sz="1300" dirty="0"/>
          </a:p>
        </p:txBody>
      </p:sp>
      <p:sp>
        <p:nvSpPr>
          <p:cNvPr id="56" name="Text 54"/>
          <p:cNvSpPr/>
          <p:nvPr/>
        </p:nvSpPr>
        <p:spPr>
          <a:xfrm>
            <a:off x="7086600" y="4892040"/>
            <a:ext cx="4480560" cy="1463040"/>
          </a:xfrm>
          <a:prstGeom prst="rect">
            <a:avLst/>
          </a:prstGeom>
          <a:noFill/>
          <a:ln/>
        </p:spPr>
        <p:txBody>
          <a:bodyPr wrap="square" lIns="0" tIns="0" rIns="0" bIns="0" rtlCol="0" anchor="t"/>
          <a:lstStyle/>
          <a:p>
            <a:pPr indent="0" marL="0">
              <a:buNone/>
            </a:pPr>
            <a:r>
              <a:rPr lang="en-US" sz="1200" i="1" dirty="0">
                <a:solidFill>
                  <a:srgbClr val="6F6F77"/>
                </a:solidFill>
                <a:latin typeface="Calibri" pitchFamily="34" charset="0"/>
                <a:ea typeface="Calibri" pitchFamily="34" charset="-122"/>
                <a:cs typeface="Calibri" pitchFamily="34" charset="-120"/>
              </a:rPr>
              <a:t>The deployment is more than selecting a model — it includes defining the workload boundary, configuring access, connecting data and tools, and monitoring and governing the workload.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8"/>
        </a:solidFill>
      </p:bgPr>
    </p:bg>
    <p:spTree>
      <p:nvGrpSpPr>
        <p:cNvPr id="1" name=""/>
        <p:cNvGrpSpPr/>
        <p:nvPr/>
      </p:nvGrpSpPr>
      <p:grpSpPr>
        <a:xfrm>
          <a:off x="0" y="0"/>
          <a:ext cx="0" cy="0"/>
          <a:chOff x="0" y="0"/>
          <a:chExt cx="0" cy="0"/>
        </a:xfrm>
      </p:grpSpPr>
      <p:sp>
        <p:nvSpPr>
          <p:cNvPr id="2" name="Shape 0"/>
          <p:cNvSpPr/>
          <p:nvPr/>
        </p:nvSpPr>
        <p:spPr>
          <a:xfrm>
            <a:off x="11137392" y="320040"/>
            <a:ext cx="731520" cy="384048"/>
          </a:xfrm>
          <a:prstGeom prst="rect">
            <a:avLst/>
          </a:prstGeom>
          <a:solidFill>
            <a:srgbClr val="FFE600"/>
          </a:solidFill>
          <a:ln w="12700">
            <a:solidFill>
              <a:srgbClr val="FFE600"/>
            </a:solidFill>
            <a:prstDash val="solid"/>
          </a:ln>
        </p:spPr>
      </p:sp>
      <p:sp>
        <p:nvSpPr>
          <p:cNvPr id="3" name="Text 1"/>
          <p:cNvSpPr/>
          <p:nvPr/>
        </p:nvSpPr>
        <p:spPr>
          <a:xfrm>
            <a:off x="11137392" y="320040"/>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548640"/>
          </a:xfrm>
          <a:prstGeom prst="rect">
            <a:avLst/>
          </a:prstGeom>
          <a:noFill/>
          <a:ln/>
        </p:spPr>
        <p:txBody>
          <a:bodyPr wrap="square" lIns="0" tIns="0" rIns="0" bIns="0" rtlCol="0" anchor="ctr"/>
          <a:lstStyle/>
          <a:p>
            <a:pPr algn="l" indent="0" marL="0">
              <a:buNone/>
            </a:pPr>
            <a:r>
              <a:rPr lang="en-US" sz="2800" b="1" dirty="0">
                <a:solidFill>
                  <a:srgbClr val="1A1A24"/>
                </a:solidFill>
                <a:latin typeface="Cambria" pitchFamily="34" charset="0"/>
                <a:ea typeface="Cambria" pitchFamily="34" charset="-122"/>
                <a:cs typeface="Cambria" pitchFamily="34" charset="-120"/>
              </a:rPr>
              <a:t>Proposed Enterprise Architecture</a:t>
            </a:r>
            <a:endParaRPr lang="en-US" sz="2800" dirty="0"/>
          </a:p>
        </p:txBody>
      </p:sp>
      <p:sp>
        <p:nvSpPr>
          <p:cNvPr id="5" name="Text 3"/>
          <p:cNvSpPr/>
          <p:nvPr/>
        </p:nvSpPr>
        <p:spPr>
          <a:xfrm>
            <a:off x="4265676" y="1051560"/>
            <a:ext cx="3657600" cy="292608"/>
          </a:xfrm>
          <a:prstGeom prst="rect">
            <a:avLst/>
          </a:prstGeom>
          <a:noFill/>
          <a:ln/>
        </p:spPr>
        <p:txBody>
          <a:bodyPr wrap="square" lIns="0" tIns="0" rIns="0" bIns="0" rtlCol="0" anchor="ctr"/>
          <a:lstStyle/>
          <a:p>
            <a:pPr algn="ctr" indent="0" marL="0">
              <a:buNone/>
            </a:pPr>
            <a:r>
              <a:rPr lang="en-US" sz="1200" b="1" dirty="0">
                <a:solidFill>
                  <a:srgbClr val="6F6F77"/>
                </a:solidFill>
                <a:latin typeface="Calibri" pitchFamily="34" charset="0"/>
                <a:ea typeface="Calibri" pitchFamily="34" charset="-122"/>
                <a:cs typeface="Calibri" pitchFamily="34" charset="-120"/>
              </a:rPr>
              <a:t>USERS</a:t>
            </a:r>
            <a:endParaRPr lang="en-US" sz="1200" dirty="0"/>
          </a:p>
        </p:txBody>
      </p:sp>
      <p:sp>
        <p:nvSpPr>
          <p:cNvPr id="6" name="Shape 4"/>
          <p:cNvSpPr/>
          <p:nvPr/>
        </p:nvSpPr>
        <p:spPr>
          <a:xfrm>
            <a:off x="6094476" y="1362456"/>
            <a:ext cx="0" cy="128016"/>
          </a:xfrm>
          <a:prstGeom prst="line">
            <a:avLst/>
          </a:prstGeom>
          <a:noFill/>
          <a:ln w="22225">
            <a:solidFill>
              <a:srgbClr val="6F6F77"/>
            </a:solidFill>
            <a:prstDash val="solid"/>
            <a:tailEnd type="triangle"/>
          </a:ln>
        </p:spPr>
      </p:sp>
      <p:sp>
        <p:nvSpPr>
          <p:cNvPr id="7" name="Shape 5"/>
          <p:cNvSpPr/>
          <p:nvPr/>
        </p:nvSpPr>
        <p:spPr>
          <a:xfrm>
            <a:off x="4174236" y="1490472"/>
            <a:ext cx="3840480" cy="420624"/>
          </a:xfrm>
          <a:prstGeom prst="roundRect">
            <a:avLst>
              <a:gd name="adj" fmla="val 13043"/>
            </a:avLst>
          </a:prstGeom>
          <a:solidFill>
            <a:srgbClr val="FFFFFF"/>
          </a:solidFill>
          <a:ln w="12700">
            <a:solidFill>
              <a:srgbClr val="B7B7BE"/>
            </a:solidFill>
            <a:prstDash val="solid"/>
          </a:ln>
        </p:spPr>
      </p:sp>
      <p:sp>
        <p:nvSpPr>
          <p:cNvPr id="8" name="Text 6"/>
          <p:cNvSpPr/>
          <p:nvPr/>
        </p:nvSpPr>
        <p:spPr>
          <a:xfrm>
            <a:off x="4229100" y="1490472"/>
            <a:ext cx="3730752" cy="420624"/>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Web / Mobile App</a:t>
            </a:r>
            <a:endParaRPr lang="en-US" sz="1250" dirty="0"/>
          </a:p>
        </p:txBody>
      </p:sp>
      <p:sp>
        <p:nvSpPr>
          <p:cNvPr id="9" name="Shape 7"/>
          <p:cNvSpPr/>
          <p:nvPr/>
        </p:nvSpPr>
        <p:spPr>
          <a:xfrm>
            <a:off x="6094476" y="1911096"/>
            <a:ext cx="0" cy="128016"/>
          </a:xfrm>
          <a:prstGeom prst="line">
            <a:avLst/>
          </a:prstGeom>
          <a:noFill/>
          <a:ln w="22225">
            <a:solidFill>
              <a:srgbClr val="6F6F77"/>
            </a:solidFill>
            <a:prstDash val="solid"/>
            <a:tailEnd type="triangle"/>
          </a:ln>
        </p:spPr>
      </p:sp>
      <p:sp>
        <p:nvSpPr>
          <p:cNvPr id="10" name="Shape 8"/>
          <p:cNvSpPr/>
          <p:nvPr/>
        </p:nvSpPr>
        <p:spPr>
          <a:xfrm>
            <a:off x="4174236" y="2039112"/>
            <a:ext cx="3840480" cy="420624"/>
          </a:xfrm>
          <a:prstGeom prst="roundRect">
            <a:avLst>
              <a:gd name="adj" fmla="val 13043"/>
            </a:avLst>
          </a:prstGeom>
          <a:solidFill>
            <a:srgbClr val="43424B"/>
          </a:solidFill>
          <a:ln w="12700">
            <a:solidFill>
              <a:srgbClr val="B7B7BE"/>
            </a:solidFill>
            <a:prstDash val="solid"/>
          </a:ln>
        </p:spPr>
      </p:sp>
      <p:sp>
        <p:nvSpPr>
          <p:cNvPr id="11" name="Text 9"/>
          <p:cNvSpPr/>
          <p:nvPr/>
        </p:nvSpPr>
        <p:spPr>
          <a:xfrm>
            <a:off x="4229100" y="2039112"/>
            <a:ext cx="3730752" cy="42062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WAF</a:t>
            </a:r>
            <a:endParaRPr lang="en-US" sz="1250" dirty="0"/>
          </a:p>
        </p:txBody>
      </p:sp>
      <p:sp>
        <p:nvSpPr>
          <p:cNvPr id="12" name="Shape 10"/>
          <p:cNvSpPr/>
          <p:nvPr/>
        </p:nvSpPr>
        <p:spPr>
          <a:xfrm>
            <a:off x="6094476" y="2459736"/>
            <a:ext cx="0" cy="128016"/>
          </a:xfrm>
          <a:prstGeom prst="line">
            <a:avLst/>
          </a:prstGeom>
          <a:noFill/>
          <a:ln w="22225">
            <a:solidFill>
              <a:srgbClr val="6F6F77"/>
            </a:solidFill>
            <a:prstDash val="solid"/>
            <a:tailEnd type="triangle"/>
          </a:ln>
        </p:spPr>
      </p:sp>
      <p:sp>
        <p:nvSpPr>
          <p:cNvPr id="13" name="Shape 11"/>
          <p:cNvSpPr/>
          <p:nvPr/>
        </p:nvSpPr>
        <p:spPr>
          <a:xfrm>
            <a:off x="4174236" y="2587752"/>
            <a:ext cx="3840480" cy="420624"/>
          </a:xfrm>
          <a:prstGeom prst="roundRect">
            <a:avLst>
              <a:gd name="adj" fmla="val 13043"/>
            </a:avLst>
          </a:prstGeom>
          <a:solidFill>
            <a:srgbClr val="43424B"/>
          </a:solidFill>
          <a:ln w="12700">
            <a:solidFill>
              <a:srgbClr val="B7B7BE"/>
            </a:solidFill>
            <a:prstDash val="solid"/>
          </a:ln>
        </p:spPr>
      </p:sp>
      <p:sp>
        <p:nvSpPr>
          <p:cNvPr id="14" name="Text 12"/>
          <p:cNvSpPr/>
          <p:nvPr/>
        </p:nvSpPr>
        <p:spPr>
          <a:xfrm>
            <a:off x="4229100" y="2587752"/>
            <a:ext cx="3730752" cy="42062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APIM</a:t>
            </a:r>
            <a:endParaRPr lang="en-US" sz="1250" dirty="0"/>
          </a:p>
        </p:txBody>
      </p:sp>
      <p:sp>
        <p:nvSpPr>
          <p:cNvPr id="15" name="Shape 13"/>
          <p:cNvSpPr/>
          <p:nvPr/>
        </p:nvSpPr>
        <p:spPr>
          <a:xfrm>
            <a:off x="6094476" y="3008376"/>
            <a:ext cx="0" cy="128016"/>
          </a:xfrm>
          <a:prstGeom prst="line">
            <a:avLst/>
          </a:prstGeom>
          <a:noFill/>
          <a:ln w="22225">
            <a:solidFill>
              <a:srgbClr val="6F6F77"/>
            </a:solidFill>
            <a:prstDash val="solid"/>
            <a:tailEnd type="triangle"/>
          </a:ln>
        </p:spPr>
      </p:sp>
      <p:sp>
        <p:nvSpPr>
          <p:cNvPr id="16" name="Shape 14"/>
          <p:cNvSpPr/>
          <p:nvPr/>
        </p:nvSpPr>
        <p:spPr>
          <a:xfrm>
            <a:off x="4174236" y="3136392"/>
            <a:ext cx="3840480" cy="420624"/>
          </a:xfrm>
          <a:prstGeom prst="roundRect">
            <a:avLst>
              <a:gd name="adj" fmla="val 13043"/>
            </a:avLst>
          </a:prstGeom>
          <a:solidFill>
            <a:srgbClr val="FFE600"/>
          </a:solidFill>
          <a:ln w="12700">
            <a:solidFill>
              <a:srgbClr val="B7B7BE"/>
            </a:solidFill>
            <a:prstDash val="solid"/>
          </a:ln>
        </p:spPr>
      </p:sp>
      <p:sp>
        <p:nvSpPr>
          <p:cNvPr id="17" name="Text 15"/>
          <p:cNvSpPr/>
          <p:nvPr/>
        </p:nvSpPr>
        <p:spPr>
          <a:xfrm>
            <a:off x="4229100" y="3136392"/>
            <a:ext cx="3730752" cy="420624"/>
          </a:xfrm>
          <a:prstGeom prst="rect">
            <a:avLst/>
          </a:prstGeom>
          <a:noFill/>
          <a:ln/>
        </p:spPr>
        <p:txBody>
          <a:bodyPr wrap="square" lIns="0" tIns="0" rIns="0" bIns="0" rtlCol="0" anchor="ctr">
            <a:normAutofit/>
          </a:bodyPr>
          <a:lstStyle/>
          <a:p>
            <a:pPr algn="ctr" indent="0" marL="0">
              <a:buNone/>
            </a:pPr>
            <a:r>
              <a:rPr lang="en-US" sz="1300" b="1" dirty="0">
                <a:solidFill>
                  <a:srgbClr val="1A1A24"/>
                </a:solidFill>
                <a:latin typeface="Calibri" pitchFamily="34" charset="0"/>
                <a:ea typeface="Calibri" pitchFamily="34" charset="-122"/>
                <a:cs typeface="Calibri" pitchFamily="34" charset="-120"/>
              </a:rPr>
              <a:t>Application / Agent Layer</a:t>
            </a:r>
            <a:endParaRPr lang="en-US" sz="1300" dirty="0"/>
          </a:p>
        </p:txBody>
      </p:sp>
      <p:sp>
        <p:nvSpPr>
          <p:cNvPr id="18" name="Shape 16"/>
          <p:cNvSpPr/>
          <p:nvPr/>
        </p:nvSpPr>
        <p:spPr>
          <a:xfrm>
            <a:off x="6094476" y="3557016"/>
            <a:ext cx="0" cy="128016"/>
          </a:xfrm>
          <a:prstGeom prst="line">
            <a:avLst/>
          </a:prstGeom>
          <a:noFill/>
          <a:ln w="22225">
            <a:solidFill>
              <a:srgbClr val="6F6F77"/>
            </a:solidFill>
            <a:prstDash val="solid"/>
            <a:tailEnd type="triangle"/>
          </a:ln>
        </p:spPr>
      </p:sp>
      <p:sp>
        <p:nvSpPr>
          <p:cNvPr id="19" name="Shape 17"/>
          <p:cNvSpPr/>
          <p:nvPr/>
        </p:nvSpPr>
        <p:spPr>
          <a:xfrm flipH="1">
            <a:off x="4539996" y="3557016"/>
            <a:ext cx="1554480" cy="128016"/>
          </a:xfrm>
          <a:prstGeom prst="line">
            <a:avLst/>
          </a:prstGeom>
          <a:noFill/>
          <a:ln w="19050">
            <a:solidFill>
              <a:srgbClr val="6F6F77"/>
            </a:solidFill>
            <a:prstDash val="solid"/>
            <a:tailEnd type="triangle"/>
          </a:ln>
        </p:spPr>
      </p:sp>
      <p:sp>
        <p:nvSpPr>
          <p:cNvPr id="20" name="Shape 18"/>
          <p:cNvSpPr/>
          <p:nvPr/>
        </p:nvSpPr>
        <p:spPr>
          <a:xfrm>
            <a:off x="6094476" y="3557016"/>
            <a:ext cx="1554480" cy="128016"/>
          </a:xfrm>
          <a:prstGeom prst="line">
            <a:avLst/>
          </a:prstGeom>
          <a:noFill/>
          <a:ln w="19050">
            <a:solidFill>
              <a:srgbClr val="6F6F77"/>
            </a:solidFill>
            <a:prstDash val="solid"/>
            <a:tailEnd type="triangle"/>
          </a:ln>
        </p:spPr>
      </p:sp>
      <p:sp>
        <p:nvSpPr>
          <p:cNvPr id="21" name="Shape 19"/>
          <p:cNvSpPr/>
          <p:nvPr/>
        </p:nvSpPr>
        <p:spPr>
          <a:xfrm>
            <a:off x="3168396" y="3685032"/>
            <a:ext cx="2743200" cy="420624"/>
          </a:xfrm>
          <a:prstGeom prst="roundRect">
            <a:avLst>
              <a:gd name="adj" fmla="val 13043"/>
            </a:avLst>
          </a:prstGeom>
          <a:solidFill>
            <a:srgbClr val="1A1A24"/>
          </a:solidFill>
          <a:ln w="12700">
            <a:solidFill>
              <a:srgbClr val="1A1A24"/>
            </a:solidFill>
            <a:prstDash val="solid"/>
          </a:ln>
        </p:spPr>
      </p:sp>
      <p:sp>
        <p:nvSpPr>
          <p:cNvPr id="22" name="Text 20"/>
          <p:cNvSpPr/>
          <p:nvPr/>
        </p:nvSpPr>
        <p:spPr>
          <a:xfrm>
            <a:off x="3223260" y="3685032"/>
            <a:ext cx="2633472" cy="4206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MICROSOFT FOUNDRY</a:t>
            </a:r>
            <a:endParaRPr lang="en-US" sz="1200" dirty="0"/>
          </a:p>
        </p:txBody>
      </p:sp>
      <p:sp>
        <p:nvSpPr>
          <p:cNvPr id="23" name="Shape 21"/>
          <p:cNvSpPr/>
          <p:nvPr/>
        </p:nvSpPr>
        <p:spPr>
          <a:xfrm>
            <a:off x="6277356" y="3685032"/>
            <a:ext cx="2743200" cy="420624"/>
          </a:xfrm>
          <a:prstGeom prst="roundRect">
            <a:avLst>
              <a:gd name="adj" fmla="val 13043"/>
            </a:avLst>
          </a:prstGeom>
          <a:solidFill>
            <a:srgbClr val="1A1A24"/>
          </a:solidFill>
          <a:ln w="12700">
            <a:solidFill>
              <a:srgbClr val="1A1A24"/>
            </a:solidFill>
            <a:prstDash val="solid"/>
          </a:ln>
        </p:spPr>
      </p:sp>
      <p:sp>
        <p:nvSpPr>
          <p:cNvPr id="24" name="Text 22"/>
          <p:cNvSpPr/>
          <p:nvPr/>
        </p:nvSpPr>
        <p:spPr>
          <a:xfrm>
            <a:off x="6332220" y="3685032"/>
            <a:ext cx="2633472" cy="4206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AZURE AI SEARCH</a:t>
            </a:r>
            <a:endParaRPr lang="en-US" sz="1200" dirty="0"/>
          </a:p>
        </p:txBody>
      </p:sp>
      <p:sp>
        <p:nvSpPr>
          <p:cNvPr id="25" name="Shape 23"/>
          <p:cNvSpPr/>
          <p:nvPr/>
        </p:nvSpPr>
        <p:spPr>
          <a:xfrm>
            <a:off x="4539996" y="4105656"/>
            <a:ext cx="0" cy="128016"/>
          </a:xfrm>
          <a:prstGeom prst="line">
            <a:avLst/>
          </a:prstGeom>
          <a:noFill/>
          <a:ln w="22225">
            <a:solidFill>
              <a:srgbClr val="6F6F77"/>
            </a:solidFill>
            <a:prstDash val="solid"/>
            <a:tailEnd type="triangle"/>
          </a:ln>
        </p:spPr>
      </p:sp>
      <p:sp>
        <p:nvSpPr>
          <p:cNvPr id="26" name="Shape 24"/>
          <p:cNvSpPr/>
          <p:nvPr/>
        </p:nvSpPr>
        <p:spPr>
          <a:xfrm>
            <a:off x="7648956" y="4105656"/>
            <a:ext cx="0" cy="128016"/>
          </a:xfrm>
          <a:prstGeom prst="line">
            <a:avLst/>
          </a:prstGeom>
          <a:noFill/>
          <a:ln w="22225">
            <a:solidFill>
              <a:srgbClr val="6F6F77"/>
            </a:solidFill>
            <a:prstDash val="solid"/>
            <a:tailEnd type="triangle"/>
          </a:ln>
        </p:spPr>
      </p:sp>
      <p:sp>
        <p:nvSpPr>
          <p:cNvPr id="27" name="Shape 25"/>
          <p:cNvSpPr/>
          <p:nvPr/>
        </p:nvSpPr>
        <p:spPr>
          <a:xfrm>
            <a:off x="3168396" y="4233672"/>
            <a:ext cx="2743200" cy="420624"/>
          </a:xfrm>
          <a:prstGeom prst="roundRect">
            <a:avLst>
              <a:gd name="adj" fmla="val 13043"/>
            </a:avLst>
          </a:prstGeom>
          <a:solidFill>
            <a:srgbClr val="FFFFFF"/>
          </a:solidFill>
          <a:ln w="12700">
            <a:solidFill>
              <a:srgbClr val="B7B7BE"/>
            </a:solidFill>
            <a:prstDash val="solid"/>
          </a:ln>
        </p:spPr>
      </p:sp>
      <p:sp>
        <p:nvSpPr>
          <p:cNvPr id="28" name="Text 26"/>
          <p:cNvSpPr/>
          <p:nvPr/>
        </p:nvSpPr>
        <p:spPr>
          <a:xfrm>
            <a:off x="3223260" y="4233672"/>
            <a:ext cx="2633472" cy="420624"/>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OpenAI Models</a:t>
            </a:r>
            <a:endParaRPr lang="en-US" sz="1100" dirty="0"/>
          </a:p>
          <a:p>
            <a:pPr algn="ctr" indent="0" marL="0">
              <a:buNone/>
            </a:pPr>
            <a:r>
              <a:rPr lang="en-US" sz="1100" b="1" dirty="0">
                <a:solidFill>
                  <a:srgbClr val="1A1A24"/>
                </a:solidFill>
                <a:latin typeface="Calibri" pitchFamily="34" charset="0"/>
                <a:ea typeface="Calibri" pitchFamily="34" charset="-122"/>
                <a:cs typeface="Calibri" pitchFamily="34" charset="-120"/>
              </a:rPr>
              <a:t>GPT / Reasoning</a:t>
            </a:r>
            <a:endParaRPr lang="en-US" sz="1100" dirty="0"/>
          </a:p>
        </p:txBody>
      </p:sp>
      <p:sp>
        <p:nvSpPr>
          <p:cNvPr id="29" name="Shape 27"/>
          <p:cNvSpPr/>
          <p:nvPr/>
        </p:nvSpPr>
        <p:spPr>
          <a:xfrm>
            <a:off x="6277356" y="4233672"/>
            <a:ext cx="2743200" cy="420624"/>
          </a:xfrm>
          <a:prstGeom prst="roundRect">
            <a:avLst>
              <a:gd name="adj" fmla="val 13043"/>
            </a:avLst>
          </a:prstGeom>
          <a:solidFill>
            <a:srgbClr val="FFFFFF"/>
          </a:solidFill>
          <a:ln w="12700">
            <a:solidFill>
              <a:srgbClr val="B7B7BE"/>
            </a:solidFill>
            <a:prstDash val="solid"/>
          </a:ln>
        </p:spPr>
      </p:sp>
      <p:sp>
        <p:nvSpPr>
          <p:cNvPr id="30" name="Text 28"/>
          <p:cNvSpPr/>
          <p:nvPr/>
        </p:nvSpPr>
        <p:spPr>
          <a:xfrm>
            <a:off x="6332220" y="4233672"/>
            <a:ext cx="2633472" cy="420624"/>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Enterprise Data</a:t>
            </a:r>
            <a:endParaRPr lang="en-US" sz="1100" dirty="0"/>
          </a:p>
          <a:p>
            <a:pPr algn="ctr" indent="0" marL="0">
              <a:buNone/>
            </a:pPr>
            <a:r>
              <a:rPr lang="en-US" sz="1100" b="1" dirty="0">
                <a:solidFill>
                  <a:srgbClr val="1A1A24"/>
                </a:solidFill>
                <a:latin typeface="Calibri" pitchFamily="34" charset="0"/>
                <a:ea typeface="Calibri" pitchFamily="34" charset="-122"/>
                <a:cs typeface="Calibri" pitchFamily="34" charset="-120"/>
              </a:rPr>
              <a:t>Documents / DB</a:t>
            </a:r>
            <a:endParaRPr lang="en-US" sz="1100" dirty="0"/>
          </a:p>
        </p:txBody>
      </p:sp>
      <p:sp>
        <p:nvSpPr>
          <p:cNvPr id="31" name="Shape 29"/>
          <p:cNvSpPr/>
          <p:nvPr/>
        </p:nvSpPr>
        <p:spPr>
          <a:xfrm>
            <a:off x="4539996" y="4654296"/>
            <a:ext cx="1554480" cy="128016"/>
          </a:xfrm>
          <a:prstGeom prst="line">
            <a:avLst/>
          </a:prstGeom>
          <a:noFill/>
          <a:ln w="19050">
            <a:solidFill>
              <a:srgbClr val="6F6F77"/>
            </a:solidFill>
            <a:prstDash val="solid"/>
            <a:tailEnd type="triangle"/>
          </a:ln>
        </p:spPr>
      </p:sp>
      <p:sp>
        <p:nvSpPr>
          <p:cNvPr id="32" name="Shape 30"/>
          <p:cNvSpPr/>
          <p:nvPr/>
        </p:nvSpPr>
        <p:spPr>
          <a:xfrm flipH="1">
            <a:off x="6094476" y="4654296"/>
            <a:ext cx="1554480" cy="128016"/>
          </a:xfrm>
          <a:prstGeom prst="line">
            <a:avLst/>
          </a:prstGeom>
          <a:noFill/>
          <a:ln w="19050">
            <a:solidFill>
              <a:srgbClr val="6F6F77"/>
            </a:solidFill>
            <a:prstDash val="solid"/>
            <a:tailEnd type="triangle"/>
          </a:ln>
        </p:spPr>
      </p:sp>
      <p:sp>
        <p:nvSpPr>
          <p:cNvPr id="33" name="Shape 31"/>
          <p:cNvSpPr/>
          <p:nvPr/>
        </p:nvSpPr>
        <p:spPr>
          <a:xfrm>
            <a:off x="4174236" y="4782312"/>
            <a:ext cx="3840480" cy="420624"/>
          </a:xfrm>
          <a:prstGeom prst="roundRect">
            <a:avLst>
              <a:gd name="adj" fmla="val 13043"/>
            </a:avLst>
          </a:prstGeom>
          <a:solidFill>
            <a:srgbClr val="FFE600"/>
          </a:solidFill>
          <a:ln w="12700">
            <a:solidFill>
              <a:srgbClr val="1A1A24"/>
            </a:solidFill>
            <a:prstDash val="solid"/>
          </a:ln>
        </p:spPr>
      </p:sp>
      <p:sp>
        <p:nvSpPr>
          <p:cNvPr id="34" name="Text 32"/>
          <p:cNvSpPr/>
          <p:nvPr/>
        </p:nvSpPr>
        <p:spPr>
          <a:xfrm>
            <a:off x="4229100" y="4782312"/>
            <a:ext cx="3730752" cy="420624"/>
          </a:xfrm>
          <a:prstGeom prst="rect">
            <a:avLst/>
          </a:prstGeom>
          <a:noFill/>
          <a:ln/>
        </p:spPr>
        <p:txBody>
          <a:bodyPr wrap="square" lIns="0" tIns="0" rIns="0" bIns="0" rtlCol="0" anchor="ctr">
            <a:normAutofit/>
          </a:bodyPr>
          <a:lstStyle/>
          <a:p>
            <a:pPr algn="ctr" indent="0" marL="0">
              <a:buNone/>
            </a:pPr>
            <a:r>
              <a:rPr lang="en-US" sz="1300" b="1" dirty="0">
                <a:solidFill>
                  <a:srgbClr val="1A1A24"/>
                </a:solidFill>
                <a:latin typeface="Calibri" pitchFamily="34" charset="0"/>
                <a:ea typeface="Calibri" pitchFamily="34" charset="-122"/>
                <a:cs typeface="Calibri" pitchFamily="34" charset="-120"/>
              </a:rPr>
              <a:t>RESPONSE</a:t>
            </a:r>
            <a:endParaRPr lang="en-US" sz="1300" dirty="0"/>
          </a:p>
        </p:txBody>
      </p:sp>
      <p:sp>
        <p:nvSpPr>
          <p:cNvPr id="35" name="Shape 33"/>
          <p:cNvSpPr/>
          <p:nvPr/>
        </p:nvSpPr>
        <p:spPr>
          <a:xfrm>
            <a:off x="548640" y="5367528"/>
            <a:ext cx="11091672" cy="777240"/>
          </a:xfrm>
          <a:prstGeom prst="roundRect">
            <a:avLst>
              <a:gd name="adj" fmla="val 9412"/>
            </a:avLst>
          </a:prstGeom>
          <a:solidFill>
            <a:srgbClr val="1A1A24"/>
          </a:solidFill>
          <a:ln w="12700">
            <a:solidFill>
              <a:srgbClr val="1A1A24"/>
            </a:solidFill>
            <a:prstDash val="solid"/>
          </a:ln>
        </p:spPr>
      </p:sp>
      <p:sp>
        <p:nvSpPr>
          <p:cNvPr id="36" name="Text 34"/>
          <p:cNvSpPr/>
          <p:nvPr/>
        </p:nvSpPr>
        <p:spPr>
          <a:xfrm>
            <a:off x="603504" y="5367528"/>
            <a:ext cx="10981944" cy="777240"/>
          </a:xfrm>
          <a:prstGeom prst="rect">
            <a:avLst/>
          </a:prstGeom>
          <a:noFill/>
          <a:ln/>
        </p:spPr>
        <p:txBody>
          <a:bodyPr wrap="square" lIns="0" tIns="0" rIns="0" bIns="0" rtlCol="0" anchor="ctr">
            <a:normAutofit/>
          </a:bodyPr>
          <a:lstStyle/>
          <a:p>
            <a:pPr algn="ctr" indent="0" marL="0">
              <a:buNone/>
            </a:pPr>
            <a:endParaRPr lang="en-US" sz="1200" dirty="0"/>
          </a:p>
        </p:txBody>
      </p:sp>
      <p:sp>
        <p:nvSpPr>
          <p:cNvPr id="37" name="Text 35"/>
          <p:cNvSpPr/>
          <p:nvPr/>
        </p:nvSpPr>
        <p:spPr>
          <a:xfrm>
            <a:off x="731520" y="5440680"/>
            <a:ext cx="10698480" cy="256032"/>
          </a:xfrm>
          <a:prstGeom prst="rect">
            <a:avLst/>
          </a:prstGeom>
          <a:noFill/>
          <a:ln/>
        </p:spPr>
        <p:txBody>
          <a:bodyPr wrap="square" lIns="0" tIns="0" rIns="0" bIns="0" rtlCol="0" anchor="ctr"/>
          <a:lstStyle/>
          <a:p>
            <a:pPr algn="l" indent="0" marL="0">
              <a:buNone/>
            </a:pPr>
            <a:r>
              <a:rPr lang="en-US" sz="1100" b="1" dirty="0">
                <a:solidFill>
                  <a:srgbClr val="FFE600"/>
                </a:solidFill>
                <a:latin typeface="Calibri" pitchFamily="34" charset="0"/>
                <a:ea typeface="Calibri" pitchFamily="34" charset="-122"/>
                <a:cs typeface="Calibri" pitchFamily="34" charset="-120"/>
              </a:rPr>
              <a:t>ENTERPRISE FOUNDATION</a:t>
            </a:r>
            <a:endParaRPr lang="en-US" sz="1100" dirty="0"/>
          </a:p>
        </p:txBody>
      </p:sp>
      <p:sp>
        <p:nvSpPr>
          <p:cNvPr id="38" name="Text 36"/>
          <p:cNvSpPr/>
          <p:nvPr/>
        </p:nvSpPr>
        <p:spPr>
          <a:xfrm>
            <a:off x="731520" y="5715000"/>
            <a:ext cx="10698480" cy="365760"/>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Entra ID  ·  Managed Identity  ·  RBAC  ·  VNet  ·  Private Endpoints  ·  Key Vault  ·  Azure Monitor  ·  Azure Policy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8"/>
        </a:solidFill>
      </p:bgPr>
    </p:bg>
    <p:spTree>
      <p:nvGrpSpPr>
        <p:cNvPr id="1" name=""/>
        <p:cNvGrpSpPr/>
        <p:nvPr/>
      </p:nvGrpSpPr>
      <p:grpSpPr>
        <a:xfrm>
          <a:off x="0" y="0"/>
          <a:ext cx="0" cy="0"/>
          <a:chOff x="0" y="0"/>
          <a:chExt cx="0" cy="0"/>
        </a:xfrm>
      </p:grpSpPr>
      <p:sp>
        <p:nvSpPr>
          <p:cNvPr id="2" name="Shape 0"/>
          <p:cNvSpPr/>
          <p:nvPr/>
        </p:nvSpPr>
        <p:spPr>
          <a:xfrm>
            <a:off x="11137392" y="320040"/>
            <a:ext cx="731520" cy="384048"/>
          </a:xfrm>
          <a:prstGeom prst="rect">
            <a:avLst/>
          </a:prstGeom>
          <a:solidFill>
            <a:srgbClr val="FFE600"/>
          </a:solidFill>
          <a:ln w="12700">
            <a:solidFill>
              <a:srgbClr val="FFE600"/>
            </a:solidFill>
            <a:prstDash val="solid"/>
          </a:ln>
        </p:spPr>
      </p:sp>
      <p:sp>
        <p:nvSpPr>
          <p:cNvPr id="3" name="Text 1"/>
          <p:cNvSpPr/>
          <p:nvPr/>
        </p:nvSpPr>
        <p:spPr>
          <a:xfrm>
            <a:off x="11137392" y="320040"/>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731520"/>
          </a:xfrm>
          <a:prstGeom prst="rect">
            <a:avLst/>
          </a:prstGeom>
          <a:noFill/>
          <a:ln/>
        </p:spPr>
        <p:txBody>
          <a:bodyPr wrap="square" lIns="0" tIns="0" rIns="0" bIns="0" rtlCol="0" anchor="ctr"/>
          <a:lstStyle/>
          <a:p>
            <a:pPr algn="l" indent="0" marL="0">
              <a:buNone/>
            </a:pPr>
            <a:r>
              <a:rPr lang="en-US" sz="3000" b="1" dirty="0">
                <a:solidFill>
                  <a:srgbClr val="1A1A24"/>
                </a:solidFill>
                <a:latin typeface="Cambria" pitchFamily="34" charset="0"/>
                <a:ea typeface="Cambria" pitchFamily="34" charset="-122"/>
                <a:cs typeface="Cambria" pitchFamily="34" charset="-120"/>
              </a:rPr>
              <a:t>OpenAI + Azure AI Search: RAG Pattern</a:t>
            </a:r>
            <a:endParaRPr lang="en-US" sz="3000" dirty="0"/>
          </a:p>
        </p:txBody>
      </p:sp>
      <p:sp>
        <p:nvSpPr>
          <p:cNvPr id="5" name="Text 3"/>
          <p:cNvSpPr/>
          <p:nvPr/>
        </p:nvSpPr>
        <p:spPr>
          <a:xfrm>
            <a:off x="548640" y="1051560"/>
            <a:ext cx="11091672" cy="365760"/>
          </a:xfrm>
          <a:prstGeom prst="rect">
            <a:avLst/>
          </a:prstGeom>
          <a:noFill/>
          <a:ln/>
        </p:spPr>
        <p:txBody>
          <a:bodyPr wrap="square" lIns="0" tIns="0" rIns="0" bIns="0" rtlCol="0" anchor="ctr"/>
          <a:lstStyle/>
          <a:p>
            <a:pPr algn="l" indent="0" marL="0">
              <a:buNone/>
            </a:pPr>
            <a:r>
              <a:rPr lang="en-US" sz="1400" i="1" dirty="0">
                <a:solidFill>
                  <a:srgbClr val="6F6F77"/>
                </a:solidFill>
                <a:latin typeface="Calibri" pitchFamily="34" charset="0"/>
                <a:ea typeface="Calibri" pitchFamily="34" charset="-122"/>
                <a:cs typeface="Calibri" pitchFamily="34" charset="-120"/>
              </a:rPr>
              <a:t>Grounding OpenAI responses in enterprise knowledge</a:t>
            </a:r>
            <a:endParaRPr lang="en-US" sz="1400" dirty="0"/>
          </a:p>
        </p:txBody>
      </p:sp>
      <p:sp>
        <p:nvSpPr>
          <p:cNvPr id="6" name="Shape 4"/>
          <p:cNvSpPr/>
          <p:nvPr/>
        </p:nvSpPr>
        <p:spPr>
          <a:xfrm>
            <a:off x="822960" y="1691640"/>
            <a:ext cx="5120640" cy="475488"/>
          </a:xfrm>
          <a:prstGeom prst="roundRect">
            <a:avLst>
              <a:gd name="adj" fmla="val 11538"/>
            </a:avLst>
          </a:prstGeom>
          <a:solidFill>
            <a:srgbClr val="1A1A24"/>
          </a:solidFill>
          <a:ln w="12700">
            <a:solidFill>
              <a:srgbClr val="B7B7BE"/>
            </a:solidFill>
            <a:prstDash val="solid"/>
          </a:ln>
        </p:spPr>
      </p:sp>
      <p:sp>
        <p:nvSpPr>
          <p:cNvPr id="7" name="Text 5"/>
          <p:cNvSpPr/>
          <p:nvPr/>
        </p:nvSpPr>
        <p:spPr>
          <a:xfrm>
            <a:off x="877824" y="1691640"/>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User Question</a:t>
            </a:r>
            <a:endParaRPr lang="en-US" sz="1250" dirty="0"/>
          </a:p>
        </p:txBody>
      </p:sp>
      <p:sp>
        <p:nvSpPr>
          <p:cNvPr id="8" name="Shape 6"/>
          <p:cNvSpPr/>
          <p:nvPr/>
        </p:nvSpPr>
        <p:spPr>
          <a:xfrm>
            <a:off x="3383280" y="2167128"/>
            <a:ext cx="0" cy="128016"/>
          </a:xfrm>
          <a:prstGeom prst="line">
            <a:avLst/>
          </a:prstGeom>
          <a:noFill/>
          <a:ln w="22225">
            <a:solidFill>
              <a:srgbClr val="6F6F77"/>
            </a:solidFill>
            <a:prstDash val="solid"/>
            <a:tailEnd type="triangle"/>
          </a:ln>
        </p:spPr>
      </p:sp>
      <p:sp>
        <p:nvSpPr>
          <p:cNvPr id="9" name="Shape 7"/>
          <p:cNvSpPr/>
          <p:nvPr/>
        </p:nvSpPr>
        <p:spPr>
          <a:xfrm>
            <a:off x="822960" y="2295144"/>
            <a:ext cx="5120640" cy="475488"/>
          </a:xfrm>
          <a:prstGeom prst="roundRect">
            <a:avLst>
              <a:gd name="adj" fmla="val 11538"/>
            </a:avLst>
          </a:prstGeom>
          <a:solidFill>
            <a:srgbClr val="FFFFFF"/>
          </a:solidFill>
          <a:ln w="12700">
            <a:solidFill>
              <a:srgbClr val="B7B7BE"/>
            </a:solidFill>
            <a:prstDash val="solid"/>
          </a:ln>
        </p:spPr>
      </p:sp>
      <p:sp>
        <p:nvSpPr>
          <p:cNvPr id="10" name="Text 8"/>
          <p:cNvSpPr/>
          <p:nvPr/>
        </p:nvSpPr>
        <p:spPr>
          <a:xfrm>
            <a:off x="877824" y="2295144"/>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Application / Agent</a:t>
            </a:r>
            <a:endParaRPr lang="en-US" sz="1250" dirty="0"/>
          </a:p>
        </p:txBody>
      </p:sp>
      <p:sp>
        <p:nvSpPr>
          <p:cNvPr id="11" name="Shape 9"/>
          <p:cNvSpPr/>
          <p:nvPr/>
        </p:nvSpPr>
        <p:spPr>
          <a:xfrm>
            <a:off x="3383280" y="2770632"/>
            <a:ext cx="0" cy="128016"/>
          </a:xfrm>
          <a:prstGeom prst="line">
            <a:avLst/>
          </a:prstGeom>
          <a:noFill/>
          <a:ln w="22225">
            <a:solidFill>
              <a:srgbClr val="6F6F77"/>
            </a:solidFill>
            <a:prstDash val="solid"/>
            <a:tailEnd type="triangle"/>
          </a:ln>
        </p:spPr>
      </p:sp>
      <p:sp>
        <p:nvSpPr>
          <p:cNvPr id="12" name="Shape 10"/>
          <p:cNvSpPr/>
          <p:nvPr/>
        </p:nvSpPr>
        <p:spPr>
          <a:xfrm>
            <a:off x="822960" y="2898648"/>
            <a:ext cx="5120640" cy="475488"/>
          </a:xfrm>
          <a:prstGeom prst="roundRect">
            <a:avLst>
              <a:gd name="adj" fmla="val 11538"/>
            </a:avLst>
          </a:prstGeom>
          <a:solidFill>
            <a:srgbClr val="1A1A24"/>
          </a:solidFill>
          <a:ln w="12700">
            <a:solidFill>
              <a:srgbClr val="B7B7BE"/>
            </a:solidFill>
            <a:prstDash val="solid"/>
          </a:ln>
        </p:spPr>
      </p:sp>
      <p:sp>
        <p:nvSpPr>
          <p:cNvPr id="13" name="Text 11"/>
          <p:cNvSpPr/>
          <p:nvPr/>
        </p:nvSpPr>
        <p:spPr>
          <a:xfrm>
            <a:off x="877824" y="2898648"/>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Azure AI Search</a:t>
            </a:r>
            <a:endParaRPr lang="en-US" sz="1250" dirty="0"/>
          </a:p>
        </p:txBody>
      </p:sp>
      <p:sp>
        <p:nvSpPr>
          <p:cNvPr id="14" name="Shape 12"/>
          <p:cNvSpPr/>
          <p:nvPr/>
        </p:nvSpPr>
        <p:spPr>
          <a:xfrm>
            <a:off x="3383280" y="3374136"/>
            <a:ext cx="0" cy="128016"/>
          </a:xfrm>
          <a:prstGeom prst="line">
            <a:avLst/>
          </a:prstGeom>
          <a:noFill/>
          <a:ln w="22225">
            <a:solidFill>
              <a:srgbClr val="6F6F77"/>
            </a:solidFill>
            <a:prstDash val="solid"/>
            <a:tailEnd type="triangle"/>
          </a:ln>
        </p:spPr>
      </p:sp>
      <p:sp>
        <p:nvSpPr>
          <p:cNvPr id="15" name="Shape 13"/>
          <p:cNvSpPr/>
          <p:nvPr/>
        </p:nvSpPr>
        <p:spPr>
          <a:xfrm>
            <a:off x="822960" y="3502152"/>
            <a:ext cx="5120640" cy="475488"/>
          </a:xfrm>
          <a:prstGeom prst="roundRect">
            <a:avLst>
              <a:gd name="adj" fmla="val 11538"/>
            </a:avLst>
          </a:prstGeom>
          <a:solidFill>
            <a:srgbClr val="FFFFFF"/>
          </a:solidFill>
          <a:ln w="12700">
            <a:solidFill>
              <a:srgbClr val="B7B7BE"/>
            </a:solidFill>
            <a:prstDash val="solid"/>
          </a:ln>
        </p:spPr>
      </p:sp>
      <p:sp>
        <p:nvSpPr>
          <p:cNvPr id="16" name="Text 14"/>
          <p:cNvSpPr/>
          <p:nvPr/>
        </p:nvSpPr>
        <p:spPr>
          <a:xfrm>
            <a:off x="877824" y="3502152"/>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Retrieve Relevant Data</a:t>
            </a:r>
            <a:endParaRPr lang="en-US" sz="1250" dirty="0"/>
          </a:p>
        </p:txBody>
      </p:sp>
      <p:sp>
        <p:nvSpPr>
          <p:cNvPr id="17" name="Shape 15"/>
          <p:cNvSpPr/>
          <p:nvPr/>
        </p:nvSpPr>
        <p:spPr>
          <a:xfrm>
            <a:off x="3383280" y="3977640"/>
            <a:ext cx="0" cy="128016"/>
          </a:xfrm>
          <a:prstGeom prst="line">
            <a:avLst/>
          </a:prstGeom>
          <a:noFill/>
          <a:ln w="22225">
            <a:solidFill>
              <a:srgbClr val="6F6F77"/>
            </a:solidFill>
            <a:prstDash val="solid"/>
            <a:tailEnd type="triangle"/>
          </a:ln>
        </p:spPr>
      </p:sp>
      <p:sp>
        <p:nvSpPr>
          <p:cNvPr id="18" name="Shape 16"/>
          <p:cNvSpPr/>
          <p:nvPr/>
        </p:nvSpPr>
        <p:spPr>
          <a:xfrm>
            <a:off x="822960" y="4105656"/>
            <a:ext cx="5120640" cy="475488"/>
          </a:xfrm>
          <a:prstGeom prst="roundRect">
            <a:avLst>
              <a:gd name="adj" fmla="val 11538"/>
            </a:avLst>
          </a:prstGeom>
          <a:solidFill>
            <a:srgbClr val="1A1A24"/>
          </a:solidFill>
          <a:ln w="12700">
            <a:solidFill>
              <a:srgbClr val="B7B7BE"/>
            </a:solidFill>
            <a:prstDash val="solid"/>
          </a:ln>
        </p:spPr>
      </p:sp>
      <p:sp>
        <p:nvSpPr>
          <p:cNvPr id="19" name="Text 17"/>
          <p:cNvSpPr/>
          <p:nvPr/>
        </p:nvSpPr>
        <p:spPr>
          <a:xfrm>
            <a:off x="877824" y="4105656"/>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Question + Relevant Context</a:t>
            </a:r>
            <a:endParaRPr lang="en-US" sz="1250" dirty="0"/>
          </a:p>
        </p:txBody>
      </p:sp>
      <p:sp>
        <p:nvSpPr>
          <p:cNvPr id="20" name="Shape 18"/>
          <p:cNvSpPr/>
          <p:nvPr/>
        </p:nvSpPr>
        <p:spPr>
          <a:xfrm>
            <a:off x="3383280" y="4581144"/>
            <a:ext cx="0" cy="128016"/>
          </a:xfrm>
          <a:prstGeom prst="line">
            <a:avLst/>
          </a:prstGeom>
          <a:noFill/>
          <a:ln w="22225">
            <a:solidFill>
              <a:srgbClr val="6F6F77"/>
            </a:solidFill>
            <a:prstDash val="solid"/>
            <a:tailEnd type="triangle"/>
          </a:ln>
        </p:spPr>
      </p:sp>
      <p:sp>
        <p:nvSpPr>
          <p:cNvPr id="21" name="Shape 19"/>
          <p:cNvSpPr/>
          <p:nvPr/>
        </p:nvSpPr>
        <p:spPr>
          <a:xfrm>
            <a:off x="822960" y="4709160"/>
            <a:ext cx="5120640" cy="475488"/>
          </a:xfrm>
          <a:prstGeom prst="roundRect">
            <a:avLst>
              <a:gd name="adj" fmla="val 11538"/>
            </a:avLst>
          </a:prstGeom>
          <a:solidFill>
            <a:srgbClr val="FFFFFF"/>
          </a:solidFill>
          <a:ln w="12700">
            <a:solidFill>
              <a:srgbClr val="B7B7BE"/>
            </a:solidFill>
            <a:prstDash val="solid"/>
          </a:ln>
        </p:spPr>
      </p:sp>
      <p:sp>
        <p:nvSpPr>
          <p:cNvPr id="22" name="Text 20"/>
          <p:cNvSpPr/>
          <p:nvPr/>
        </p:nvSpPr>
        <p:spPr>
          <a:xfrm>
            <a:off x="877824" y="4709160"/>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OpenAI Model</a:t>
            </a:r>
            <a:endParaRPr lang="en-US" sz="1250" dirty="0"/>
          </a:p>
        </p:txBody>
      </p:sp>
      <p:sp>
        <p:nvSpPr>
          <p:cNvPr id="23" name="Shape 21"/>
          <p:cNvSpPr/>
          <p:nvPr/>
        </p:nvSpPr>
        <p:spPr>
          <a:xfrm>
            <a:off x="3383280" y="5184648"/>
            <a:ext cx="0" cy="128016"/>
          </a:xfrm>
          <a:prstGeom prst="line">
            <a:avLst/>
          </a:prstGeom>
          <a:noFill/>
          <a:ln w="22225">
            <a:solidFill>
              <a:srgbClr val="6F6F77"/>
            </a:solidFill>
            <a:prstDash val="solid"/>
            <a:tailEnd type="triangle"/>
          </a:ln>
        </p:spPr>
      </p:sp>
      <p:sp>
        <p:nvSpPr>
          <p:cNvPr id="24" name="Shape 22"/>
          <p:cNvSpPr/>
          <p:nvPr/>
        </p:nvSpPr>
        <p:spPr>
          <a:xfrm>
            <a:off x="822960" y="5312664"/>
            <a:ext cx="5120640" cy="475488"/>
          </a:xfrm>
          <a:prstGeom prst="roundRect">
            <a:avLst>
              <a:gd name="adj" fmla="val 11538"/>
            </a:avLst>
          </a:prstGeom>
          <a:solidFill>
            <a:srgbClr val="FFE600"/>
          </a:solidFill>
          <a:ln w="12700">
            <a:solidFill>
              <a:srgbClr val="B7B7BE"/>
            </a:solidFill>
            <a:prstDash val="solid"/>
          </a:ln>
        </p:spPr>
      </p:sp>
      <p:sp>
        <p:nvSpPr>
          <p:cNvPr id="25" name="Text 23"/>
          <p:cNvSpPr/>
          <p:nvPr/>
        </p:nvSpPr>
        <p:spPr>
          <a:xfrm>
            <a:off x="877824" y="5312664"/>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Grounded Response</a:t>
            </a:r>
            <a:endParaRPr lang="en-US" sz="1250" dirty="0"/>
          </a:p>
        </p:txBody>
      </p:sp>
      <p:sp>
        <p:nvSpPr>
          <p:cNvPr id="26" name="Shape 24"/>
          <p:cNvSpPr/>
          <p:nvPr/>
        </p:nvSpPr>
        <p:spPr>
          <a:xfrm>
            <a:off x="6446520" y="1691640"/>
            <a:ext cx="5120640" cy="2788920"/>
          </a:xfrm>
          <a:prstGeom prst="roundRect">
            <a:avLst>
              <a:gd name="adj" fmla="val 3279"/>
            </a:avLst>
          </a:prstGeom>
          <a:solidFill>
            <a:srgbClr val="FFFFFF"/>
          </a:solidFill>
          <a:ln w="12700">
            <a:solidFill>
              <a:srgbClr val="B7B7BE"/>
            </a:solidFill>
            <a:prstDash val="solid"/>
          </a:ln>
          <a:effectLst>
            <a:outerShdw sx="100000" sy="100000" kx="0" ky="0" algn="bl" rotWithShape="0" blurRad="76200" dist="25400" dir="5400000">
              <a:srgbClr val="1E2761">
                <a:alpha val="18000"/>
              </a:srgbClr>
            </a:outerShdw>
          </a:effectLst>
        </p:spPr>
      </p:sp>
      <p:sp>
        <p:nvSpPr>
          <p:cNvPr id="27" name="Text 25"/>
          <p:cNvSpPr/>
          <p:nvPr/>
        </p:nvSpPr>
        <p:spPr>
          <a:xfrm>
            <a:off x="6501384" y="1691640"/>
            <a:ext cx="5010912" cy="2788920"/>
          </a:xfrm>
          <a:prstGeom prst="rect">
            <a:avLst/>
          </a:prstGeom>
          <a:noFill/>
          <a:ln/>
        </p:spPr>
        <p:txBody>
          <a:bodyPr wrap="square" lIns="0" tIns="0" rIns="0" bIns="0" rtlCol="0" anchor="ctr">
            <a:normAutofit/>
          </a:bodyPr>
          <a:lstStyle/>
          <a:p>
            <a:pPr algn="ctr" indent="0" marL="0">
              <a:buNone/>
            </a:pPr>
            <a:endParaRPr lang="en-US" sz="1200" dirty="0"/>
          </a:p>
        </p:txBody>
      </p:sp>
      <p:sp>
        <p:nvSpPr>
          <p:cNvPr id="28" name="Text 26"/>
          <p:cNvSpPr/>
          <p:nvPr/>
        </p:nvSpPr>
        <p:spPr>
          <a:xfrm>
            <a:off x="6675120" y="1828800"/>
            <a:ext cx="4663440" cy="320040"/>
          </a:xfrm>
          <a:prstGeom prst="rect">
            <a:avLst/>
          </a:prstGeom>
          <a:noFill/>
          <a:ln/>
        </p:spPr>
        <p:txBody>
          <a:bodyPr wrap="square" lIns="0" tIns="0" rIns="0" bIns="0" rtlCol="0" anchor="ctr"/>
          <a:lstStyle/>
          <a:p>
            <a:pPr indent="0" marL="0">
              <a:buNone/>
            </a:pPr>
            <a:r>
              <a:rPr lang="en-US" sz="1500" b="1" dirty="0">
                <a:solidFill>
                  <a:srgbClr val="1A1A24"/>
                </a:solidFill>
                <a:latin typeface="Cambria" pitchFamily="34" charset="0"/>
                <a:ea typeface="Cambria" pitchFamily="34" charset="-122"/>
                <a:cs typeface="Cambria" pitchFamily="34" charset="-120"/>
              </a:rPr>
              <a:t>Example</a:t>
            </a:r>
            <a:endParaRPr lang="en-US" sz="1500" dirty="0"/>
          </a:p>
        </p:txBody>
      </p:sp>
      <p:sp>
        <p:nvSpPr>
          <p:cNvPr id="29" name="Text 27"/>
          <p:cNvSpPr/>
          <p:nvPr/>
        </p:nvSpPr>
        <p:spPr>
          <a:xfrm>
            <a:off x="6675120" y="2148840"/>
            <a:ext cx="4663440" cy="502920"/>
          </a:xfrm>
          <a:prstGeom prst="rect">
            <a:avLst/>
          </a:prstGeom>
          <a:noFill/>
          <a:ln/>
        </p:spPr>
        <p:txBody>
          <a:bodyPr wrap="square" lIns="0" tIns="0" rIns="0" bIns="0" rtlCol="0" anchor="ctr"/>
          <a:lstStyle/>
          <a:p>
            <a:pPr indent="0" marL="0">
              <a:buNone/>
            </a:pPr>
            <a:r>
              <a:rPr lang="en-US" sz="1200" i="1" dirty="0">
                <a:solidFill>
                  <a:srgbClr val="6F6F77"/>
                </a:solidFill>
                <a:latin typeface="Calibri" pitchFamily="34" charset="0"/>
                <a:ea typeface="Calibri" pitchFamily="34" charset="-122"/>
                <a:cs typeface="Calibri" pitchFamily="34" charset="-120"/>
              </a:rPr>
              <a:t>“What is the process for approving a business loan?”</a:t>
            </a:r>
            <a:endParaRPr lang="en-US" sz="1200" dirty="0"/>
          </a:p>
        </p:txBody>
      </p:sp>
      <p:sp>
        <p:nvSpPr>
          <p:cNvPr id="30" name="Shape 28"/>
          <p:cNvSpPr/>
          <p:nvPr/>
        </p:nvSpPr>
        <p:spPr>
          <a:xfrm>
            <a:off x="6675120" y="2743200"/>
            <a:ext cx="4663440" cy="384048"/>
          </a:xfrm>
          <a:prstGeom prst="roundRect">
            <a:avLst>
              <a:gd name="adj" fmla="val 50000"/>
            </a:avLst>
          </a:prstGeom>
          <a:solidFill>
            <a:srgbClr val="E8E8EA"/>
          </a:solidFill>
          <a:ln w="12700">
            <a:solidFill>
              <a:srgbClr val="FFFFFF"/>
            </a:solidFill>
            <a:prstDash val="solid"/>
          </a:ln>
        </p:spPr>
      </p:sp>
      <p:sp>
        <p:nvSpPr>
          <p:cNvPr id="31" name="Text 29"/>
          <p:cNvSpPr/>
          <p:nvPr/>
        </p:nvSpPr>
        <p:spPr>
          <a:xfrm>
            <a:off x="6675120" y="2743200"/>
            <a:ext cx="4663440" cy="384048"/>
          </a:xfrm>
          <a:prstGeom prst="rect">
            <a:avLst/>
          </a:prstGeom>
          <a:noFill/>
          <a:ln/>
        </p:spPr>
        <p:txBody>
          <a:bodyPr wrap="square" lIns="0" tIns="0" rIns="0" bIns="0" rtlCol="0" anchor="ctr"/>
          <a:lstStyle/>
          <a:p>
            <a:pPr algn="ctr" indent="0" marL="0">
              <a:buNone/>
            </a:pPr>
            <a:r>
              <a:rPr lang="en-US" sz="1050" b="1" dirty="0">
                <a:solidFill>
                  <a:srgbClr val="1A1A24"/>
                </a:solidFill>
                <a:latin typeface="Calibri" pitchFamily="34" charset="0"/>
                <a:ea typeface="Calibri" pitchFamily="34" charset="-122"/>
                <a:cs typeface="Calibri" pitchFamily="34" charset="-120"/>
              </a:rPr>
              <a:t>Search retrieves relevant loan policy documents</a:t>
            </a:r>
            <a:endParaRPr lang="en-US" sz="1050" dirty="0"/>
          </a:p>
        </p:txBody>
      </p:sp>
      <p:sp>
        <p:nvSpPr>
          <p:cNvPr id="32" name="Shape 30"/>
          <p:cNvSpPr/>
          <p:nvPr/>
        </p:nvSpPr>
        <p:spPr>
          <a:xfrm>
            <a:off x="6903720" y="3127248"/>
            <a:ext cx="0" cy="91440"/>
          </a:xfrm>
          <a:prstGeom prst="line">
            <a:avLst/>
          </a:prstGeom>
          <a:noFill/>
          <a:ln w="22225">
            <a:solidFill>
              <a:srgbClr val="6F6F77"/>
            </a:solidFill>
            <a:prstDash val="solid"/>
            <a:tailEnd type="triangle"/>
          </a:ln>
        </p:spPr>
      </p:sp>
      <p:sp>
        <p:nvSpPr>
          <p:cNvPr id="33" name="Shape 31"/>
          <p:cNvSpPr/>
          <p:nvPr/>
        </p:nvSpPr>
        <p:spPr>
          <a:xfrm>
            <a:off x="6675120" y="3218688"/>
            <a:ext cx="4663440" cy="384048"/>
          </a:xfrm>
          <a:prstGeom prst="roundRect">
            <a:avLst>
              <a:gd name="adj" fmla="val 50000"/>
            </a:avLst>
          </a:prstGeom>
          <a:solidFill>
            <a:srgbClr val="E8E8EA"/>
          </a:solidFill>
          <a:ln w="12700">
            <a:solidFill>
              <a:srgbClr val="FFFFFF"/>
            </a:solidFill>
            <a:prstDash val="solid"/>
          </a:ln>
        </p:spPr>
      </p:sp>
      <p:sp>
        <p:nvSpPr>
          <p:cNvPr id="34" name="Text 32"/>
          <p:cNvSpPr/>
          <p:nvPr/>
        </p:nvSpPr>
        <p:spPr>
          <a:xfrm>
            <a:off x="6675120" y="3218688"/>
            <a:ext cx="4663440" cy="384048"/>
          </a:xfrm>
          <a:prstGeom prst="rect">
            <a:avLst/>
          </a:prstGeom>
          <a:noFill/>
          <a:ln/>
        </p:spPr>
        <p:txBody>
          <a:bodyPr wrap="square" lIns="0" tIns="0" rIns="0" bIns="0" rtlCol="0" anchor="ctr"/>
          <a:lstStyle/>
          <a:p>
            <a:pPr algn="ctr" indent="0" marL="0">
              <a:buNone/>
            </a:pPr>
            <a:r>
              <a:rPr lang="en-US" sz="1050" b="1" dirty="0">
                <a:solidFill>
                  <a:srgbClr val="1A1A24"/>
                </a:solidFill>
                <a:latin typeface="Calibri" pitchFamily="34" charset="0"/>
                <a:ea typeface="Calibri" pitchFamily="34" charset="-122"/>
                <a:cs typeface="Calibri" pitchFamily="34" charset="-120"/>
              </a:rPr>
              <a:t>Relevant policy is passed to GPT</a:t>
            </a:r>
            <a:endParaRPr lang="en-US" sz="1050" dirty="0"/>
          </a:p>
        </p:txBody>
      </p:sp>
      <p:sp>
        <p:nvSpPr>
          <p:cNvPr id="35" name="Shape 33"/>
          <p:cNvSpPr/>
          <p:nvPr/>
        </p:nvSpPr>
        <p:spPr>
          <a:xfrm>
            <a:off x="6903720" y="3602736"/>
            <a:ext cx="0" cy="91440"/>
          </a:xfrm>
          <a:prstGeom prst="line">
            <a:avLst/>
          </a:prstGeom>
          <a:noFill/>
          <a:ln w="22225">
            <a:solidFill>
              <a:srgbClr val="6F6F77"/>
            </a:solidFill>
            <a:prstDash val="solid"/>
            <a:tailEnd type="triangle"/>
          </a:ln>
        </p:spPr>
      </p:sp>
      <p:sp>
        <p:nvSpPr>
          <p:cNvPr id="36" name="Shape 34"/>
          <p:cNvSpPr/>
          <p:nvPr/>
        </p:nvSpPr>
        <p:spPr>
          <a:xfrm>
            <a:off x="6675120" y="3694176"/>
            <a:ext cx="4663440" cy="384048"/>
          </a:xfrm>
          <a:prstGeom prst="roundRect">
            <a:avLst>
              <a:gd name="adj" fmla="val 50000"/>
            </a:avLst>
          </a:prstGeom>
          <a:solidFill>
            <a:srgbClr val="FFE600"/>
          </a:solidFill>
          <a:ln w="12700">
            <a:solidFill>
              <a:srgbClr val="FFFFFF"/>
            </a:solidFill>
            <a:prstDash val="solid"/>
          </a:ln>
        </p:spPr>
      </p:sp>
      <p:sp>
        <p:nvSpPr>
          <p:cNvPr id="37" name="Text 35"/>
          <p:cNvSpPr/>
          <p:nvPr/>
        </p:nvSpPr>
        <p:spPr>
          <a:xfrm>
            <a:off x="6675120" y="3694176"/>
            <a:ext cx="4663440" cy="384048"/>
          </a:xfrm>
          <a:prstGeom prst="rect">
            <a:avLst/>
          </a:prstGeom>
          <a:noFill/>
          <a:ln/>
        </p:spPr>
        <p:txBody>
          <a:bodyPr wrap="square" lIns="0" tIns="0" rIns="0" bIns="0" rtlCol="0" anchor="ctr"/>
          <a:lstStyle/>
          <a:p>
            <a:pPr algn="ctr" indent="0" marL="0">
              <a:buNone/>
            </a:pPr>
            <a:r>
              <a:rPr lang="en-US" sz="1050" b="1" dirty="0">
                <a:solidFill>
                  <a:srgbClr val="1A1A24"/>
                </a:solidFill>
                <a:latin typeface="Calibri" pitchFamily="34" charset="0"/>
                <a:ea typeface="Calibri" pitchFamily="34" charset="-122"/>
                <a:cs typeface="Calibri" pitchFamily="34" charset="-120"/>
              </a:rPr>
              <a:t>GPT generates an answer based on company data</a:t>
            </a:r>
            <a:endParaRPr lang="en-US" sz="1050" dirty="0"/>
          </a:p>
        </p:txBody>
      </p:sp>
      <p:sp>
        <p:nvSpPr>
          <p:cNvPr id="38" name="Shape 36"/>
          <p:cNvSpPr/>
          <p:nvPr/>
        </p:nvSpPr>
        <p:spPr>
          <a:xfrm>
            <a:off x="6446520" y="4709160"/>
            <a:ext cx="5120640" cy="1371600"/>
          </a:xfrm>
          <a:prstGeom prst="roundRect">
            <a:avLst>
              <a:gd name="adj" fmla="val 6667"/>
            </a:avLst>
          </a:prstGeom>
          <a:solidFill>
            <a:srgbClr val="1A1A24"/>
          </a:solidFill>
          <a:ln w="12700">
            <a:solidFill>
              <a:srgbClr val="1A1A24"/>
            </a:solidFill>
            <a:prstDash val="solid"/>
          </a:ln>
        </p:spPr>
      </p:sp>
      <p:sp>
        <p:nvSpPr>
          <p:cNvPr id="39" name="Text 37"/>
          <p:cNvSpPr/>
          <p:nvPr/>
        </p:nvSpPr>
        <p:spPr>
          <a:xfrm>
            <a:off x="6501384" y="4709160"/>
            <a:ext cx="5010912" cy="13716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Key message: RAG allows us to use OpenAI with enterprise knowledge without retraining the model.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8"/>
        </a:solidFill>
      </p:bgPr>
    </p:bg>
    <p:spTree>
      <p:nvGrpSpPr>
        <p:cNvPr id="1" name=""/>
        <p:cNvGrpSpPr/>
        <p:nvPr/>
      </p:nvGrpSpPr>
      <p:grpSpPr>
        <a:xfrm>
          <a:off x="0" y="0"/>
          <a:ext cx="0" cy="0"/>
          <a:chOff x="0" y="0"/>
          <a:chExt cx="0" cy="0"/>
        </a:xfrm>
      </p:grpSpPr>
      <p:sp>
        <p:nvSpPr>
          <p:cNvPr id="2" name="Shape 0"/>
          <p:cNvSpPr/>
          <p:nvPr/>
        </p:nvSpPr>
        <p:spPr>
          <a:xfrm>
            <a:off x="11137392" y="320040"/>
            <a:ext cx="731520" cy="384048"/>
          </a:xfrm>
          <a:prstGeom prst="rect">
            <a:avLst/>
          </a:prstGeom>
          <a:solidFill>
            <a:srgbClr val="FFE600"/>
          </a:solidFill>
          <a:ln w="12700">
            <a:solidFill>
              <a:srgbClr val="FFE600"/>
            </a:solidFill>
            <a:prstDash val="solid"/>
          </a:ln>
        </p:spPr>
      </p:sp>
      <p:sp>
        <p:nvSpPr>
          <p:cNvPr id="3" name="Text 1"/>
          <p:cNvSpPr/>
          <p:nvPr/>
        </p:nvSpPr>
        <p:spPr>
          <a:xfrm>
            <a:off x="11137392" y="320040"/>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548640"/>
          </a:xfrm>
          <a:prstGeom prst="rect">
            <a:avLst/>
          </a:prstGeom>
          <a:noFill/>
          <a:ln/>
        </p:spPr>
        <p:txBody>
          <a:bodyPr wrap="square" lIns="0" tIns="0" rIns="0" bIns="0" rtlCol="0" anchor="ctr"/>
          <a:lstStyle/>
          <a:p>
            <a:pPr algn="l" indent="0" marL="0">
              <a:buNone/>
            </a:pPr>
            <a:r>
              <a:rPr lang="en-US" sz="2700" b="1" dirty="0">
                <a:solidFill>
                  <a:srgbClr val="1A1A24"/>
                </a:solidFill>
                <a:latin typeface="Cambria" pitchFamily="34" charset="0"/>
                <a:ea typeface="Cambria" pitchFamily="34" charset="-122"/>
                <a:cs typeface="Cambria" pitchFamily="34" charset="-120"/>
              </a:rPr>
              <a:t>Security, Privacy &amp; Data Residency</a:t>
            </a:r>
            <a:endParaRPr lang="en-US" sz="2700" dirty="0"/>
          </a:p>
        </p:txBody>
      </p:sp>
      <p:sp>
        <p:nvSpPr>
          <p:cNvPr id="5" name="Shape 3"/>
          <p:cNvSpPr/>
          <p:nvPr/>
        </p:nvSpPr>
        <p:spPr>
          <a:xfrm>
            <a:off x="6094476" y="1005840"/>
            <a:ext cx="0" cy="5074920"/>
          </a:xfrm>
          <a:prstGeom prst="line">
            <a:avLst/>
          </a:prstGeom>
          <a:noFill/>
          <a:ln w="12700">
            <a:solidFill>
              <a:srgbClr val="B7B7BE"/>
            </a:solidFill>
            <a:prstDash val="dash"/>
          </a:ln>
        </p:spPr>
      </p:sp>
      <p:sp>
        <p:nvSpPr>
          <p:cNvPr id="6" name="Text 4"/>
          <p:cNvSpPr/>
          <p:nvPr/>
        </p:nvSpPr>
        <p:spPr>
          <a:xfrm>
            <a:off x="548640" y="1051560"/>
            <a:ext cx="5394960" cy="365760"/>
          </a:xfrm>
          <a:prstGeom prst="rect">
            <a:avLst/>
          </a:prstGeom>
          <a:noFill/>
          <a:ln/>
        </p:spPr>
        <p:txBody>
          <a:bodyPr wrap="square" lIns="0" tIns="0" rIns="0" bIns="0" rtlCol="0" anchor="ctr"/>
          <a:lstStyle/>
          <a:p>
            <a:pPr indent="0" marL="0">
              <a:buNone/>
            </a:pPr>
            <a:r>
              <a:rPr lang="en-US" sz="1600" b="1" dirty="0">
                <a:solidFill>
                  <a:srgbClr val="1A1A24"/>
                </a:solidFill>
                <a:latin typeface="Cambria" pitchFamily="34" charset="0"/>
                <a:ea typeface="Cambria" pitchFamily="34" charset="-122"/>
                <a:cs typeface="Cambria" pitchFamily="34" charset="-120"/>
              </a:rPr>
              <a:t>Security Architecture</a:t>
            </a:r>
            <a:endParaRPr lang="en-US" sz="1600" dirty="0"/>
          </a:p>
        </p:txBody>
      </p:sp>
      <p:sp>
        <p:nvSpPr>
          <p:cNvPr id="7" name="Shape 5"/>
          <p:cNvSpPr/>
          <p:nvPr/>
        </p:nvSpPr>
        <p:spPr>
          <a:xfrm>
            <a:off x="1463040" y="1508760"/>
            <a:ext cx="3566160" cy="365760"/>
          </a:xfrm>
          <a:prstGeom prst="roundRect">
            <a:avLst>
              <a:gd name="adj" fmla="val 15000"/>
            </a:avLst>
          </a:prstGeom>
          <a:solidFill>
            <a:srgbClr val="1A1A24"/>
          </a:solidFill>
          <a:ln w="12700">
            <a:solidFill>
              <a:srgbClr val="B7B7BE"/>
            </a:solidFill>
            <a:prstDash val="solid"/>
          </a:ln>
        </p:spPr>
      </p:sp>
      <p:sp>
        <p:nvSpPr>
          <p:cNvPr id="8" name="Text 6"/>
          <p:cNvSpPr/>
          <p:nvPr/>
        </p:nvSpPr>
        <p:spPr>
          <a:xfrm>
            <a:off x="1517904" y="15087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User</a:t>
            </a:r>
            <a:endParaRPr lang="en-US" sz="1100" dirty="0"/>
          </a:p>
        </p:txBody>
      </p:sp>
      <p:sp>
        <p:nvSpPr>
          <p:cNvPr id="9" name="Shape 7"/>
          <p:cNvSpPr/>
          <p:nvPr/>
        </p:nvSpPr>
        <p:spPr>
          <a:xfrm>
            <a:off x="3246120" y="1874520"/>
            <a:ext cx="0" cy="91440"/>
          </a:xfrm>
          <a:prstGeom prst="line">
            <a:avLst/>
          </a:prstGeom>
          <a:noFill/>
          <a:ln w="22225">
            <a:solidFill>
              <a:srgbClr val="6F6F77"/>
            </a:solidFill>
            <a:prstDash val="solid"/>
            <a:tailEnd type="triangle"/>
          </a:ln>
        </p:spPr>
      </p:sp>
      <p:sp>
        <p:nvSpPr>
          <p:cNvPr id="10" name="Shape 8"/>
          <p:cNvSpPr/>
          <p:nvPr/>
        </p:nvSpPr>
        <p:spPr>
          <a:xfrm>
            <a:off x="1463040" y="1965960"/>
            <a:ext cx="3566160" cy="365760"/>
          </a:xfrm>
          <a:prstGeom prst="roundRect">
            <a:avLst>
              <a:gd name="adj" fmla="val 15000"/>
            </a:avLst>
          </a:prstGeom>
          <a:solidFill>
            <a:srgbClr val="FFFFFF"/>
          </a:solidFill>
          <a:ln w="12700">
            <a:solidFill>
              <a:srgbClr val="B7B7BE"/>
            </a:solidFill>
            <a:prstDash val="solid"/>
          </a:ln>
        </p:spPr>
      </p:sp>
      <p:sp>
        <p:nvSpPr>
          <p:cNvPr id="11" name="Text 9"/>
          <p:cNvSpPr/>
          <p:nvPr/>
        </p:nvSpPr>
        <p:spPr>
          <a:xfrm>
            <a:off x="1517904" y="19659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WAF</a:t>
            </a:r>
            <a:endParaRPr lang="en-US" sz="1100" dirty="0"/>
          </a:p>
        </p:txBody>
      </p:sp>
      <p:sp>
        <p:nvSpPr>
          <p:cNvPr id="12" name="Shape 10"/>
          <p:cNvSpPr/>
          <p:nvPr/>
        </p:nvSpPr>
        <p:spPr>
          <a:xfrm>
            <a:off x="3246120" y="2331720"/>
            <a:ext cx="0" cy="91440"/>
          </a:xfrm>
          <a:prstGeom prst="line">
            <a:avLst/>
          </a:prstGeom>
          <a:noFill/>
          <a:ln w="22225">
            <a:solidFill>
              <a:srgbClr val="6F6F77"/>
            </a:solidFill>
            <a:prstDash val="solid"/>
            <a:tailEnd type="triangle"/>
          </a:ln>
        </p:spPr>
      </p:sp>
      <p:sp>
        <p:nvSpPr>
          <p:cNvPr id="13" name="Shape 11"/>
          <p:cNvSpPr/>
          <p:nvPr/>
        </p:nvSpPr>
        <p:spPr>
          <a:xfrm>
            <a:off x="1463040" y="2423160"/>
            <a:ext cx="3566160" cy="365760"/>
          </a:xfrm>
          <a:prstGeom prst="roundRect">
            <a:avLst>
              <a:gd name="adj" fmla="val 15000"/>
            </a:avLst>
          </a:prstGeom>
          <a:solidFill>
            <a:srgbClr val="1A1A24"/>
          </a:solidFill>
          <a:ln w="12700">
            <a:solidFill>
              <a:srgbClr val="B7B7BE"/>
            </a:solidFill>
            <a:prstDash val="solid"/>
          </a:ln>
        </p:spPr>
      </p:sp>
      <p:sp>
        <p:nvSpPr>
          <p:cNvPr id="14" name="Text 12"/>
          <p:cNvSpPr/>
          <p:nvPr/>
        </p:nvSpPr>
        <p:spPr>
          <a:xfrm>
            <a:off x="1517904" y="24231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APIM</a:t>
            </a:r>
            <a:endParaRPr lang="en-US" sz="1100" dirty="0"/>
          </a:p>
        </p:txBody>
      </p:sp>
      <p:sp>
        <p:nvSpPr>
          <p:cNvPr id="15" name="Shape 13"/>
          <p:cNvSpPr/>
          <p:nvPr/>
        </p:nvSpPr>
        <p:spPr>
          <a:xfrm>
            <a:off x="3246120" y="2788920"/>
            <a:ext cx="0" cy="91440"/>
          </a:xfrm>
          <a:prstGeom prst="line">
            <a:avLst/>
          </a:prstGeom>
          <a:noFill/>
          <a:ln w="22225">
            <a:solidFill>
              <a:srgbClr val="6F6F77"/>
            </a:solidFill>
            <a:prstDash val="solid"/>
            <a:tailEnd type="triangle"/>
          </a:ln>
        </p:spPr>
      </p:sp>
      <p:sp>
        <p:nvSpPr>
          <p:cNvPr id="16" name="Shape 14"/>
          <p:cNvSpPr/>
          <p:nvPr/>
        </p:nvSpPr>
        <p:spPr>
          <a:xfrm>
            <a:off x="1463040" y="2880360"/>
            <a:ext cx="3566160" cy="365760"/>
          </a:xfrm>
          <a:prstGeom prst="roundRect">
            <a:avLst>
              <a:gd name="adj" fmla="val 15000"/>
            </a:avLst>
          </a:prstGeom>
          <a:solidFill>
            <a:srgbClr val="FFFFFF"/>
          </a:solidFill>
          <a:ln w="12700">
            <a:solidFill>
              <a:srgbClr val="B7B7BE"/>
            </a:solidFill>
            <a:prstDash val="solid"/>
          </a:ln>
        </p:spPr>
      </p:sp>
      <p:sp>
        <p:nvSpPr>
          <p:cNvPr id="17" name="Text 15"/>
          <p:cNvSpPr/>
          <p:nvPr/>
        </p:nvSpPr>
        <p:spPr>
          <a:xfrm>
            <a:off x="1517904" y="28803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Application</a:t>
            </a:r>
            <a:endParaRPr lang="en-US" sz="1100" dirty="0"/>
          </a:p>
        </p:txBody>
      </p:sp>
      <p:sp>
        <p:nvSpPr>
          <p:cNvPr id="18" name="Shape 16"/>
          <p:cNvSpPr/>
          <p:nvPr/>
        </p:nvSpPr>
        <p:spPr>
          <a:xfrm>
            <a:off x="3246120" y="3246120"/>
            <a:ext cx="0" cy="91440"/>
          </a:xfrm>
          <a:prstGeom prst="line">
            <a:avLst/>
          </a:prstGeom>
          <a:noFill/>
          <a:ln w="22225">
            <a:solidFill>
              <a:srgbClr val="6F6F77"/>
            </a:solidFill>
            <a:prstDash val="solid"/>
            <a:tailEnd type="triangle"/>
          </a:ln>
        </p:spPr>
      </p:sp>
      <p:sp>
        <p:nvSpPr>
          <p:cNvPr id="19" name="Shape 17"/>
          <p:cNvSpPr/>
          <p:nvPr/>
        </p:nvSpPr>
        <p:spPr>
          <a:xfrm>
            <a:off x="1463040" y="3337560"/>
            <a:ext cx="3566160" cy="365760"/>
          </a:xfrm>
          <a:prstGeom prst="roundRect">
            <a:avLst>
              <a:gd name="adj" fmla="val 15000"/>
            </a:avLst>
          </a:prstGeom>
          <a:solidFill>
            <a:srgbClr val="1A1A24"/>
          </a:solidFill>
          <a:ln w="12700">
            <a:solidFill>
              <a:srgbClr val="B7B7BE"/>
            </a:solidFill>
            <a:prstDash val="solid"/>
          </a:ln>
        </p:spPr>
      </p:sp>
      <p:sp>
        <p:nvSpPr>
          <p:cNvPr id="20" name="Text 18"/>
          <p:cNvSpPr/>
          <p:nvPr/>
        </p:nvSpPr>
        <p:spPr>
          <a:xfrm>
            <a:off x="1517904" y="33375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Managed Identity</a:t>
            </a:r>
            <a:endParaRPr lang="en-US" sz="1100" dirty="0"/>
          </a:p>
        </p:txBody>
      </p:sp>
      <p:sp>
        <p:nvSpPr>
          <p:cNvPr id="21" name="Shape 19"/>
          <p:cNvSpPr/>
          <p:nvPr/>
        </p:nvSpPr>
        <p:spPr>
          <a:xfrm>
            <a:off x="3246120" y="3703320"/>
            <a:ext cx="0" cy="91440"/>
          </a:xfrm>
          <a:prstGeom prst="line">
            <a:avLst/>
          </a:prstGeom>
          <a:noFill/>
          <a:ln w="22225">
            <a:solidFill>
              <a:srgbClr val="6F6F77"/>
            </a:solidFill>
            <a:prstDash val="solid"/>
            <a:tailEnd type="triangle"/>
          </a:ln>
        </p:spPr>
      </p:sp>
      <p:sp>
        <p:nvSpPr>
          <p:cNvPr id="22" name="Shape 20"/>
          <p:cNvSpPr/>
          <p:nvPr/>
        </p:nvSpPr>
        <p:spPr>
          <a:xfrm>
            <a:off x="1463040" y="3794760"/>
            <a:ext cx="3566160" cy="365760"/>
          </a:xfrm>
          <a:prstGeom prst="roundRect">
            <a:avLst>
              <a:gd name="adj" fmla="val 15000"/>
            </a:avLst>
          </a:prstGeom>
          <a:solidFill>
            <a:srgbClr val="FFFFFF"/>
          </a:solidFill>
          <a:ln w="12700">
            <a:solidFill>
              <a:srgbClr val="B7B7BE"/>
            </a:solidFill>
            <a:prstDash val="solid"/>
          </a:ln>
        </p:spPr>
      </p:sp>
      <p:sp>
        <p:nvSpPr>
          <p:cNvPr id="23" name="Text 21"/>
          <p:cNvSpPr/>
          <p:nvPr/>
        </p:nvSpPr>
        <p:spPr>
          <a:xfrm>
            <a:off x="1517904" y="37947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Entra ID + RBAC</a:t>
            </a:r>
            <a:endParaRPr lang="en-US" sz="1100" dirty="0"/>
          </a:p>
        </p:txBody>
      </p:sp>
      <p:sp>
        <p:nvSpPr>
          <p:cNvPr id="24" name="Shape 22"/>
          <p:cNvSpPr/>
          <p:nvPr/>
        </p:nvSpPr>
        <p:spPr>
          <a:xfrm>
            <a:off x="3246120" y="4160520"/>
            <a:ext cx="0" cy="91440"/>
          </a:xfrm>
          <a:prstGeom prst="line">
            <a:avLst/>
          </a:prstGeom>
          <a:noFill/>
          <a:ln w="22225">
            <a:solidFill>
              <a:srgbClr val="6F6F77"/>
            </a:solidFill>
            <a:prstDash val="solid"/>
            <a:tailEnd type="triangle"/>
          </a:ln>
        </p:spPr>
      </p:sp>
      <p:sp>
        <p:nvSpPr>
          <p:cNvPr id="25" name="Shape 23"/>
          <p:cNvSpPr/>
          <p:nvPr/>
        </p:nvSpPr>
        <p:spPr>
          <a:xfrm>
            <a:off x="1463040" y="4251960"/>
            <a:ext cx="3566160" cy="365760"/>
          </a:xfrm>
          <a:prstGeom prst="roundRect">
            <a:avLst>
              <a:gd name="adj" fmla="val 15000"/>
            </a:avLst>
          </a:prstGeom>
          <a:solidFill>
            <a:srgbClr val="1A1A24"/>
          </a:solidFill>
          <a:ln w="12700">
            <a:solidFill>
              <a:srgbClr val="B7B7BE"/>
            </a:solidFill>
            <a:prstDash val="solid"/>
          </a:ln>
        </p:spPr>
      </p:sp>
      <p:sp>
        <p:nvSpPr>
          <p:cNvPr id="26" name="Text 24"/>
          <p:cNvSpPr/>
          <p:nvPr/>
        </p:nvSpPr>
        <p:spPr>
          <a:xfrm>
            <a:off x="1517904" y="42519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Private Endpoint</a:t>
            </a:r>
            <a:endParaRPr lang="en-US" sz="1100" dirty="0"/>
          </a:p>
        </p:txBody>
      </p:sp>
      <p:sp>
        <p:nvSpPr>
          <p:cNvPr id="27" name="Shape 25"/>
          <p:cNvSpPr/>
          <p:nvPr/>
        </p:nvSpPr>
        <p:spPr>
          <a:xfrm>
            <a:off x="3246120" y="4617720"/>
            <a:ext cx="0" cy="91440"/>
          </a:xfrm>
          <a:prstGeom prst="line">
            <a:avLst/>
          </a:prstGeom>
          <a:noFill/>
          <a:ln w="22225">
            <a:solidFill>
              <a:srgbClr val="6F6F77"/>
            </a:solidFill>
            <a:prstDash val="solid"/>
            <a:tailEnd type="triangle"/>
          </a:ln>
        </p:spPr>
      </p:sp>
      <p:sp>
        <p:nvSpPr>
          <p:cNvPr id="28" name="Shape 26"/>
          <p:cNvSpPr/>
          <p:nvPr/>
        </p:nvSpPr>
        <p:spPr>
          <a:xfrm>
            <a:off x="1463040" y="4709160"/>
            <a:ext cx="3566160" cy="365760"/>
          </a:xfrm>
          <a:prstGeom prst="roundRect">
            <a:avLst>
              <a:gd name="adj" fmla="val 15000"/>
            </a:avLst>
          </a:prstGeom>
          <a:solidFill>
            <a:srgbClr val="FFE600"/>
          </a:solidFill>
          <a:ln w="12700">
            <a:solidFill>
              <a:srgbClr val="B7B7BE"/>
            </a:solidFill>
            <a:prstDash val="solid"/>
          </a:ln>
        </p:spPr>
      </p:sp>
      <p:sp>
        <p:nvSpPr>
          <p:cNvPr id="29" name="Text 27"/>
          <p:cNvSpPr/>
          <p:nvPr/>
        </p:nvSpPr>
        <p:spPr>
          <a:xfrm>
            <a:off x="1517904" y="47091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Foundry / OpenAI</a:t>
            </a:r>
            <a:endParaRPr lang="en-US" sz="1100" dirty="0"/>
          </a:p>
        </p:txBody>
      </p:sp>
      <p:sp>
        <p:nvSpPr>
          <p:cNvPr id="30" name="Text 28"/>
          <p:cNvSpPr/>
          <p:nvPr/>
        </p:nvSpPr>
        <p:spPr>
          <a:xfrm>
            <a:off x="6551676" y="1051560"/>
            <a:ext cx="5394960" cy="365760"/>
          </a:xfrm>
          <a:prstGeom prst="rect">
            <a:avLst/>
          </a:prstGeom>
          <a:noFill/>
          <a:ln/>
        </p:spPr>
        <p:txBody>
          <a:bodyPr wrap="square" lIns="0" tIns="0" rIns="0" bIns="0" rtlCol="0" anchor="ctr"/>
          <a:lstStyle/>
          <a:p>
            <a:pPr indent="0" marL="0">
              <a:buNone/>
            </a:pPr>
            <a:r>
              <a:rPr lang="en-US" sz="1600" b="1" dirty="0">
                <a:solidFill>
                  <a:srgbClr val="1A1A24"/>
                </a:solidFill>
                <a:latin typeface="Cambria" pitchFamily="34" charset="0"/>
                <a:ea typeface="Cambria" pitchFamily="34" charset="-122"/>
                <a:cs typeface="Cambria" pitchFamily="34" charset="-120"/>
              </a:rPr>
              <a:t>Data &amp; Privacy</a:t>
            </a:r>
            <a:endParaRPr lang="en-US" sz="1600" dirty="0"/>
          </a:p>
        </p:txBody>
      </p:sp>
      <p:sp>
        <p:nvSpPr>
          <p:cNvPr id="31" name="Text 29"/>
          <p:cNvSpPr/>
          <p:nvPr/>
        </p:nvSpPr>
        <p:spPr>
          <a:xfrm>
            <a:off x="6551676" y="1508760"/>
            <a:ext cx="5394960" cy="274320"/>
          </a:xfrm>
          <a:prstGeom prst="rect">
            <a:avLst/>
          </a:prstGeom>
          <a:noFill/>
          <a:ln/>
        </p:spPr>
        <p:txBody>
          <a:bodyPr wrap="square" lIns="0" tIns="0" rIns="0" bIns="0" rtlCol="0" anchor="ctr"/>
          <a:lstStyle/>
          <a:p>
            <a:pPr indent="0" marL="0">
              <a:buNone/>
            </a:pPr>
            <a:r>
              <a:rPr lang="en-US" sz="1200" b="1" dirty="0">
                <a:solidFill>
                  <a:srgbClr val="6F6F77"/>
                </a:solidFill>
                <a:latin typeface="Calibri" pitchFamily="34" charset="0"/>
                <a:ea typeface="Calibri" pitchFamily="34" charset="-122"/>
                <a:cs typeface="Calibri" pitchFamily="34" charset="-120"/>
              </a:rPr>
              <a:t>OpenAI Direct</a:t>
            </a:r>
            <a:endParaRPr lang="en-US" sz="1200" dirty="0"/>
          </a:p>
        </p:txBody>
      </p:sp>
      <p:sp>
        <p:nvSpPr>
          <p:cNvPr id="32" name="Shape 30"/>
          <p:cNvSpPr/>
          <p:nvPr/>
        </p:nvSpPr>
        <p:spPr>
          <a:xfrm>
            <a:off x="6551676" y="1810512"/>
            <a:ext cx="2194560" cy="411480"/>
          </a:xfrm>
          <a:prstGeom prst="roundRect">
            <a:avLst>
              <a:gd name="adj" fmla="val 13333"/>
            </a:avLst>
          </a:prstGeom>
          <a:solidFill>
            <a:srgbClr val="FFFFFF"/>
          </a:solidFill>
          <a:ln w="12700">
            <a:solidFill>
              <a:srgbClr val="B7B7BE"/>
            </a:solidFill>
            <a:prstDash val="solid"/>
          </a:ln>
        </p:spPr>
      </p:sp>
      <p:sp>
        <p:nvSpPr>
          <p:cNvPr id="33" name="Text 31"/>
          <p:cNvSpPr/>
          <p:nvPr/>
        </p:nvSpPr>
        <p:spPr>
          <a:xfrm>
            <a:off x="6606540" y="1810512"/>
            <a:ext cx="2084832" cy="41148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Application</a:t>
            </a:r>
            <a:endParaRPr lang="en-US" sz="1100" dirty="0"/>
          </a:p>
        </p:txBody>
      </p:sp>
      <p:sp>
        <p:nvSpPr>
          <p:cNvPr id="34" name="Shape 32"/>
          <p:cNvSpPr/>
          <p:nvPr/>
        </p:nvSpPr>
        <p:spPr>
          <a:xfrm>
            <a:off x="8746236" y="2011680"/>
            <a:ext cx="274320" cy="0"/>
          </a:xfrm>
          <a:prstGeom prst="line">
            <a:avLst/>
          </a:prstGeom>
          <a:noFill/>
          <a:ln w="19050">
            <a:solidFill>
              <a:srgbClr val="6F6F77"/>
            </a:solidFill>
            <a:prstDash val="solid"/>
            <a:tailEnd type="triangle"/>
          </a:ln>
        </p:spPr>
      </p:sp>
      <p:sp>
        <p:nvSpPr>
          <p:cNvPr id="35" name="Shape 33"/>
          <p:cNvSpPr/>
          <p:nvPr/>
        </p:nvSpPr>
        <p:spPr>
          <a:xfrm>
            <a:off x="9020556" y="1810512"/>
            <a:ext cx="2926080" cy="411480"/>
          </a:xfrm>
          <a:prstGeom prst="roundRect">
            <a:avLst>
              <a:gd name="adj" fmla="val 13333"/>
            </a:avLst>
          </a:prstGeom>
          <a:solidFill>
            <a:srgbClr val="43424B"/>
          </a:solidFill>
          <a:ln w="12700">
            <a:solidFill>
              <a:srgbClr val="1A1A24"/>
            </a:solidFill>
            <a:prstDash val="solid"/>
          </a:ln>
        </p:spPr>
      </p:sp>
      <p:sp>
        <p:nvSpPr>
          <p:cNvPr id="36" name="Text 34"/>
          <p:cNvSpPr/>
          <p:nvPr/>
        </p:nvSpPr>
        <p:spPr>
          <a:xfrm>
            <a:off x="9075420" y="1810512"/>
            <a:ext cx="2816352" cy="4114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OpenAI Infrastructure</a:t>
            </a:r>
            <a:endParaRPr lang="en-US" sz="1100" dirty="0"/>
          </a:p>
        </p:txBody>
      </p:sp>
      <p:sp>
        <p:nvSpPr>
          <p:cNvPr id="37" name="Text 35"/>
          <p:cNvSpPr/>
          <p:nvPr/>
        </p:nvSpPr>
        <p:spPr>
          <a:xfrm>
            <a:off x="6551676" y="2395728"/>
            <a:ext cx="5394960" cy="274320"/>
          </a:xfrm>
          <a:prstGeom prst="rect">
            <a:avLst/>
          </a:prstGeom>
          <a:noFill/>
          <a:ln/>
        </p:spPr>
        <p:txBody>
          <a:bodyPr wrap="square" lIns="0" tIns="0" rIns="0" bIns="0" rtlCol="0" anchor="ctr"/>
          <a:lstStyle/>
          <a:p>
            <a:pPr indent="0" marL="0">
              <a:buNone/>
            </a:pPr>
            <a:r>
              <a:rPr lang="en-US" sz="1200" b="1" dirty="0">
                <a:solidFill>
                  <a:srgbClr val="6F6F77"/>
                </a:solidFill>
                <a:latin typeface="Calibri" pitchFamily="34" charset="0"/>
                <a:ea typeface="Calibri" pitchFamily="34" charset="-122"/>
                <a:cs typeface="Calibri" pitchFamily="34" charset="-120"/>
              </a:rPr>
              <a:t>Azure OpenAI / Foundry</a:t>
            </a:r>
            <a:endParaRPr lang="en-US" sz="1200" dirty="0"/>
          </a:p>
        </p:txBody>
      </p:sp>
      <p:sp>
        <p:nvSpPr>
          <p:cNvPr id="38" name="Shape 36"/>
          <p:cNvSpPr/>
          <p:nvPr/>
        </p:nvSpPr>
        <p:spPr>
          <a:xfrm>
            <a:off x="6551676" y="2697480"/>
            <a:ext cx="1627632" cy="411480"/>
          </a:xfrm>
          <a:prstGeom prst="roundRect">
            <a:avLst>
              <a:gd name="adj" fmla="val 13333"/>
            </a:avLst>
          </a:prstGeom>
          <a:solidFill>
            <a:srgbClr val="FFFFFF"/>
          </a:solidFill>
          <a:ln w="12700">
            <a:solidFill>
              <a:srgbClr val="B7B7BE"/>
            </a:solidFill>
            <a:prstDash val="solid"/>
          </a:ln>
        </p:spPr>
      </p:sp>
      <p:sp>
        <p:nvSpPr>
          <p:cNvPr id="39" name="Text 37"/>
          <p:cNvSpPr/>
          <p:nvPr/>
        </p:nvSpPr>
        <p:spPr>
          <a:xfrm>
            <a:off x="6606540" y="2697480"/>
            <a:ext cx="1517904" cy="411480"/>
          </a:xfrm>
          <a:prstGeom prst="rect">
            <a:avLst/>
          </a:prstGeom>
          <a:noFill/>
          <a:ln/>
        </p:spPr>
        <p:txBody>
          <a:bodyPr wrap="square" lIns="0" tIns="0" rIns="0" bIns="0" rtlCol="0" anchor="ctr">
            <a:normAutofit/>
          </a:bodyPr>
          <a:lstStyle/>
          <a:p>
            <a:pPr algn="ctr" indent="0" marL="0">
              <a:buNone/>
            </a:pPr>
            <a:r>
              <a:rPr lang="en-US" sz="1000" b="1" dirty="0">
                <a:solidFill>
                  <a:srgbClr val="1A1A24"/>
                </a:solidFill>
                <a:latin typeface="Calibri" pitchFamily="34" charset="0"/>
                <a:ea typeface="Calibri" pitchFamily="34" charset="-122"/>
                <a:cs typeface="Calibri" pitchFamily="34" charset="-120"/>
              </a:rPr>
              <a:t>Application</a:t>
            </a:r>
            <a:endParaRPr lang="en-US" sz="1000" dirty="0"/>
          </a:p>
        </p:txBody>
      </p:sp>
      <p:sp>
        <p:nvSpPr>
          <p:cNvPr id="40" name="Shape 38"/>
          <p:cNvSpPr/>
          <p:nvPr/>
        </p:nvSpPr>
        <p:spPr>
          <a:xfrm>
            <a:off x="8179308" y="2898648"/>
            <a:ext cx="256032" cy="0"/>
          </a:xfrm>
          <a:prstGeom prst="line">
            <a:avLst/>
          </a:prstGeom>
          <a:noFill/>
          <a:ln w="19050">
            <a:solidFill>
              <a:srgbClr val="6F6F77"/>
            </a:solidFill>
            <a:prstDash val="solid"/>
            <a:tailEnd type="triangle"/>
          </a:ln>
        </p:spPr>
      </p:sp>
      <p:sp>
        <p:nvSpPr>
          <p:cNvPr id="41" name="Shape 39"/>
          <p:cNvSpPr/>
          <p:nvPr/>
        </p:nvSpPr>
        <p:spPr>
          <a:xfrm>
            <a:off x="8435340" y="2697480"/>
            <a:ext cx="1627632" cy="411480"/>
          </a:xfrm>
          <a:prstGeom prst="roundRect">
            <a:avLst>
              <a:gd name="adj" fmla="val 13333"/>
            </a:avLst>
          </a:prstGeom>
          <a:solidFill>
            <a:srgbClr val="FFE600"/>
          </a:solidFill>
          <a:ln w="12700">
            <a:solidFill>
              <a:srgbClr val="1A1A24"/>
            </a:solidFill>
            <a:prstDash val="solid"/>
          </a:ln>
        </p:spPr>
      </p:sp>
      <p:sp>
        <p:nvSpPr>
          <p:cNvPr id="42" name="Text 40"/>
          <p:cNvSpPr/>
          <p:nvPr/>
        </p:nvSpPr>
        <p:spPr>
          <a:xfrm>
            <a:off x="8490204" y="2697480"/>
            <a:ext cx="1517904" cy="411480"/>
          </a:xfrm>
          <a:prstGeom prst="rect">
            <a:avLst/>
          </a:prstGeom>
          <a:noFill/>
          <a:ln/>
        </p:spPr>
        <p:txBody>
          <a:bodyPr wrap="square" lIns="0" tIns="0" rIns="0" bIns="0" rtlCol="0" anchor="ctr">
            <a:normAutofit/>
          </a:bodyPr>
          <a:lstStyle/>
          <a:p>
            <a:pPr algn="ctr" indent="0" marL="0">
              <a:buNone/>
            </a:pPr>
            <a:r>
              <a:rPr lang="en-US" sz="1000" b="1" dirty="0">
                <a:solidFill>
                  <a:srgbClr val="1A1A24"/>
                </a:solidFill>
                <a:latin typeface="Calibri" pitchFamily="34" charset="0"/>
                <a:ea typeface="Calibri" pitchFamily="34" charset="-122"/>
                <a:cs typeface="Calibri" pitchFamily="34" charset="-120"/>
              </a:rPr>
              <a:t>Azure / Foundry</a:t>
            </a:r>
            <a:endParaRPr lang="en-US" sz="1000" dirty="0"/>
          </a:p>
        </p:txBody>
      </p:sp>
      <p:sp>
        <p:nvSpPr>
          <p:cNvPr id="43" name="Shape 41"/>
          <p:cNvSpPr/>
          <p:nvPr/>
        </p:nvSpPr>
        <p:spPr>
          <a:xfrm>
            <a:off x="10062972" y="2898648"/>
            <a:ext cx="256032" cy="0"/>
          </a:xfrm>
          <a:prstGeom prst="line">
            <a:avLst/>
          </a:prstGeom>
          <a:noFill/>
          <a:ln w="19050">
            <a:solidFill>
              <a:srgbClr val="6F6F77"/>
            </a:solidFill>
            <a:prstDash val="solid"/>
            <a:tailEnd type="triangle"/>
          </a:ln>
        </p:spPr>
      </p:sp>
      <p:sp>
        <p:nvSpPr>
          <p:cNvPr id="44" name="Shape 42"/>
          <p:cNvSpPr/>
          <p:nvPr/>
        </p:nvSpPr>
        <p:spPr>
          <a:xfrm>
            <a:off x="10319004" y="2697480"/>
            <a:ext cx="1627632" cy="411480"/>
          </a:xfrm>
          <a:prstGeom prst="roundRect">
            <a:avLst>
              <a:gd name="adj" fmla="val 13333"/>
            </a:avLst>
          </a:prstGeom>
          <a:solidFill>
            <a:srgbClr val="43424B"/>
          </a:solidFill>
          <a:ln w="12700">
            <a:solidFill>
              <a:srgbClr val="1A1A24"/>
            </a:solidFill>
            <a:prstDash val="solid"/>
          </a:ln>
        </p:spPr>
      </p:sp>
      <p:sp>
        <p:nvSpPr>
          <p:cNvPr id="45" name="Text 43"/>
          <p:cNvSpPr/>
          <p:nvPr/>
        </p:nvSpPr>
        <p:spPr>
          <a:xfrm>
            <a:off x="10373868" y="2697480"/>
            <a:ext cx="1517904" cy="4114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OpenAI Model</a:t>
            </a:r>
            <a:endParaRPr lang="en-US" sz="1000" dirty="0"/>
          </a:p>
        </p:txBody>
      </p:sp>
      <p:sp>
        <p:nvSpPr>
          <p:cNvPr id="46" name="Text 44"/>
          <p:cNvSpPr/>
          <p:nvPr/>
        </p:nvSpPr>
        <p:spPr>
          <a:xfrm>
            <a:off x="6551676" y="3337560"/>
            <a:ext cx="5394960" cy="173736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200" dirty="0">
                <a:solidFill>
                  <a:srgbClr val="1A1A24"/>
                </a:solidFill>
                <a:latin typeface="Calibri" pitchFamily="34" charset="0"/>
                <a:ea typeface="Calibri" pitchFamily="34" charset="-122"/>
                <a:cs typeface="Calibri" pitchFamily="34" charset="-120"/>
              </a:rPr>
              <a:t>Customer data is not used to train models by default in both enterprise/API contexts.</a:t>
            </a:r>
            <a:endParaRPr lang="en-US" sz="1200" dirty="0"/>
          </a:p>
          <a:p>
            <a:pPr marL="177800" indent="-177800">
              <a:lnSpc>
                <a:spcPct val="115000"/>
              </a:lnSpc>
              <a:spcAft>
                <a:spcPts val="1000"/>
              </a:spcAft>
              <a:buSzPct val="100000"/>
              <a:buChar char="▪"/>
            </a:pPr>
            <a:r>
              <a:rPr lang="en-US" sz="1200" dirty="0">
                <a:solidFill>
                  <a:srgbClr val="1A1A24"/>
                </a:solidFill>
                <a:latin typeface="Calibri" pitchFamily="34" charset="0"/>
                <a:ea typeface="Calibri" pitchFamily="34" charset="-122"/>
                <a:cs typeface="Calibri" pitchFamily="34" charset="-120"/>
              </a:rPr>
              <a:t>Azure-hosted OpenAI provides Azure-native identity, networking and governance.</a:t>
            </a:r>
            <a:endParaRPr lang="en-US" sz="1200" dirty="0"/>
          </a:p>
          <a:p>
            <a:pPr marL="177800" indent="-177800">
              <a:lnSpc>
                <a:spcPct val="115000"/>
              </a:lnSpc>
              <a:spcAft>
                <a:spcPts val="1000"/>
              </a:spcAft>
              <a:buSzPct val="100000"/>
              <a:buChar char="▪"/>
            </a:pPr>
            <a:r>
              <a:rPr lang="en-US" sz="1200" dirty="0">
                <a:solidFill>
                  <a:srgbClr val="1A1A24"/>
                </a:solidFill>
                <a:latin typeface="Calibri" pitchFamily="34" charset="0"/>
                <a:ea typeface="Calibri" pitchFamily="34" charset="-122"/>
                <a:cs typeface="Calibri" pitchFamily="34" charset="-120"/>
              </a:rPr>
              <a:t>Data residency must consider: where data is stored, where inference is processed, and region/deployment type.</a:t>
            </a:r>
            <a:endParaRPr lang="en-US" sz="1200" dirty="0"/>
          </a:p>
        </p:txBody>
      </p:sp>
      <p:sp>
        <p:nvSpPr>
          <p:cNvPr id="47" name="Shape 45"/>
          <p:cNvSpPr/>
          <p:nvPr/>
        </p:nvSpPr>
        <p:spPr>
          <a:xfrm>
            <a:off x="548640" y="5440680"/>
            <a:ext cx="11091672" cy="914400"/>
          </a:xfrm>
          <a:prstGeom prst="roundRect">
            <a:avLst>
              <a:gd name="adj" fmla="val 8000"/>
            </a:avLst>
          </a:prstGeom>
          <a:solidFill>
            <a:srgbClr val="1A1A24"/>
          </a:solidFill>
          <a:ln w="12700">
            <a:solidFill>
              <a:srgbClr val="1A1A24"/>
            </a:solidFill>
            <a:prstDash val="solid"/>
          </a:ln>
        </p:spPr>
      </p:sp>
      <p:sp>
        <p:nvSpPr>
          <p:cNvPr id="48" name="Text 46"/>
          <p:cNvSpPr/>
          <p:nvPr/>
        </p:nvSpPr>
        <p:spPr>
          <a:xfrm>
            <a:off x="603504" y="5440680"/>
            <a:ext cx="10981944" cy="9144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For regulated workloads, we cannot just ask where the model is hosted — we need to understand where prompts are processed, where data is stored, and what deployment configuration is being used.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320040"/>
            <a:ext cx="731520" cy="384048"/>
          </a:xfrm>
          <a:prstGeom prst="rect">
            <a:avLst/>
          </a:prstGeom>
          <a:solidFill>
            <a:srgbClr val="FFE600"/>
          </a:solidFill>
          <a:ln w="12700">
            <a:solidFill>
              <a:srgbClr val="FFE600"/>
            </a:solidFill>
            <a:prstDash val="solid"/>
          </a:ln>
        </p:spPr>
      </p:sp>
      <p:sp>
        <p:nvSpPr>
          <p:cNvPr id="3" name="Text 1"/>
          <p:cNvSpPr/>
          <p:nvPr/>
        </p:nvSpPr>
        <p:spPr>
          <a:xfrm>
            <a:off x="11137392" y="320040"/>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Model Selection &amp; Multi-Model Strategy</a:t>
            </a:r>
            <a:endParaRPr lang="en-US" sz="2700" dirty="0"/>
          </a:p>
        </p:txBody>
      </p:sp>
      <p:sp>
        <p:nvSpPr>
          <p:cNvPr id="5" name="Text 3"/>
          <p:cNvSpPr/>
          <p:nvPr/>
        </p:nvSpPr>
        <p:spPr>
          <a:xfrm>
            <a:off x="548640" y="868680"/>
            <a:ext cx="11091672" cy="365760"/>
          </a:xfrm>
          <a:prstGeom prst="rect">
            <a:avLst/>
          </a:prstGeom>
          <a:noFill/>
          <a:ln/>
        </p:spPr>
        <p:txBody>
          <a:bodyPr wrap="square" lIns="0" tIns="0" rIns="0" bIns="0" rtlCol="0" anchor="ctr"/>
          <a:lstStyle/>
          <a:p>
            <a:pPr algn="l" indent="0" marL="0">
              <a:buNone/>
            </a:pPr>
            <a:r>
              <a:rPr lang="en-US" sz="1400" i="1" dirty="0">
                <a:solidFill>
                  <a:srgbClr val="E8E8EA"/>
                </a:solidFill>
                <a:latin typeface="Calibri" pitchFamily="34" charset="0"/>
                <a:ea typeface="Calibri" pitchFamily="34" charset="-122"/>
                <a:cs typeface="Calibri" pitchFamily="34" charset="-120"/>
              </a:rPr>
              <a:t>Which model for which workload? Can OpenAI and Claude work together?</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394960" cy="2743200"/>
        </p:xfrm>
        <a:graphic>
          <a:graphicData uri="http://schemas.openxmlformats.org/drawingml/2006/table">
            <a:tbl>
              <a:tblPr/>
              <a:tblGrid>
                <a:gridCol w="2377440"/>
                <a:gridCol w="3017520"/>
              </a:tblGrid>
              <a:tr h="391886">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Workload</a:t>
                      </a:r>
                      <a:endParaRPr lang="en-US" sz="120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Model Capability Needed</a:t>
                      </a:r>
                      <a:endParaRPr lang="en-US" sz="120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E8E8EA"/>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Chatbot</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1A1A24"/>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Fast + cost efficient</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1A1A24"/>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Complex reasoning</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Strong reasoning</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43424B"/>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Coding</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1A1A24"/>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Code + tool use</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1A1A24"/>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RAG</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Grounded responses</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43424B"/>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Semantic Search</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1A1A24"/>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Embeddings</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1A1A24"/>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Multimodal</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Text + image understanding</a:t>
                      </a:r>
                      <a:endParaRPr lang="en-US" sz="1150" dirty="0">
                        <a:latin typeface="Calibri" charset="0"/>
                        <a:ea typeface="Calibri" charset="0"/>
                        <a:cs typeface="Calibri" charset="0"/>
                      </a:endParaRPr>
                    </a:p>
                  </a:txBody>
                  <a:tcPr marL="91440" marR="91440" marT="45720" marB="45720" anchor="ctr">
                    <a:lnL w="12700" cap="flat" cmpd="sng" algn="ctr">
                      <a:solidFill>
                        <a:srgbClr val="1A1A24"/>
                      </a:solidFill>
                      <a:prstDash val="solid"/>
                      <a:round/>
                      <a:headEnd type="none" w="med" len="med"/>
                      <a:tailEnd type="none" w="med" len="med"/>
                    </a:lnL>
                    <a:lnR w="12700" cap="flat" cmpd="sng" algn="ctr">
                      <a:solidFill>
                        <a:srgbClr val="1A1A24"/>
                      </a:solidFill>
                      <a:prstDash val="solid"/>
                      <a:round/>
                      <a:headEnd type="none" w="med" len="med"/>
                      <a:tailEnd type="none" w="med" len="med"/>
                    </a:lnR>
                    <a:lnT w="12700" cap="flat" cmpd="sng" algn="ctr">
                      <a:solidFill>
                        <a:srgbClr val="1A1A24"/>
                      </a:solidFill>
                      <a:prstDash val="solid"/>
                      <a:round/>
                      <a:headEnd type="none" w="med" len="med"/>
                      <a:tailEnd type="none" w="med" len="med"/>
                    </a:lnT>
                    <a:lnB w="12700" cap="flat" cmpd="sng" algn="ctr">
                      <a:solidFill>
                        <a:srgbClr val="1A1A24"/>
                      </a:solidFill>
                      <a:prstDash val="solid"/>
                      <a:round/>
                      <a:headEnd type="none" w="med" len="med"/>
                      <a:tailEnd type="none" w="med" len="med"/>
                    </a:lnB>
                    <a:solidFill>
                      <a:srgbClr val="43424B"/>
                    </a:solidFill>
                  </a:tcPr>
                </a:tc>
              </a:tr>
            </a:tbl>
          </a:graphicData>
        </a:graphic>
      </p:graphicFrame>
      <p:sp>
        <p:nvSpPr>
          <p:cNvPr id="7" name="Text 4"/>
          <p:cNvSpPr/>
          <p:nvPr/>
        </p:nvSpPr>
        <p:spPr>
          <a:xfrm>
            <a:off x="548640" y="4709160"/>
            <a:ext cx="5394960" cy="777240"/>
          </a:xfrm>
          <a:prstGeom prst="rect">
            <a:avLst/>
          </a:prstGeom>
          <a:noFill/>
          <a:ln/>
        </p:spPr>
        <p:txBody>
          <a:bodyPr wrap="square" lIns="0" tIns="0" rIns="0" bIns="0" rtlCol="0" anchor="ctr"/>
          <a:lstStyle/>
          <a:p>
            <a:pPr indent="0" marL="0">
              <a:buNone/>
            </a:pPr>
            <a:r>
              <a:rPr lang="en-US" sz="1150" i="1" dirty="0">
                <a:solidFill>
                  <a:srgbClr val="E8E8EA"/>
                </a:solidFill>
                <a:latin typeface="Calibri" pitchFamily="34" charset="0"/>
                <a:ea typeface="Calibri" pitchFamily="34" charset="-122"/>
                <a:cs typeface="Calibri" pitchFamily="34" charset="-120"/>
              </a:rPr>
              <a:t>We should not use one large model for every workload — selection should be based on quality, cost, latency and capability.</a:t>
            </a:r>
            <a:endParaRPr lang="en-US" sz="1150" dirty="0"/>
          </a:p>
        </p:txBody>
      </p:sp>
      <p:sp>
        <p:nvSpPr>
          <p:cNvPr id="8" name="Shape 5"/>
          <p:cNvSpPr/>
          <p:nvPr/>
        </p:nvSpPr>
        <p:spPr>
          <a:xfrm>
            <a:off x="7566660" y="1828800"/>
            <a:ext cx="2926080" cy="457200"/>
          </a:xfrm>
          <a:prstGeom prst="roundRect">
            <a:avLst>
              <a:gd name="adj" fmla="val 12000"/>
            </a:avLst>
          </a:prstGeom>
          <a:solidFill>
            <a:srgbClr val="FFFFFF"/>
          </a:solidFill>
          <a:ln w="12700">
            <a:solidFill>
              <a:srgbClr val="1A1A24"/>
            </a:solidFill>
            <a:prstDash val="solid"/>
          </a:ln>
        </p:spPr>
      </p:sp>
      <p:sp>
        <p:nvSpPr>
          <p:cNvPr id="9" name="Text 6"/>
          <p:cNvSpPr/>
          <p:nvPr/>
        </p:nvSpPr>
        <p:spPr>
          <a:xfrm>
            <a:off x="7621524" y="1828800"/>
            <a:ext cx="2816352" cy="457200"/>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USER REQUEST</a:t>
            </a:r>
            <a:endParaRPr lang="en-US" sz="1250" dirty="0"/>
          </a:p>
        </p:txBody>
      </p:sp>
      <p:sp>
        <p:nvSpPr>
          <p:cNvPr id="10" name="Shape 7"/>
          <p:cNvSpPr/>
          <p:nvPr/>
        </p:nvSpPr>
        <p:spPr>
          <a:xfrm>
            <a:off x="9029700" y="2286000"/>
            <a:ext cx="0" cy="256032"/>
          </a:xfrm>
          <a:prstGeom prst="line">
            <a:avLst/>
          </a:prstGeom>
          <a:noFill/>
          <a:ln w="22225">
            <a:solidFill>
              <a:srgbClr val="E8E8EA"/>
            </a:solidFill>
            <a:prstDash val="solid"/>
            <a:tailEnd type="triangle"/>
          </a:ln>
        </p:spPr>
      </p:sp>
      <p:sp>
        <p:nvSpPr>
          <p:cNvPr id="11" name="Shape 8"/>
          <p:cNvSpPr/>
          <p:nvPr/>
        </p:nvSpPr>
        <p:spPr>
          <a:xfrm>
            <a:off x="7566660" y="2542032"/>
            <a:ext cx="2926080" cy="457200"/>
          </a:xfrm>
          <a:prstGeom prst="roundRect">
            <a:avLst>
              <a:gd name="adj" fmla="val 12000"/>
            </a:avLst>
          </a:prstGeom>
          <a:solidFill>
            <a:srgbClr val="FFE600"/>
          </a:solidFill>
          <a:ln w="12700">
            <a:solidFill>
              <a:srgbClr val="1A1A24"/>
            </a:solidFill>
            <a:prstDash val="solid"/>
          </a:ln>
        </p:spPr>
      </p:sp>
      <p:sp>
        <p:nvSpPr>
          <p:cNvPr id="12" name="Text 9"/>
          <p:cNvSpPr/>
          <p:nvPr/>
        </p:nvSpPr>
        <p:spPr>
          <a:xfrm>
            <a:off x="7621524" y="2542032"/>
            <a:ext cx="2816352" cy="457200"/>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ORCHESTRATOR</a:t>
            </a:r>
            <a:endParaRPr lang="en-US" sz="1250" dirty="0"/>
          </a:p>
        </p:txBody>
      </p:sp>
      <p:sp>
        <p:nvSpPr>
          <p:cNvPr id="13" name="Shape 10"/>
          <p:cNvSpPr/>
          <p:nvPr/>
        </p:nvSpPr>
        <p:spPr>
          <a:xfrm flipH="1">
            <a:off x="7132320" y="2999232"/>
            <a:ext cx="1897380" cy="338328"/>
          </a:xfrm>
          <a:prstGeom prst="line">
            <a:avLst/>
          </a:prstGeom>
          <a:noFill/>
          <a:ln w="19050">
            <a:solidFill>
              <a:srgbClr val="E8E8EA"/>
            </a:solidFill>
            <a:prstDash val="solid"/>
            <a:tailEnd type="triangle"/>
          </a:ln>
        </p:spPr>
      </p:sp>
      <p:sp>
        <p:nvSpPr>
          <p:cNvPr id="14" name="Shape 11"/>
          <p:cNvSpPr/>
          <p:nvPr/>
        </p:nvSpPr>
        <p:spPr>
          <a:xfrm>
            <a:off x="6400800" y="3337560"/>
            <a:ext cx="1463040" cy="502920"/>
          </a:xfrm>
          <a:prstGeom prst="roundRect">
            <a:avLst>
              <a:gd name="adj" fmla="val 10909"/>
            </a:avLst>
          </a:prstGeom>
          <a:solidFill>
            <a:srgbClr val="43424B"/>
          </a:solidFill>
          <a:ln w="9525">
            <a:solidFill>
              <a:srgbClr val="E8E8EA"/>
            </a:solidFill>
            <a:prstDash val="solid"/>
          </a:ln>
        </p:spPr>
      </p:sp>
      <p:sp>
        <p:nvSpPr>
          <p:cNvPr id="15" name="Text 12"/>
          <p:cNvSpPr/>
          <p:nvPr/>
        </p:nvSpPr>
        <p:spPr>
          <a:xfrm>
            <a:off x="6455664" y="3337560"/>
            <a:ext cx="1353312" cy="5029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OpenAI</a:t>
            </a:r>
            <a:endParaRPr lang="en-US" sz="1200" dirty="0"/>
          </a:p>
        </p:txBody>
      </p:sp>
      <p:sp>
        <p:nvSpPr>
          <p:cNvPr id="16" name="Shape 13"/>
          <p:cNvSpPr/>
          <p:nvPr/>
        </p:nvSpPr>
        <p:spPr>
          <a:xfrm flipH="1">
            <a:off x="8851392" y="2999232"/>
            <a:ext cx="178308" cy="338328"/>
          </a:xfrm>
          <a:prstGeom prst="line">
            <a:avLst/>
          </a:prstGeom>
          <a:noFill/>
          <a:ln w="19050">
            <a:solidFill>
              <a:srgbClr val="E8E8EA"/>
            </a:solidFill>
            <a:prstDash val="solid"/>
            <a:tailEnd type="triangle"/>
          </a:ln>
        </p:spPr>
      </p:sp>
      <p:sp>
        <p:nvSpPr>
          <p:cNvPr id="17" name="Shape 14"/>
          <p:cNvSpPr/>
          <p:nvPr/>
        </p:nvSpPr>
        <p:spPr>
          <a:xfrm>
            <a:off x="8119872" y="3337560"/>
            <a:ext cx="1463040" cy="502920"/>
          </a:xfrm>
          <a:prstGeom prst="roundRect">
            <a:avLst>
              <a:gd name="adj" fmla="val 10909"/>
            </a:avLst>
          </a:prstGeom>
          <a:solidFill>
            <a:srgbClr val="43424B"/>
          </a:solidFill>
          <a:ln w="9525">
            <a:solidFill>
              <a:srgbClr val="E8E8EA"/>
            </a:solidFill>
            <a:prstDash val="solid"/>
          </a:ln>
        </p:spPr>
      </p:sp>
      <p:sp>
        <p:nvSpPr>
          <p:cNvPr id="18" name="Text 15"/>
          <p:cNvSpPr/>
          <p:nvPr/>
        </p:nvSpPr>
        <p:spPr>
          <a:xfrm>
            <a:off x="8174736" y="3337560"/>
            <a:ext cx="1353312" cy="5029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Claude</a:t>
            </a:r>
            <a:endParaRPr lang="en-US" sz="1200" dirty="0"/>
          </a:p>
        </p:txBody>
      </p:sp>
      <p:sp>
        <p:nvSpPr>
          <p:cNvPr id="19" name="Shape 16"/>
          <p:cNvSpPr/>
          <p:nvPr/>
        </p:nvSpPr>
        <p:spPr>
          <a:xfrm>
            <a:off x="9029700" y="2999232"/>
            <a:ext cx="1540764" cy="338328"/>
          </a:xfrm>
          <a:prstGeom prst="line">
            <a:avLst/>
          </a:prstGeom>
          <a:noFill/>
          <a:ln w="19050">
            <a:solidFill>
              <a:srgbClr val="E8E8EA"/>
            </a:solidFill>
            <a:prstDash val="solid"/>
            <a:tailEnd type="triangle"/>
          </a:ln>
        </p:spPr>
      </p:sp>
      <p:sp>
        <p:nvSpPr>
          <p:cNvPr id="20" name="Shape 17"/>
          <p:cNvSpPr/>
          <p:nvPr/>
        </p:nvSpPr>
        <p:spPr>
          <a:xfrm>
            <a:off x="9838944" y="3337560"/>
            <a:ext cx="1463040" cy="502920"/>
          </a:xfrm>
          <a:prstGeom prst="roundRect">
            <a:avLst>
              <a:gd name="adj" fmla="val 10909"/>
            </a:avLst>
          </a:prstGeom>
          <a:solidFill>
            <a:srgbClr val="43424B"/>
          </a:solidFill>
          <a:ln w="9525">
            <a:solidFill>
              <a:srgbClr val="E8E8EA"/>
            </a:solidFill>
            <a:prstDash val="solid"/>
          </a:ln>
        </p:spPr>
      </p:sp>
      <p:sp>
        <p:nvSpPr>
          <p:cNvPr id="21" name="Text 18"/>
          <p:cNvSpPr/>
          <p:nvPr/>
        </p:nvSpPr>
        <p:spPr>
          <a:xfrm>
            <a:off x="9893808" y="3337560"/>
            <a:ext cx="1353312" cy="5029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Other</a:t>
            </a:r>
            <a:endParaRPr lang="en-US" sz="1200" dirty="0"/>
          </a:p>
        </p:txBody>
      </p:sp>
      <p:sp>
        <p:nvSpPr>
          <p:cNvPr id="22" name="Shape 19"/>
          <p:cNvSpPr/>
          <p:nvPr/>
        </p:nvSpPr>
        <p:spPr>
          <a:xfrm>
            <a:off x="7132320" y="3840480"/>
            <a:ext cx="1897380" cy="320040"/>
          </a:xfrm>
          <a:prstGeom prst="line">
            <a:avLst/>
          </a:prstGeom>
          <a:noFill/>
          <a:ln w="19050">
            <a:solidFill>
              <a:srgbClr val="E8E8EA"/>
            </a:solidFill>
            <a:prstDash val="solid"/>
            <a:tailEnd type="triangle"/>
          </a:ln>
        </p:spPr>
      </p:sp>
      <p:sp>
        <p:nvSpPr>
          <p:cNvPr id="23" name="Shape 20"/>
          <p:cNvSpPr/>
          <p:nvPr/>
        </p:nvSpPr>
        <p:spPr>
          <a:xfrm>
            <a:off x="8851392" y="3840480"/>
            <a:ext cx="178308" cy="320040"/>
          </a:xfrm>
          <a:prstGeom prst="line">
            <a:avLst/>
          </a:prstGeom>
          <a:noFill/>
          <a:ln w="19050">
            <a:solidFill>
              <a:srgbClr val="E8E8EA"/>
            </a:solidFill>
            <a:prstDash val="solid"/>
            <a:tailEnd type="triangle"/>
          </a:ln>
        </p:spPr>
      </p:sp>
      <p:sp>
        <p:nvSpPr>
          <p:cNvPr id="24" name="Shape 21"/>
          <p:cNvSpPr/>
          <p:nvPr/>
        </p:nvSpPr>
        <p:spPr>
          <a:xfrm flipH="1">
            <a:off x="9029700" y="3840480"/>
            <a:ext cx="1540764" cy="320040"/>
          </a:xfrm>
          <a:prstGeom prst="line">
            <a:avLst/>
          </a:prstGeom>
          <a:noFill/>
          <a:ln w="19050">
            <a:solidFill>
              <a:srgbClr val="E8E8EA"/>
            </a:solidFill>
            <a:prstDash val="solid"/>
            <a:tailEnd type="triangle"/>
          </a:ln>
        </p:spPr>
      </p:sp>
      <p:sp>
        <p:nvSpPr>
          <p:cNvPr id="25" name="Shape 22"/>
          <p:cNvSpPr/>
          <p:nvPr/>
        </p:nvSpPr>
        <p:spPr>
          <a:xfrm>
            <a:off x="7566660" y="4160520"/>
            <a:ext cx="2926080" cy="457200"/>
          </a:xfrm>
          <a:prstGeom prst="roundRect">
            <a:avLst>
              <a:gd name="adj" fmla="val 12000"/>
            </a:avLst>
          </a:prstGeom>
          <a:solidFill>
            <a:srgbClr val="FFFFFF"/>
          </a:solidFill>
          <a:ln w="12700">
            <a:solidFill>
              <a:srgbClr val="1A1A24"/>
            </a:solidFill>
            <a:prstDash val="solid"/>
          </a:ln>
        </p:spPr>
      </p:sp>
      <p:sp>
        <p:nvSpPr>
          <p:cNvPr id="26" name="Text 23"/>
          <p:cNvSpPr/>
          <p:nvPr/>
        </p:nvSpPr>
        <p:spPr>
          <a:xfrm>
            <a:off x="7621524" y="4160520"/>
            <a:ext cx="2816352" cy="457200"/>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RESPONSE</a:t>
            </a:r>
            <a:endParaRPr lang="en-US" sz="1250" dirty="0"/>
          </a:p>
        </p:txBody>
      </p:sp>
      <p:sp>
        <p:nvSpPr>
          <p:cNvPr id="27" name="Shape 24"/>
          <p:cNvSpPr/>
          <p:nvPr/>
        </p:nvSpPr>
        <p:spPr>
          <a:xfrm>
            <a:off x="6400800" y="4800600"/>
            <a:ext cx="5257800" cy="685800"/>
          </a:xfrm>
          <a:prstGeom prst="roundRect">
            <a:avLst>
              <a:gd name="adj" fmla="val 10667"/>
            </a:avLst>
          </a:prstGeom>
          <a:solidFill>
            <a:srgbClr val="43424B"/>
          </a:solidFill>
          <a:ln w="12700">
            <a:solidFill>
              <a:srgbClr val="1A1A24"/>
            </a:solidFill>
            <a:prstDash val="solid"/>
          </a:ln>
        </p:spPr>
      </p:sp>
      <p:sp>
        <p:nvSpPr>
          <p:cNvPr id="28" name="Text 25"/>
          <p:cNvSpPr/>
          <p:nvPr/>
        </p:nvSpPr>
        <p:spPr>
          <a:xfrm>
            <a:off x="6455664" y="4800600"/>
            <a:ext cx="5148072" cy="685800"/>
          </a:xfrm>
          <a:prstGeom prst="rect">
            <a:avLst/>
          </a:prstGeom>
          <a:noFill/>
          <a:ln/>
        </p:spPr>
        <p:txBody>
          <a:bodyPr wrap="square" lIns="0" tIns="0" rIns="0" bIns="0" rtlCol="0" anchor="ctr">
            <a:normAutofit/>
          </a:bodyPr>
          <a:lstStyle/>
          <a:p>
            <a:pPr algn="ctr" indent="0" marL="0">
              <a:buNone/>
            </a:pPr>
            <a:r>
              <a:rPr lang="en-US" sz="1100" dirty="0">
                <a:solidFill>
                  <a:srgbClr val="E8E8EA"/>
                </a:solidFill>
                <a:latin typeface="Calibri" pitchFamily="34" charset="0"/>
                <a:ea typeface="Calibri" pitchFamily="34" charset="-122"/>
                <a:cs typeface="Calibri" pitchFamily="34" charset="-120"/>
              </a:rPr>
              <a:t>Multi-model orchestration lets each request route to the model best suited for it.</a:t>
            </a:r>
            <a:endParaRPr lang="en-US" sz="1100" dirty="0"/>
          </a:p>
        </p:txBody>
      </p:sp>
      <p:sp>
        <p:nvSpPr>
          <p:cNvPr id="29" name="Shape 26"/>
          <p:cNvSpPr/>
          <p:nvPr/>
        </p:nvSpPr>
        <p:spPr>
          <a:xfrm>
            <a:off x="548640" y="5806440"/>
            <a:ext cx="11091672" cy="777240"/>
          </a:xfrm>
          <a:prstGeom prst="roundRect">
            <a:avLst>
              <a:gd name="adj" fmla="val 9412"/>
            </a:avLst>
          </a:prstGeom>
          <a:solidFill>
            <a:srgbClr val="FFE600"/>
          </a:solidFill>
          <a:ln w="12700">
            <a:solidFill>
              <a:srgbClr val="1A1A24"/>
            </a:solidFill>
            <a:prstDash val="solid"/>
          </a:ln>
        </p:spPr>
      </p:sp>
      <p:sp>
        <p:nvSpPr>
          <p:cNvPr id="30" name="Text 27"/>
          <p:cNvSpPr/>
          <p:nvPr/>
        </p:nvSpPr>
        <p:spPr>
          <a:xfrm>
            <a:off x="603504" y="5806440"/>
            <a:ext cx="10981944" cy="777240"/>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Recommendation: Use Microsoft Foundry as the enterprise AI platform, select OpenAI models by workload requirements, integrate Azure AI Search for enterprise knowledge, and use Azure security &amp; governance as the foundation.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2026-08-24T10:22:09Z</dcterms:created>
  <dcterms:modified xsi:type="dcterms:W3CDTF">2026-08-24T10:22:09Z</dcterms:modified>
</cp:coreProperties>
</file>