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Private LLM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Dell AI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architecture: LLM, guardrails, sector models, scaling, firewalls and storage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566160"/>
            <a:ext cx="1325880" cy="365760"/>
          </a:xfrm>
          <a:prstGeom prst="roundRect">
            <a:avLst>
              <a:gd name="adj" fmla="val 12500"/>
            </a:avLst>
          </a:prstGeom>
          <a:solidFill>
            <a:srgbClr val="2E2E38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566160"/>
            <a:ext cx="132588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0" y="3566160"/>
            <a:ext cx="1325880" cy="365760"/>
          </a:xfrm>
          <a:prstGeom prst="roundRect">
            <a:avLst>
              <a:gd name="adj" fmla="val 12500"/>
            </a:avLst>
          </a:prstGeom>
          <a:solidFill>
            <a:srgbClr val="2E2E38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11680" y="3566160"/>
            <a:ext cx="132588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Nutanix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3566160"/>
            <a:ext cx="1325880" cy="365760"/>
          </a:xfrm>
          <a:prstGeom prst="roundRect">
            <a:avLst>
              <a:gd name="adj" fmla="val 12500"/>
            </a:avLst>
          </a:prstGeom>
          <a:solidFill>
            <a:srgbClr val="2E2E38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3566160"/>
            <a:ext cx="132588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NIM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37760" y="3566160"/>
            <a:ext cx="1325880" cy="365760"/>
          </a:xfrm>
          <a:prstGeom prst="roundRect">
            <a:avLst>
              <a:gd name="adj" fmla="val 12500"/>
            </a:avLst>
          </a:prstGeom>
          <a:solidFill>
            <a:srgbClr val="2E2E38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3566160"/>
            <a:ext cx="132588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47888" y="4572000"/>
            <a:ext cx="384048" cy="82296"/>
          </a:xfrm>
          <a:prstGeom prst="parallelogram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92440" y="4663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1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</a:t>
            </a:r>
            <a:pPr indent="0" marL="0">
              <a:buNone/>
            </a:pPr>
            <a:r>
              <a:rPr lang="en-US" sz="190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points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designing the private LLM platform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9525">
            <a:solidFill>
              <a:srgbClr val="FFE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7888" y="4572000"/>
            <a:ext cx="384048" cy="82296"/>
          </a:xfrm>
          <a:prstGeom prst="parallelogram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4663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C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651760" cy="1463040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2651760" cy="27432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097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&amp; serving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444752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 model size and licence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 vs vLLM serving path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length, quantisation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097280"/>
            <a:ext cx="2651760" cy="1463040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097280"/>
            <a:ext cx="2651760" cy="27432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37560" y="1097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337560" y="1444752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and output rails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Prompt-injection defence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Per-sector policy sets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651760" cy="1463040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097280"/>
            <a:ext cx="2651760" cy="27432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26480" y="1097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exclusion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1444752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Document-level ACLs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Restricted-data classification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retention rules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697480"/>
            <a:ext cx="2651760" cy="1463040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697480"/>
            <a:ext cx="2651760" cy="27432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697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/ fine-tuning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044952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vs LoRA vs full tune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curation and PII removal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gates before release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6120" y="2697480"/>
            <a:ext cx="2651760" cy="1463040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46120" y="2697480"/>
            <a:ext cx="2651760" cy="27432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337560" y="2697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 &amp; load balancing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337560" y="3044952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2 GPU nodes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Autoscale on queue depth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updates, failover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2697480"/>
            <a:ext cx="2651760" cy="1463040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35040" y="2697480"/>
            <a:ext cx="2651760" cy="27432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26480" y="2697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Firewalls &amp; storage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126480" y="3044952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Default-deny segmentation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public egress from GPU zone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store, vector DB, backup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7C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decision is detailed on the following slides.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1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strong </a:t>
            </a:r>
            <a:pPr indent="0" marL="0">
              <a:buNone/>
            </a:pPr>
            <a:r>
              <a:rPr lang="en-US" sz="190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core platform plus additional 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9525">
            <a:solidFill>
              <a:srgbClr val="FFE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7888" y="4572000"/>
            <a:ext cx="384048" cy="82296"/>
          </a:xfrm>
          <a:prstGeom prst="parallelogram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4663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C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035040" cy="320040"/>
          </a:xfrm>
          <a:prstGeom prst="roundRect">
            <a:avLst>
              <a:gd name="adj" fmla="val 14286"/>
            </a:avLst>
          </a:prstGeom>
          <a:solidFill>
            <a:srgbClr val="3E3E4C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51560"/>
            <a:ext cx="60350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Governance: model registry, licence review, audit to SIEM, change control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6035040" cy="1417320"/>
          </a:xfrm>
          <a:prstGeom prst="roundRect">
            <a:avLst>
              <a:gd name="adj" fmla="val 3226"/>
            </a:avLst>
          </a:prstGeom>
          <a:solidFill>
            <a:srgbClr val="1F1F28"/>
          </a:solidFill>
          <a:ln w="12700">
            <a:solidFill>
              <a:srgbClr val="FFE600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548640" y="149961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platform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" y="1737360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E600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Dell PowerEdge GPU servers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566160" y="1737360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E600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66160" y="1737360"/>
            <a:ext cx="27432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Nutanix Kubernetes + storage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2286000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E600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NIM inference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566160" y="2286000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E600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6616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+ security zones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6035040" cy="1417320"/>
          </a:xfrm>
          <a:prstGeom prst="roundRect">
            <a:avLst>
              <a:gd name="adj" fmla="val 3226"/>
            </a:avLst>
          </a:prstGeom>
          <a:solidFill>
            <a:srgbClr val="1F1F28"/>
          </a:solidFill>
          <a:ln w="12700">
            <a:solidFill>
              <a:srgbClr val="FFE600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548640" y="30540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foundation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0080" y="3291840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E600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service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566160" y="3291840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E600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6616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+ content exclusion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" y="3840480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E600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840480"/>
            <a:ext cx="27432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 (DCGM, Grafana)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566160" y="3840480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FFE600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566160" y="3840480"/>
            <a:ext cx="27432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pipeline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675120" y="1051560"/>
            <a:ext cx="2011680" cy="3383280"/>
          </a:xfrm>
          <a:prstGeom prst="roundRect">
            <a:avLst>
              <a:gd name="adj" fmla="val 2273"/>
            </a:avLst>
          </a:prstGeom>
          <a:solidFill>
            <a:srgbClr val="1F1F28"/>
          </a:solidFill>
          <a:ln w="12700">
            <a:solidFill>
              <a:srgbClr val="FFE600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6766560" y="10881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Enablers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766560" y="137160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66560" y="1371600"/>
            <a:ext cx="18288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model allow-list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66560" y="1975104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766560" y="1975104"/>
            <a:ext cx="18288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Dell + NVIDIA support SLAs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66560" y="2578608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766560" y="2578608"/>
            <a:ext cx="18288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Runbooks and skills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766560" y="3182112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766560" y="3182112"/>
            <a:ext cx="18288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Load-test and acceptance criteria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766560" y="3785616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766560" y="3785616"/>
            <a:ext cx="18288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and DR process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1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</a:t>
            </a:r>
            <a:pPr indent="0" marL="0">
              <a:buNone/>
            </a:pPr>
            <a:r>
              <a:rPr lang="en-US" sz="190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Dell + Nutanix + NVIDIA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9525">
            <a:solidFill>
              <a:srgbClr val="FFE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7888" y="4572000"/>
            <a:ext cx="384048" cy="82296"/>
          </a:xfrm>
          <a:prstGeom prst="parallelogram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4663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C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1371600" cy="2194560"/>
          </a:xfrm>
          <a:prstGeom prst="roundRect">
            <a:avLst>
              <a:gd name="adj" fmla="val 3333"/>
            </a:avLst>
          </a:prstGeom>
          <a:solidFill>
            <a:srgbClr val="1F1F28"/>
          </a:solidFill>
          <a:ln w="12700">
            <a:solidFill>
              <a:srgbClr val="FFE600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457200" y="10881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1188720" cy="502920"/>
          </a:xfrm>
          <a:prstGeom prst="roundRect">
            <a:avLst>
              <a:gd name="adj" fmla="val 9091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371600"/>
            <a:ext cx="118872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(SSO + MFA)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1188720" cy="502920"/>
          </a:xfrm>
          <a:prstGeom prst="roundRect">
            <a:avLst>
              <a:gd name="adj" fmla="val 9091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011680"/>
            <a:ext cx="118872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apps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651760"/>
            <a:ext cx="11887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920240" y="1051560"/>
            <a:ext cx="1554480" cy="2194560"/>
          </a:xfrm>
          <a:prstGeom prst="roundRect">
            <a:avLst>
              <a:gd name="adj" fmla="val 2941"/>
            </a:avLst>
          </a:prstGeom>
          <a:solidFill>
            <a:srgbClr val="1F1F28"/>
          </a:solidFill>
          <a:ln w="12700">
            <a:solidFill>
              <a:srgbClr val="FFE600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2011680" y="108813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DMZ / API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011680" y="137160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FFE600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011680" y="1371600"/>
            <a:ext cx="13716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WAF + firewall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011680" y="196596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FFE600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011680" y="1965960"/>
            <a:ext cx="13716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gateway, quotas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011680" y="2560320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011680" y="2560320"/>
            <a:ext cx="137160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IAM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0" y="1051560"/>
            <a:ext cx="2286000" cy="2194560"/>
          </a:xfrm>
          <a:prstGeom prst="roundRect">
            <a:avLst>
              <a:gd name="adj" fmla="val 2083"/>
            </a:avLst>
          </a:prstGeom>
          <a:solidFill>
            <a:srgbClr val="1F1F28"/>
          </a:solidFill>
          <a:ln w="12700">
            <a:solidFill>
              <a:srgbClr val="FFE600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3749040" y="108813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Nutanix Kubernetes platform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749040" y="1371600"/>
            <a:ext cx="2103120" cy="411480"/>
          </a:xfrm>
          <a:prstGeom prst="roundRect">
            <a:avLst>
              <a:gd name="adj" fmla="val 11111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749040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+ load balancer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749040" y="1874520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FFE600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749040" y="1874520"/>
            <a:ext cx="100584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1874520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FFE600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46320" y="1874520"/>
            <a:ext cx="100584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service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749040" y="2423160"/>
            <a:ext cx="2103120" cy="640080"/>
          </a:xfrm>
          <a:prstGeom prst="roundRect">
            <a:avLst>
              <a:gd name="adj" fmla="val 7143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749040" y="2423160"/>
            <a:ext cx="210312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Observability: Prometheus, Grafana, SIEM feed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26480" y="1051560"/>
            <a:ext cx="2560320" cy="2194560"/>
          </a:xfrm>
          <a:prstGeom prst="roundRect">
            <a:avLst>
              <a:gd name="adj" fmla="val 2083"/>
            </a:avLst>
          </a:prstGeom>
          <a:solidFill>
            <a:srgbClr val="1F1F28"/>
          </a:solidFill>
          <a:ln w="12700">
            <a:solidFill>
              <a:srgbClr val="FFE600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6217920" y="108813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Dell GPU zone (NVIDIA)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17920" y="1371600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FFE600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17920" y="1371600"/>
            <a:ext cx="237744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 replica 1 · Mistral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17920" y="1920240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FFE600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217920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 replica 2 · Mistral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17920" y="2468880"/>
            <a:ext cx="2377440" cy="594360"/>
          </a:xfrm>
          <a:prstGeom prst="roundRect">
            <a:avLst>
              <a:gd name="adj" fmla="val 7692"/>
            </a:avLst>
          </a:prstGeom>
          <a:solidFill>
            <a:srgbClr val="3E3E4C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17920" y="2468880"/>
            <a:ext cx="237744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Operator + DCGM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Dell PowerEdge XE nodes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645920" y="1618488"/>
            <a:ext cx="274320" cy="0"/>
          </a:xfrm>
          <a:prstGeom prst="line">
            <a:avLst/>
          </a:prstGeom>
          <a:noFill/>
          <a:ln w="19050">
            <a:solidFill>
              <a:srgbClr val="FFE600"/>
            </a:solidFill>
            <a:prstDash val="solid"/>
            <a:headEnd type="triangl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3383280" y="1618488"/>
            <a:ext cx="274320" cy="0"/>
          </a:xfrm>
          <a:prstGeom prst="line">
            <a:avLst/>
          </a:prstGeom>
          <a:noFill/>
          <a:ln w="19050">
            <a:solidFill>
              <a:srgbClr val="FFE600"/>
            </a:solidFill>
            <a:prstDash val="solid"/>
            <a:headEnd type="triangl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852160" y="1618488"/>
            <a:ext cx="274320" cy="0"/>
          </a:xfrm>
          <a:prstGeom prst="line">
            <a:avLst/>
          </a:prstGeom>
          <a:noFill/>
          <a:ln w="19050">
            <a:solidFill>
              <a:srgbClr val="FFE600"/>
            </a:solidFill>
            <a:prstDash val="solid"/>
            <a:headEnd type="triangl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920240" y="3383280"/>
            <a:ext cx="6766560" cy="685800"/>
          </a:xfrm>
          <a:prstGeom prst="roundRect">
            <a:avLst>
              <a:gd name="adj" fmla="val 6667"/>
            </a:avLst>
          </a:prstGeom>
          <a:solidFill>
            <a:srgbClr val="1F1F28"/>
          </a:solidFill>
          <a:ln w="12700">
            <a:solidFill>
              <a:srgbClr val="FFE600"/>
            </a:solidFill>
            <a:prstDash val="dash"/>
          </a:ln>
        </p:spPr>
      </p:sp>
      <p:sp>
        <p:nvSpPr>
          <p:cNvPr id="45" name="Text 43"/>
          <p:cNvSpPr txBox="1"/>
          <p:nvPr/>
        </p:nvSpPr>
        <p:spPr>
          <a:xfrm>
            <a:off x="2011680" y="3419856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data zone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011680" y="3657600"/>
            <a:ext cx="1225296" cy="301752"/>
          </a:xfrm>
          <a:prstGeom prst="roundRect">
            <a:avLst>
              <a:gd name="adj" fmla="val 15152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011680" y="3657600"/>
            <a:ext cx="1225296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store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328416" y="3657600"/>
            <a:ext cx="1225296" cy="301752"/>
          </a:xfrm>
          <a:prstGeom prst="roundRect">
            <a:avLst>
              <a:gd name="adj" fmla="val 15152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328416" y="3657600"/>
            <a:ext cx="1225296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45152" y="3657600"/>
            <a:ext cx="1225296" cy="301752"/>
          </a:xfrm>
          <a:prstGeom prst="roundRect">
            <a:avLst>
              <a:gd name="adj" fmla="val 15152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645152" y="3657600"/>
            <a:ext cx="1225296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store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961888" y="3657600"/>
            <a:ext cx="1225296" cy="301752"/>
          </a:xfrm>
          <a:prstGeom prst="roundRect">
            <a:avLst>
              <a:gd name="adj" fmla="val 15152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961888" y="3657600"/>
            <a:ext cx="1225296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registry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278624" y="3657600"/>
            <a:ext cx="1225296" cy="301752"/>
          </a:xfrm>
          <a:prstGeom prst="roundRect">
            <a:avLst>
              <a:gd name="adj" fmla="val 15152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278624" y="3657600"/>
            <a:ext cx="1225296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800600" y="3246120"/>
            <a:ext cx="0" cy="137160"/>
          </a:xfrm>
          <a:prstGeom prst="line">
            <a:avLst/>
          </a:prstGeom>
          <a:noFill/>
          <a:ln w="19050">
            <a:solidFill>
              <a:srgbClr val="FFE600"/>
            </a:solidFill>
            <a:prstDash val="solid"/>
            <a:headEnd type="triangle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365760" y="3383280"/>
            <a:ext cx="1371600" cy="685800"/>
          </a:xfrm>
          <a:prstGeom prst="roundRect">
            <a:avLst>
              <a:gd name="adj" fmla="val 6667"/>
            </a:avLst>
          </a:prstGeom>
          <a:solidFill>
            <a:srgbClr val="3E3E4C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65760" y="3383280"/>
            <a:ext cx="137160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OOB management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iDRAC, isolated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457200" y="4251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7C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path has no dependency on public AI APIs; egress denied by default.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1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90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serving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NIM hosts locally stored Mistral models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9525">
            <a:solidFill>
              <a:srgbClr val="FFE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7888" y="4572000"/>
            <a:ext cx="384048" cy="82296"/>
          </a:xfrm>
          <a:prstGeom prst="parallelogram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4663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C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1828800" cy="822960"/>
          </a:xfrm>
          <a:prstGeom prst="roundRect">
            <a:avLst>
              <a:gd name="adj" fmla="val 5556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143000"/>
            <a:ext cx="18288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 enclave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Download, scan, hash-verify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1554480"/>
            <a:ext cx="274320" cy="0"/>
          </a:xfrm>
          <a:prstGeom prst="line">
            <a:avLst/>
          </a:prstGeom>
          <a:noFill/>
          <a:ln w="190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60320" y="1143000"/>
            <a:ext cx="1828800" cy="822960"/>
          </a:xfrm>
          <a:prstGeom prst="roundRect">
            <a:avLst>
              <a:gd name="adj" fmla="val 5556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60320" y="1143000"/>
            <a:ext cx="18288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registry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images + weights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1554480"/>
            <a:ext cx="274320" cy="0"/>
          </a:xfrm>
          <a:prstGeom prst="line">
            <a:avLst/>
          </a:prstGeom>
          <a:noFill/>
          <a:ln w="190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663440" y="1143000"/>
            <a:ext cx="1828800" cy="822960"/>
          </a:xfrm>
          <a:prstGeom prst="roundRect">
            <a:avLst>
              <a:gd name="adj" fmla="val 5556"/>
            </a:avLst>
          </a:prstGeom>
          <a:solidFill>
            <a:srgbClr val="FFE600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1143000"/>
            <a:ext cx="18288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 on Kubernetes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Helm deploy, model cache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92240" y="1554480"/>
            <a:ext cx="274320" cy="0"/>
          </a:xfrm>
          <a:prstGeom prst="line">
            <a:avLst/>
          </a:prstGeom>
          <a:noFill/>
          <a:ln w="190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766560" y="1143000"/>
            <a:ext cx="1828800" cy="822960"/>
          </a:xfrm>
          <a:prstGeom prst="roundRect">
            <a:avLst>
              <a:gd name="adj" fmla="val 5556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1143000"/>
            <a:ext cx="18288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OpenAI-compatible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endpoint only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286000"/>
            <a:ext cx="2651760" cy="1965960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286000"/>
            <a:ext cx="2651760" cy="27432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portfolio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2633472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Mistral model for reasoning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model for fast, low-cost tasks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model for RAG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Reranker for retrieval quality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46120" y="2286000"/>
            <a:ext cx="2651760" cy="1965960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2286000"/>
            <a:ext cx="2651760" cy="27432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3756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 settings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3337560" y="2633472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Quantisation profile per GPU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context per model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Batching and KV-cache tuning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Timeouts and token limits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35040" y="2286000"/>
            <a:ext cx="2651760" cy="1965960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2286000"/>
            <a:ext cx="2651760" cy="27432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2648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 operation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126480" y="2633472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 pre-staged locally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NGC or Hugging Face at runtime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images only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patch process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1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90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Sector-based models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built on one shared base LLM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9525">
            <a:solidFill>
              <a:srgbClr val="FFE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7888" y="4572000"/>
            <a:ext cx="384048" cy="82296"/>
          </a:xfrm>
          <a:prstGeom prst="parallelogram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4663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C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520440" y="1371600"/>
            <a:ext cx="2103120" cy="2651760"/>
          </a:xfrm>
          <a:prstGeom prst="roundRect">
            <a:avLst>
              <a:gd name="adj" fmla="val 2174"/>
            </a:avLst>
          </a:prstGeom>
          <a:solidFill>
            <a:srgbClr val="FFE600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371600"/>
            <a:ext cx="2103120" cy="2651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LLM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 via NIM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guardrail engine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gateway + audit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143000"/>
            <a:ext cx="2560320" cy="1280160"/>
          </a:xfrm>
          <a:prstGeom prst="roundRect">
            <a:avLst>
              <a:gd name="adj" fmla="val 3571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143000"/>
            <a:ext cx="2560320" cy="12801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Q&amp;A, KYC summary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PCI-DSS aligned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adapter + sector KB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17520" y="1783080"/>
            <a:ext cx="502920" cy="0"/>
          </a:xfrm>
          <a:prstGeom prst="line">
            <a:avLst/>
          </a:prstGeom>
          <a:noFill/>
          <a:ln w="19050">
            <a:solidFill>
              <a:srgbClr val="FFE600"/>
            </a:solidFill>
            <a:prstDash val="solid"/>
            <a:headEnd type="triangl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126480" y="1143000"/>
            <a:ext cx="2560320" cy="1280160"/>
          </a:xfrm>
          <a:prstGeom prst="roundRect">
            <a:avLst>
              <a:gd name="adj" fmla="val 3571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1143000"/>
            <a:ext cx="2560320" cy="12801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aid, coding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 aligned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adapter + sector KB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23560" y="1783080"/>
            <a:ext cx="502920" cy="0"/>
          </a:xfrm>
          <a:prstGeom prst="line">
            <a:avLst/>
          </a:prstGeom>
          <a:noFill/>
          <a:ln w="19050">
            <a:solidFill>
              <a:srgbClr val="FFE600"/>
            </a:solidFill>
            <a:prstDash val="solid"/>
            <a:headEnd type="triangl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" y="2697480"/>
            <a:ext cx="2560320" cy="1280160"/>
          </a:xfrm>
          <a:prstGeom prst="roundRect">
            <a:avLst>
              <a:gd name="adj" fmla="val 3571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697480"/>
            <a:ext cx="2560320" cy="12801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triage, policy compare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adapter + sector KB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017520" y="3337560"/>
            <a:ext cx="502920" cy="0"/>
          </a:xfrm>
          <a:prstGeom prst="line">
            <a:avLst/>
          </a:prstGeom>
          <a:noFill/>
          <a:ln w="19050">
            <a:solidFill>
              <a:srgbClr val="FFE600"/>
            </a:solidFill>
            <a:prstDash val="solid"/>
            <a:headEnd type="triangl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26480" y="2697480"/>
            <a:ext cx="2560320" cy="1280160"/>
          </a:xfrm>
          <a:prstGeom prst="roundRect">
            <a:avLst>
              <a:gd name="adj" fmla="val 3571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26480" y="2697480"/>
            <a:ext cx="2560320" cy="12801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4.0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manuals, SOP help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adapter + sector KB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623560" y="3337560"/>
            <a:ext cx="502920" cy="0"/>
          </a:xfrm>
          <a:prstGeom prst="line">
            <a:avLst/>
          </a:prstGeom>
          <a:noFill/>
          <a:ln w="19050">
            <a:solidFill>
              <a:srgbClr val="FFE600"/>
            </a:solidFill>
            <a:prstDash val="solid"/>
            <a:headEnd type="triangle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457200" y="4251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7C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sector model = base LLM + LoRA adapter + sector knowledge base + sector guardrail policy.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1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and </a:t>
            </a:r>
            <a:pPr indent="0" marL="0">
              <a:buNone/>
            </a:pPr>
            <a:r>
              <a:rPr lang="en-US" sz="190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pipeline inside the private network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9525">
            <a:solidFill>
              <a:srgbClr val="FFE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7888" y="4572000"/>
            <a:ext cx="384048" cy="82296"/>
          </a:xfrm>
          <a:prstGeom prst="parallelogram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4663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C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1417320" cy="640080"/>
          </a:xfrm>
          <a:prstGeom prst="roundRect">
            <a:avLst>
              <a:gd name="adj" fmla="val 7143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97280"/>
            <a:ext cx="141732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 + classify data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74520" y="1417320"/>
            <a:ext cx="228600" cy="0"/>
          </a:xfrm>
          <a:prstGeom prst="line">
            <a:avLst/>
          </a:prstGeom>
          <a:noFill/>
          <a:ln w="190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03120" y="1097280"/>
            <a:ext cx="1417320" cy="640080"/>
          </a:xfrm>
          <a:prstGeom prst="roundRect">
            <a:avLst>
              <a:gd name="adj" fmla="val 7143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03120" y="1097280"/>
            <a:ext cx="141732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+ remove PII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520440" y="1417320"/>
            <a:ext cx="228600" cy="0"/>
          </a:xfrm>
          <a:prstGeom prst="line">
            <a:avLst/>
          </a:prstGeom>
          <a:noFill/>
          <a:ln w="190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49040" y="1097280"/>
            <a:ext cx="1417320" cy="640080"/>
          </a:xfrm>
          <a:prstGeom prst="roundRect">
            <a:avLst>
              <a:gd name="adj" fmla="val 7143"/>
            </a:avLst>
          </a:prstGeom>
          <a:solidFill>
            <a:srgbClr val="FFE600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49040" y="1097280"/>
            <a:ext cx="141732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 adapter (LoRA)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166360" y="1417320"/>
            <a:ext cx="228600" cy="0"/>
          </a:xfrm>
          <a:prstGeom prst="line">
            <a:avLst/>
          </a:prstGeom>
          <a:noFill/>
          <a:ln w="190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394960" y="1097280"/>
            <a:ext cx="1417320" cy="640080"/>
          </a:xfrm>
          <a:prstGeom prst="roundRect">
            <a:avLst>
              <a:gd name="adj" fmla="val 7143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94960" y="1097280"/>
            <a:ext cx="141732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vs benchmark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12280" y="1417320"/>
            <a:ext cx="228600" cy="0"/>
          </a:xfrm>
          <a:prstGeom prst="line">
            <a:avLst/>
          </a:prstGeom>
          <a:noFill/>
          <a:ln w="190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040880" y="1097280"/>
            <a:ext cx="1417320" cy="640080"/>
          </a:xfrm>
          <a:prstGeom prst="roundRect">
            <a:avLst>
              <a:gd name="adj" fmla="val 7143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40880" y="1097280"/>
            <a:ext cx="141732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+ promote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2194560"/>
                <a:gridCol w="30175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1F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E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1F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Effort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E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1F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 need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E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1F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E6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Prompting + RAG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Inference only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Changing company knowledge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LoRA / PEFT adapters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3E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3E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to a few GPUs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3E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 tone and terminology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3E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fine-tune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Multi-GPU + RDMA fabric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 domain shift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Pre-training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3E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high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3E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 scale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3E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Rarely justified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3E4C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45720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7C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on a separate GPU pool or scheduled window so serving replicas are not starved.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1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90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layered around every model call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9525">
            <a:solidFill>
              <a:srgbClr val="FFE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7888" y="4572000"/>
            <a:ext cx="384048" cy="82296"/>
          </a:xfrm>
          <a:prstGeom prst="parallelogram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4663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C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1417320" cy="594360"/>
          </a:xfrm>
          <a:prstGeom prst="roundRect">
            <a:avLst>
              <a:gd name="adj" fmla="val 7692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97280"/>
            <a:ext cx="141732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prompt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74520" y="1389888"/>
            <a:ext cx="228600" cy="0"/>
          </a:xfrm>
          <a:prstGeom prst="line">
            <a:avLst/>
          </a:prstGeom>
          <a:noFill/>
          <a:ln w="190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03120" y="1097280"/>
            <a:ext cx="1417320" cy="594360"/>
          </a:xfrm>
          <a:prstGeom prst="roundRect">
            <a:avLst>
              <a:gd name="adj" fmla="val 7692"/>
            </a:avLst>
          </a:prstGeom>
          <a:solidFill>
            <a:srgbClr val="FFE600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03120" y="1097280"/>
            <a:ext cx="141732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rails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520440" y="1389888"/>
            <a:ext cx="228600" cy="0"/>
          </a:xfrm>
          <a:prstGeom prst="line">
            <a:avLst/>
          </a:prstGeom>
          <a:noFill/>
          <a:ln w="190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49040" y="1097280"/>
            <a:ext cx="1417320" cy="594360"/>
          </a:xfrm>
          <a:prstGeom prst="roundRect">
            <a:avLst>
              <a:gd name="adj" fmla="val 7692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49040" y="1097280"/>
            <a:ext cx="141732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(NIM)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166360" y="1389888"/>
            <a:ext cx="228600" cy="0"/>
          </a:xfrm>
          <a:prstGeom prst="line">
            <a:avLst/>
          </a:prstGeom>
          <a:noFill/>
          <a:ln w="190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394960" y="1097280"/>
            <a:ext cx="1417320" cy="594360"/>
          </a:xfrm>
          <a:prstGeom prst="roundRect">
            <a:avLst>
              <a:gd name="adj" fmla="val 7692"/>
            </a:avLst>
          </a:prstGeom>
          <a:solidFill>
            <a:srgbClr val="FFE600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94960" y="1097280"/>
            <a:ext cx="141732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rails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12280" y="1389888"/>
            <a:ext cx="228600" cy="0"/>
          </a:xfrm>
          <a:prstGeom prst="line">
            <a:avLst/>
          </a:prstGeom>
          <a:noFill/>
          <a:ln w="190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040880" y="1097280"/>
            <a:ext cx="1417320" cy="594360"/>
          </a:xfrm>
          <a:prstGeom prst="roundRect">
            <a:avLst>
              <a:gd name="adj" fmla="val 7692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40880" y="1097280"/>
            <a:ext cx="141732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011680"/>
            <a:ext cx="2651760" cy="2194560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011680"/>
            <a:ext cx="2651760" cy="27432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rails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2359152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Jailbreak + injection detection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and secret masking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allow-list per sector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limits by role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46120" y="2011680"/>
            <a:ext cx="2651760" cy="2194560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2011680"/>
            <a:ext cx="2651760" cy="27432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337560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rails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3337560" y="2359152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Toxicity + policy filters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check vs sources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leak blocking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source citations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35040" y="2011680"/>
            <a:ext cx="2651760" cy="2194560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2011680"/>
            <a:ext cx="2651760" cy="27432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126480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126480" y="2359152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 policies as versioned config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prompts logged to SIEM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Red-team tests before release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Periodic policy review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1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90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exclusion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ACL-aware retrieval pipeline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9525">
            <a:solidFill>
              <a:srgbClr val="FFE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7888" y="4572000"/>
            <a:ext cx="384048" cy="82296"/>
          </a:xfrm>
          <a:prstGeom prst="parallelogram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4663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C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4114800" cy="1463040"/>
          </a:xfrm>
          <a:prstGeom prst="roundRect">
            <a:avLst>
              <a:gd name="adj" fmla="val 3125"/>
            </a:avLst>
          </a:prstGeom>
          <a:solidFill>
            <a:srgbClr val="1F1F28"/>
          </a:solidFill>
          <a:ln w="12700">
            <a:solidFill>
              <a:srgbClr val="FFE600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548640" y="108813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914400" cy="685800"/>
          </a:xfrm>
          <a:prstGeom prst="roundRect">
            <a:avLst>
              <a:gd name="adj" fmla="val 6667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371600"/>
            <a:ext cx="91440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463040" y="1709928"/>
            <a:ext cx="91440" cy="0"/>
          </a:xfrm>
          <a:prstGeom prst="line">
            <a:avLst/>
          </a:prstGeom>
          <a:noFill/>
          <a:ln w="190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554480" y="1371600"/>
            <a:ext cx="914400" cy="685800"/>
          </a:xfrm>
          <a:prstGeom prst="roundRect">
            <a:avLst>
              <a:gd name="adj" fmla="val 6667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54480" y="1371600"/>
            <a:ext cx="91440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Malware scan + classify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468880" y="1709928"/>
            <a:ext cx="91440" cy="0"/>
          </a:xfrm>
          <a:prstGeom prst="line">
            <a:avLst/>
          </a:prstGeom>
          <a:noFill/>
          <a:ln w="190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560320" y="1371600"/>
            <a:ext cx="914400" cy="685800"/>
          </a:xfrm>
          <a:prstGeom prst="roundRect">
            <a:avLst>
              <a:gd name="adj" fmla="val 6667"/>
            </a:avLst>
          </a:prstGeom>
          <a:solidFill>
            <a:srgbClr val="FFE600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60320" y="1371600"/>
            <a:ext cx="91440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 restricted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74720" y="1709928"/>
            <a:ext cx="91440" cy="0"/>
          </a:xfrm>
          <a:prstGeom prst="line">
            <a:avLst/>
          </a:prstGeom>
          <a:noFill/>
          <a:ln w="190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566160" y="1371600"/>
            <a:ext cx="914400" cy="685800"/>
          </a:xfrm>
          <a:prstGeom prst="roundRect">
            <a:avLst>
              <a:gd name="adj" fmla="val 6667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66160" y="1371600"/>
            <a:ext cx="914400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+ embed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8640" y="2148840"/>
            <a:ext cx="3931920" cy="274320"/>
          </a:xfrm>
          <a:prstGeom prst="roundRect">
            <a:avLst>
              <a:gd name="adj" fmla="val 16667"/>
            </a:avLst>
          </a:prstGeom>
          <a:solidFill>
            <a:srgbClr val="3E3E4C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2148840"/>
            <a:ext cx="39319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 + object store (private, encrypted)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1051560"/>
            <a:ext cx="3931920" cy="1463040"/>
          </a:xfrm>
          <a:prstGeom prst="roundRect">
            <a:avLst>
              <a:gd name="adj" fmla="val 3125"/>
            </a:avLst>
          </a:prstGeom>
          <a:solidFill>
            <a:srgbClr val="1F1F28"/>
          </a:solidFill>
          <a:ln w="12700">
            <a:solidFill>
              <a:srgbClr val="FFE600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4846320" y="108813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time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1371600"/>
            <a:ext cx="841248" cy="685800"/>
          </a:xfrm>
          <a:prstGeom prst="roundRect">
            <a:avLst>
              <a:gd name="adj" fmla="val 6667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46320" y="1371600"/>
            <a:ext cx="841248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(SSO)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687568" y="1709928"/>
            <a:ext cx="91440" cy="0"/>
          </a:xfrm>
          <a:prstGeom prst="line">
            <a:avLst/>
          </a:prstGeom>
          <a:noFill/>
          <a:ln w="190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779008" y="1371600"/>
            <a:ext cx="841248" cy="685800"/>
          </a:xfrm>
          <a:prstGeom prst="roundRect">
            <a:avLst>
              <a:gd name="adj" fmla="val 6667"/>
            </a:avLst>
          </a:prstGeom>
          <a:solidFill>
            <a:srgbClr val="FFE600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779008" y="1371600"/>
            <a:ext cx="841248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ACL filter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620256" y="1709928"/>
            <a:ext cx="91440" cy="0"/>
          </a:xfrm>
          <a:prstGeom prst="line">
            <a:avLst/>
          </a:prstGeom>
          <a:noFill/>
          <a:ln w="190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711696" y="1371600"/>
            <a:ext cx="841248" cy="685800"/>
          </a:xfrm>
          <a:prstGeom prst="roundRect">
            <a:avLst>
              <a:gd name="adj" fmla="val 6667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711696" y="1371600"/>
            <a:ext cx="841248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chunks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552944" y="1709928"/>
            <a:ext cx="91440" cy="0"/>
          </a:xfrm>
          <a:prstGeom prst="line">
            <a:avLst/>
          </a:prstGeom>
          <a:noFill/>
          <a:ln w="190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644384" y="1371600"/>
            <a:ext cx="841248" cy="685800"/>
          </a:xfrm>
          <a:prstGeom prst="roundRect">
            <a:avLst>
              <a:gd name="adj" fmla="val 6667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44384" y="1371600"/>
            <a:ext cx="841248" cy="6858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answer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46320" y="2148840"/>
            <a:ext cx="3749040" cy="274320"/>
          </a:xfrm>
          <a:prstGeom prst="roundRect">
            <a:avLst>
              <a:gd name="adj" fmla="val 16667"/>
            </a:avLst>
          </a:prstGeom>
          <a:solidFill>
            <a:srgbClr val="3E3E4C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46320" y="2148840"/>
            <a:ext cx="374904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with source citations, only from authorised chunks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2743200"/>
            <a:ext cx="2651760" cy="1508760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2743200"/>
            <a:ext cx="2651760" cy="27432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48640" y="2743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 by default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309067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 / secret classifications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data beyond need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Unapproved source systems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246120" y="2743200"/>
            <a:ext cx="2651760" cy="1508760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46120" y="2743200"/>
            <a:ext cx="2651760" cy="27432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337560" y="2743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 at retrieval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3337560" y="309067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Source-system permissions honoured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Sector-level knowledge bases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cross-tenant leakage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035040" y="2743200"/>
            <a:ext cx="2651760" cy="1508760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35040" y="2743200"/>
            <a:ext cx="2651760" cy="27432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126480" y="2743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6126480" y="309067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metadata only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prompt storage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limits set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1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90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Replicas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load balancing for resilient inference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9525">
            <a:solidFill>
              <a:srgbClr val="FFE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7888" y="4572000"/>
            <a:ext cx="384048" cy="82296"/>
          </a:xfrm>
          <a:prstGeom prst="parallelogram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4663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C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1554480" cy="3017520"/>
          </a:xfrm>
          <a:prstGeom prst="roundRect">
            <a:avLst>
              <a:gd name="adj" fmla="val 2941"/>
            </a:avLst>
          </a:prstGeom>
          <a:solidFill>
            <a:srgbClr val="FFE600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143000"/>
            <a:ext cx="1554480" cy="3017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balancer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Least-connections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1051560"/>
            <a:ext cx="3108960" cy="1600200"/>
          </a:xfrm>
          <a:prstGeom prst="roundRect">
            <a:avLst>
              <a:gd name="adj" fmla="val 2857"/>
            </a:avLst>
          </a:prstGeom>
          <a:solidFill>
            <a:srgbClr val="1F1F28"/>
          </a:solidFill>
          <a:ln w="12700">
            <a:solidFill>
              <a:srgbClr val="FFE600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2468880" y="108813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Dell GPU node 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68880" y="1371600"/>
            <a:ext cx="2926080" cy="548640"/>
          </a:xfrm>
          <a:prstGeom prst="roundRect">
            <a:avLst>
              <a:gd name="adj" fmla="val 8333"/>
            </a:avLst>
          </a:prstGeom>
          <a:solidFill>
            <a:srgbClr val="FFE600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68880" y="1371600"/>
            <a:ext cx="29260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 replica 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68880" y="2011680"/>
            <a:ext cx="2926080" cy="548640"/>
          </a:xfrm>
          <a:prstGeom prst="roundRect">
            <a:avLst>
              <a:gd name="adj" fmla="val 8333"/>
            </a:avLst>
          </a:prstGeom>
          <a:solidFill>
            <a:srgbClr val="FFE600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68880" y="2011680"/>
            <a:ext cx="29260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 replica 2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377440" y="2743200"/>
            <a:ext cx="3108960" cy="1508760"/>
          </a:xfrm>
          <a:prstGeom prst="roundRect">
            <a:avLst>
              <a:gd name="adj" fmla="val 3030"/>
            </a:avLst>
          </a:prstGeom>
          <a:solidFill>
            <a:srgbClr val="1F1F28"/>
          </a:solidFill>
          <a:ln w="12700">
            <a:solidFill>
              <a:srgbClr val="FFE600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2468880" y="277977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Dell GPU node B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468880" y="3063240"/>
            <a:ext cx="2926080" cy="457200"/>
          </a:xfrm>
          <a:prstGeom prst="roundRect">
            <a:avLst>
              <a:gd name="adj" fmla="val 10000"/>
            </a:avLst>
          </a:prstGeom>
          <a:solidFill>
            <a:srgbClr val="3E3E4C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6888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 replica 3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68880" y="3611880"/>
            <a:ext cx="2926080" cy="457200"/>
          </a:xfrm>
          <a:prstGeom prst="roundRect">
            <a:avLst>
              <a:gd name="adj" fmla="val 10000"/>
            </a:avLst>
          </a:prstGeom>
          <a:solidFill>
            <a:srgbClr val="3E3E4C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468880" y="3611880"/>
            <a:ext cx="29260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 replica 4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011680" y="1828800"/>
            <a:ext cx="365760" cy="0"/>
          </a:xfrm>
          <a:prstGeom prst="line">
            <a:avLst/>
          </a:prstGeom>
          <a:noFill/>
          <a:ln w="190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011680" y="3474720"/>
            <a:ext cx="365760" cy="0"/>
          </a:xfrm>
          <a:prstGeom prst="line">
            <a:avLst/>
          </a:prstGeom>
          <a:noFill/>
          <a:ln w="19050">
            <a:solidFill>
              <a:srgbClr val="FFE60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760720" y="1051560"/>
            <a:ext cx="2926080" cy="1600200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60720" y="1051560"/>
            <a:ext cx="2926080" cy="27432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852160" y="1051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 policy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852160" y="1399032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2 nodes for HA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set from load tests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Autoscale on queue depth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760720" y="2743200"/>
            <a:ext cx="2926080" cy="1508760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60720" y="2743200"/>
            <a:ext cx="2926080" cy="27432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85216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Resilience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852160" y="3090672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disruption budgets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updates, drain one node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Failover tested pre go-live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1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90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Firewalls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network zones: default-deny between every layer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9525">
            <a:solidFill>
              <a:srgbClr val="FFE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7888" y="4572000"/>
            <a:ext cx="384048" cy="82296"/>
          </a:xfrm>
          <a:prstGeom prst="parallelogram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4663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C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8412480" cy="3200400"/>
          </a:xfrm>
          <a:prstGeom prst="roundRect">
            <a:avLst>
              <a:gd name="adj" fmla="val 1429"/>
            </a:avLst>
          </a:prstGeom>
          <a:solidFill>
            <a:srgbClr val="1F1F28"/>
          </a:solidFill>
          <a:ln w="12700">
            <a:solidFill>
              <a:srgbClr val="FFE600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457200" y="108813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data centre (no public egress from inference)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1463040" cy="1005840"/>
          </a:xfrm>
          <a:prstGeom prst="roundRect">
            <a:avLst>
              <a:gd name="adj" fmla="val 4545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417320"/>
            <a:ext cx="146304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zone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IAM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TLS, device control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11680" y="1920240"/>
            <a:ext cx="182880" cy="0"/>
          </a:xfrm>
          <a:prstGeom prst="line">
            <a:avLst/>
          </a:prstGeom>
          <a:noFill/>
          <a:ln w="19050">
            <a:solidFill>
              <a:srgbClr val="FFE600"/>
            </a:solidFill>
            <a:prstDash val="solid"/>
            <a:headEnd type="triangl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194560" y="1417320"/>
            <a:ext cx="1463040" cy="1005840"/>
          </a:xfrm>
          <a:prstGeom prst="roundRect">
            <a:avLst>
              <a:gd name="adj" fmla="val 4545"/>
            </a:avLst>
          </a:prstGeom>
          <a:solidFill>
            <a:srgbClr val="FFE600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94560" y="1417320"/>
            <a:ext cx="146304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DMZ / 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WAF, API gateway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0" y="1920240"/>
            <a:ext cx="182880" cy="0"/>
          </a:xfrm>
          <a:prstGeom prst="line">
            <a:avLst/>
          </a:prstGeom>
          <a:noFill/>
          <a:ln w="19050">
            <a:solidFill>
              <a:srgbClr val="FFE600"/>
            </a:solidFill>
            <a:prstDash val="solid"/>
            <a:headEnd type="triangl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840480" y="1417320"/>
            <a:ext cx="1463040" cy="1005840"/>
          </a:xfrm>
          <a:prstGeom prst="roundRect">
            <a:avLst>
              <a:gd name="adj" fmla="val 4545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40480" y="1417320"/>
            <a:ext cx="146304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platform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NetworkPolicy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RBAC, admission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03520" y="1920240"/>
            <a:ext cx="182880" cy="0"/>
          </a:xfrm>
          <a:prstGeom prst="line">
            <a:avLst/>
          </a:prstGeom>
          <a:noFill/>
          <a:ln w="19050">
            <a:solidFill>
              <a:srgbClr val="FFE600"/>
            </a:solidFill>
            <a:prstDash val="solid"/>
            <a:headEnd type="triangl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86400" y="1417320"/>
            <a:ext cx="1463040" cy="1005840"/>
          </a:xfrm>
          <a:prstGeom prst="roundRect">
            <a:avLst>
              <a:gd name="adj" fmla="val 4545"/>
            </a:avLst>
          </a:prstGeom>
          <a:solidFill>
            <a:srgbClr val="FFE600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0" y="1417320"/>
            <a:ext cx="146304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compute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VLAN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tainted nodes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49440" y="1920240"/>
            <a:ext cx="182880" cy="0"/>
          </a:xfrm>
          <a:prstGeom prst="line">
            <a:avLst/>
          </a:prstGeom>
          <a:noFill/>
          <a:ln w="19050">
            <a:solidFill>
              <a:srgbClr val="FFE600"/>
            </a:solidFill>
            <a:prstDash val="solid"/>
            <a:headEnd type="triangl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132320" y="1417320"/>
            <a:ext cx="1463040" cy="1005840"/>
          </a:xfrm>
          <a:prstGeom prst="roundRect">
            <a:avLst>
              <a:gd name="adj" fmla="val 4545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32320" y="1417320"/>
            <a:ext cx="1463040" cy="10058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zone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endpoints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2697480"/>
            <a:ext cx="3840480" cy="548640"/>
          </a:xfrm>
          <a:prstGeom prst="roundRect">
            <a:avLst>
              <a:gd name="adj" fmla="val 8333"/>
            </a:avLst>
          </a:prstGeom>
          <a:solidFill>
            <a:srgbClr val="3E3E4C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2697480"/>
            <a:ext cx="384048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East-west GPU fabric: RDMA-capable, low latency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0" y="2697480"/>
            <a:ext cx="4023360" cy="548640"/>
          </a:xfrm>
          <a:prstGeom prst="roundRect">
            <a:avLst>
              <a:gd name="adj" fmla="val 8333"/>
            </a:avLst>
          </a:prstGeom>
          <a:solidFill>
            <a:srgbClr val="3E3E4C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0" y="2697480"/>
            <a:ext cx="4023360" cy="5486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OOB network (iDRAC): isolated, admin-only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3429000"/>
            <a:ext cx="3840480" cy="640080"/>
          </a:xfrm>
          <a:prstGeom prst="roundRect">
            <a:avLst>
              <a:gd name="adj" fmla="val 7143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548640" y="3429000"/>
            <a:ext cx="384048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Staging: controlled egress, malware scan, hash + signature check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0" y="3429000"/>
            <a:ext cx="4023360" cy="640080"/>
          </a:xfrm>
          <a:prstGeom prst="roundRect">
            <a:avLst>
              <a:gd name="adj" fmla="val 7143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4572000" y="3429000"/>
            <a:ext cx="4023360" cy="6400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Egress firewall test: prohibited outbound traffic blocked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1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90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architecture for models, data and platform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9525">
            <a:solidFill>
              <a:srgbClr val="FFE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7888" y="4572000"/>
            <a:ext cx="384048" cy="82296"/>
          </a:xfrm>
          <a:prstGeom prst="parallelogram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4663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C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4023360" cy="1463040"/>
          </a:xfrm>
          <a:prstGeom prst="roundRect">
            <a:avLst>
              <a:gd name="adj" fmla="val 3125"/>
            </a:avLst>
          </a:prstGeom>
          <a:solidFill>
            <a:srgbClr val="1F1F28"/>
          </a:solidFill>
          <a:ln w="12700">
            <a:solidFill>
              <a:srgbClr val="FFE600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548640" y="10881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GPU node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1828800" cy="1051560"/>
          </a:xfrm>
          <a:prstGeom prst="roundRect">
            <a:avLst>
              <a:gd name="adj" fmla="val 4348"/>
            </a:avLst>
          </a:prstGeom>
          <a:solidFill>
            <a:srgbClr val="3E3E4C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371600"/>
            <a:ext cx="1828800" cy="10515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 NVMe RAID1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68880" y="1371600"/>
            <a:ext cx="1920240" cy="1051560"/>
          </a:xfrm>
          <a:prstGeom prst="roundRect">
            <a:avLst>
              <a:gd name="adj" fmla="val 4348"/>
            </a:avLst>
          </a:prstGeom>
          <a:solidFill>
            <a:srgbClr val="FFE600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68880" y="1371600"/>
            <a:ext cx="1920240" cy="10515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NVMe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+ NIM cache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051560"/>
            <a:ext cx="4023360" cy="1463040"/>
          </a:xfrm>
          <a:prstGeom prst="roundRect">
            <a:avLst>
              <a:gd name="adj" fmla="val 3125"/>
            </a:avLst>
          </a:prstGeom>
          <a:solidFill>
            <a:srgbClr val="1F1F28"/>
          </a:solidFill>
          <a:ln w="12700">
            <a:solidFill>
              <a:srgbClr val="FFE600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4754880" y="10881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(Nutanix storage)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1371600"/>
            <a:ext cx="1828800" cy="1051560"/>
          </a:xfrm>
          <a:prstGeom prst="roundRect">
            <a:avLst>
              <a:gd name="adj" fmla="val 4348"/>
            </a:avLst>
          </a:prstGeom>
          <a:solidFill>
            <a:srgbClr val="FFE600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54880" y="1371600"/>
            <a:ext cx="1828800" cy="10515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store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weights, adapters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75120" y="1371600"/>
            <a:ext cx="1920240" cy="1051560"/>
          </a:xfrm>
          <a:prstGeom prst="roundRect">
            <a:avLst>
              <a:gd name="adj" fmla="val 4348"/>
            </a:avLst>
          </a:prstGeom>
          <a:solidFill>
            <a:srgbClr val="3E3E4C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0" y="1371600"/>
            <a:ext cx="1920240" cy="10515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registry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651760"/>
            <a:ext cx="4023360" cy="1600200"/>
          </a:xfrm>
          <a:prstGeom prst="roundRect">
            <a:avLst>
              <a:gd name="adj" fmla="val 2857"/>
            </a:avLst>
          </a:prstGeom>
          <a:solidFill>
            <a:srgbClr val="1F1F28"/>
          </a:solidFill>
          <a:ln w="12700">
            <a:solidFill>
              <a:srgbClr val="FFE600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548640" y="26883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data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2971800"/>
            <a:ext cx="1828800" cy="1188720"/>
          </a:xfrm>
          <a:prstGeom prst="roundRect">
            <a:avLst>
              <a:gd name="adj" fmla="val 3846"/>
            </a:avLst>
          </a:prstGeom>
          <a:solidFill>
            <a:srgbClr val="3E3E4C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2971800"/>
            <a:ext cx="1828800" cy="11887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store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documents, parsed files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468880" y="2971800"/>
            <a:ext cx="1920240" cy="1188720"/>
          </a:xfrm>
          <a:prstGeom prst="roundRect">
            <a:avLst>
              <a:gd name="adj" fmla="val 3846"/>
            </a:avLst>
          </a:prstGeom>
          <a:solidFill>
            <a:srgbClr val="FFE600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468880" y="2971800"/>
            <a:ext cx="1920240" cy="11887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SSD-backed, ACL metadata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2651760"/>
            <a:ext cx="4023360" cy="1600200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2651760"/>
            <a:ext cx="4023360" cy="27432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54880" y="2651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and protection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2999232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x variants x replicas x cache x headroom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at rest, key management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Backups of registry, manifests, vector DB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 procedure tested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1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90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support the private LLM platform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9525">
            <a:solidFill>
              <a:srgbClr val="FFE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7888" y="4572000"/>
            <a:ext cx="384048" cy="82296"/>
          </a:xfrm>
          <a:prstGeom prst="parallelogram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4663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C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FFE600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097280"/>
            <a:ext cx="15544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readiness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03120" y="1097280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03120" y="1097280"/>
            <a:ext cx="15544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servers racked, powered, cooled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49040" y="1097280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49040" y="1097280"/>
            <a:ext cx="15544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+ GPU Operator live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94960" y="1097280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94960" y="1097280"/>
            <a:ext cx="15544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Registry, storage, gateway ready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040880" y="1097280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0" y="1097280"/>
            <a:ext cx="15544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+ SIEM connected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1920240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FFE600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1920240"/>
            <a:ext cx="15544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readiness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03120" y="1920240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103120" y="1920240"/>
            <a:ext cx="15544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Firewall rules + egress test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49040" y="1920240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749040" y="1920240"/>
            <a:ext cx="15544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SSO, RBAC, secrets vault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94960" y="1920240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94960" y="1920240"/>
            <a:ext cx="15544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+ image verification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040880" y="1920240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40880" y="1920240"/>
            <a:ext cx="15544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 policies approved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2743200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FFE600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" y="2743200"/>
            <a:ext cx="15544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readiness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103120" y="2743200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103120" y="2743200"/>
            <a:ext cx="15544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Runbooks and on-call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749040" y="2743200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749040" y="2743200"/>
            <a:ext cx="15544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and firmware cadence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394960" y="2743200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394960" y="2743200"/>
            <a:ext cx="15544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and DR tested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040880" y="2743200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040880" y="2743200"/>
            <a:ext cx="15544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Dell + NVIDIA support paths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3566160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FFE600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57200" y="3566160"/>
            <a:ext cx="15544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readiness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103120" y="3566160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103120" y="3566160"/>
            <a:ext cx="15544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+ MLOps team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749040" y="3566160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749040" y="3566160"/>
            <a:ext cx="15544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SMEs for evaluation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394960" y="3566160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394960" y="3566160"/>
            <a:ext cx="15544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+ compliance owners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040880" y="3566160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040880" y="3566160"/>
            <a:ext cx="155448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training and champions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1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and </a:t>
            </a:r>
            <a:pPr indent="0" marL="0">
              <a:buNone/>
            </a:pPr>
            <a:r>
              <a:rPr lang="en-US" sz="190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mapping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9525">
            <a:solidFill>
              <a:srgbClr val="FFE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7888" y="4572000"/>
            <a:ext cx="384048" cy="82296"/>
          </a:xfrm>
          <a:prstGeom prst="parallelogram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4663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C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023360"/>
                <a:gridCol w="25603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1F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area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E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1F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E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1F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enforced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E6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SSO, MFA, no shared admin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Gateway, K8s RBAC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3E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Default-deny, no public egress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3E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Firewalls, NetworkPolicy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3E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Encryption, ACL-aware retrieval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Storage, RAG service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3E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Hash-verified, allow-listed models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3E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Registry, admission control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3E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Guardrails and exclusion policies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Guardrails service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3E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Auth, admin, model changes to SIEM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3E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Logging pipeline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3E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Framework fit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ISO 27001, NIST, CIS, sector rules (PCI-DSS, HIPAA)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Mapped per client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1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90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Sizing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inputs and bill-of-materials starting point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9525">
            <a:solidFill>
              <a:srgbClr val="FFE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7888" y="4572000"/>
            <a:ext cx="384048" cy="82296"/>
          </a:xfrm>
          <a:prstGeom prst="parallelogram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4663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C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926080" cy="2834640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2926080" cy="27432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Sizing inputs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444752"/>
            <a:ext cx="2743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Model, size, quantisation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concurrency, requests/min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Time-to-first-token target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and output tokens (p95)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tokens per request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over 12-24 months</a:t>
            </a:r>
            <a:endParaRPr lang="en-US" sz="10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11880" y="1097280"/>
          <a:ext cx="50749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280160"/>
                <a:gridCol w="1508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1F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E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1F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E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1F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E6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Dell GPU server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2+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 GPUs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3E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server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3E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validated design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3E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 fabric switches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0-2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2+ redundant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K8s CPU nodes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3E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3E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3+ control plane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3E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Registry, vector DB, gateway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each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Shared storage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3E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3E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3E4C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45720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7C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quantities need a Dell/NVIDIA sizing exercise and load tests.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1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</a:t>
            </a:r>
            <a:pPr indent="0" marL="0">
              <a:buNone/>
            </a:pPr>
            <a:r>
              <a:rPr lang="en-US" sz="190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pPr indent="0" marL="0">
              <a:buNone/>
            </a:pP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9525">
            <a:solidFill>
              <a:srgbClr val="FFE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7888" y="4572000"/>
            <a:ext cx="384048" cy="82296"/>
          </a:xfrm>
          <a:prstGeom prst="parallelogram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4663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C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1554480" cy="640080"/>
          </a:xfrm>
          <a:prstGeom prst="chevron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1430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Discover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Exit: Workload profile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03120" y="1143000"/>
            <a:ext cx="1554480" cy="640080"/>
          </a:xfrm>
          <a:prstGeom prst="chevron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31720" y="11430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Size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10312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Exit: Validated BOM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49040" y="1143000"/>
            <a:ext cx="1554480" cy="640080"/>
          </a:xfrm>
          <a:prstGeom prst="chevron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77640" y="11430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Foundation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Exit: Hardware + network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94960" y="1143000"/>
            <a:ext cx="1554480" cy="640080"/>
          </a:xfrm>
          <a:prstGeom prst="chevron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23560" y="11430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Platform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Exit: K8s, GPU, storage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040880" y="1143000"/>
            <a:ext cx="1554480" cy="640080"/>
          </a:xfrm>
          <a:prstGeom prst="chevron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69480" y="11430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Serving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Exit: NIM + Mistral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697480"/>
            <a:ext cx="1554480" cy="640080"/>
          </a:xfrm>
          <a:prstGeom prst="chevron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269748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Guardrails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3429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Exit: Security review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103120" y="2697480"/>
            <a:ext cx="1554480" cy="640080"/>
          </a:xfrm>
          <a:prstGeom prst="chevron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331720" y="269748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RAG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103120" y="3429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Exit: ACL retrieval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749040" y="2697480"/>
            <a:ext cx="1554480" cy="640080"/>
          </a:xfrm>
          <a:prstGeom prst="chevron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977640" y="269748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Test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3749040" y="3429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Exit: Load + failover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394960" y="2697480"/>
            <a:ext cx="1554480" cy="640080"/>
          </a:xfrm>
          <a:prstGeom prst="chevron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623560" y="269748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Live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394960" y="3429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Exit: Handover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1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90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</a:t>
            </a:r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mitigations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9525">
            <a:solidFill>
              <a:srgbClr val="FFE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7888" y="4572000"/>
            <a:ext cx="384048" cy="82296"/>
          </a:xfrm>
          <a:prstGeom prst="parallelogram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4663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C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1F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E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1F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E60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 under-sizing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Benchmark real model, context, concurrency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 bottleneck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3E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RDMA east-west fabric for multi-node; test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3E4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Air-gap complexity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Staging enclave + private registry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Version drift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3E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 tested NVIDIA / K8s / driver stack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3E4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licensing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Legal review for every model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Sensitive logs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3E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Minimise logging, set retention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E3E4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point of failure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Redundant gateway, storage, GPU nodes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2E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1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90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pPr indent="0" marL="0">
              <a:buNone/>
            </a:pP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9525">
            <a:solidFill>
              <a:srgbClr val="FFE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7888" y="4572000"/>
            <a:ext cx="384048" cy="82296"/>
          </a:xfrm>
          <a:prstGeom prst="parallelogram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4663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C7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548640" cy="594360"/>
          </a:xfrm>
          <a:prstGeom prst="roundRect">
            <a:avLst>
              <a:gd name="adj" fmla="val 8333"/>
            </a:avLst>
          </a:prstGeom>
          <a:solidFill>
            <a:srgbClr val="FFE600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188720"/>
            <a:ext cx="54864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1188720"/>
            <a:ext cx="7589520" cy="594360"/>
          </a:xfrm>
          <a:prstGeom prst="roundRect">
            <a:avLst>
              <a:gd name="adj" fmla="val 7692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1188720"/>
            <a:ext cx="7589520" cy="59436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target models, users and sectors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548640" cy="594360"/>
          </a:xfrm>
          <a:prstGeom prst="roundRect">
            <a:avLst>
              <a:gd name="adj" fmla="val 8333"/>
            </a:avLst>
          </a:prstGeom>
          <a:solidFill>
            <a:srgbClr val="FFE600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1965960"/>
            <a:ext cx="54864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97280" y="1965960"/>
            <a:ext cx="7589520" cy="594360"/>
          </a:xfrm>
          <a:prstGeom prst="roundRect">
            <a:avLst>
              <a:gd name="adj" fmla="val 7692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1965960"/>
            <a:ext cx="7589520" cy="59436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Dell + NVIDIA sizing workshop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548640" cy="594360"/>
          </a:xfrm>
          <a:prstGeom prst="roundRect">
            <a:avLst>
              <a:gd name="adj" fmla="val 8333"/>
            </a:avLst>
          </a:prstGeom>
          <a:solidFill>
            <a:srgbClr val="FFE600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743200"/>
            <a:ext cx="54864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97280" y="2743200"/>
            <a:ext cx="7589520" cy="594360"/>
          </a:xfrm>
          <a:prstGeom prst="roundRect">
            <a:avLst>
              <a:gd name="adj" fmla="val 7692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7280" y="2743200"/>
            <a:ext cx="7589520" cy="59436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pilot scope and success metrics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548640" cy="594360"/>
          </a:xfrm>
          <a:prstGeom prst="roundRect">
            <a:avLst>
              <a:gd name="adj" fmla="val 8333"/>
            </a:avLst>
          </a:prstGeom>
          <a:solidFill>
            <a:srgbClr val="FFE600"/>
          </a:solidFill>
          <a:ln w="9525">
            <a:solidFill>
              <a:srgbClr val="FFE6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520440"/>
            <a:ext cx="548640" cy="5943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1F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97280" y="3520440"/>
            <a:ext cx="7589520" cy="594360"/>
          </a:xfrm>
          <a:prstGeom prst="roundRect">
            <a:avLst>
              <a:gd name="adj" fmla="val 7692"/>
            </a:avLst>
          </a:prstGeom>
          <a:solidFill>
            <a:srgbClr val="2E2E38"/>
          </a:solidFill>
          <a:ln w="9525">
            <a:solidFill>
              <a:srgbClr val="C7C7D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97280" y="3520440"/>
            <a:ext cx="7589520" cy="59436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foundation build and security design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2026-09-29T05:56:03Z</dcterms:created>
  <dcterms:modified xsi:type="dcterms:W3CDTF">2026-09-29T05:56:03Z</dcterms:modified>
</cp:coreProperties>
</file>