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OpenAI provides the model capability, while Microsoft Foundry acts as the broader AI platform where we can manage models, agents, tools and governance. For an enterprise implementation, the model is only one part of the complete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we are not blindly recommending Azure for everything — the choice depends on whether the workload needs enterprise Azure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is more than just selecting GPT. We first create the Azure and Foundry environment, define the workload boundary, configure access using Entra ID and RBAC, deploy the model, connect data and tools, and finally monitor and govern the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OpenAI model is the intelligence layer, but the production solution is built around it using Azure services: WAF and APIM protect and govern traffic, the application/agent layer holds business logic, Foundry and Azure AI Search provide the platform and retrieval, and the enterprise foundation provides identity, security, networking, monitoring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 actual enterprise use case rather than just the model — RAG allows OpenAI to answer using enterprise knowledge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regulated workloads, we cannot just ask where the model is hosted. We need to understand where prompts are processed, where data is stored, and what deployment configuration is being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approach: use Microsoft Foundry as the enterprise AI platform, select OpenAI models based on workload requirements, integrate Azure AI Search for enterprise knowledge, and use Azure security and governance services as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OpenAI in Azure</a:t>
            </a:r>
            <a:endParaRPr lang="en-US" sz="3800" dirty="0"/>
          </a:p>
        </p:txBody>
      </p:sp>
      <p:sp>
        <p:nvSpPr>
          <p:cNvPr id="3" name="Text 1"/>
          <p:cNvSpPr/>
          <p:nvPr/>
        </p:nvSpPr>
        <p:spPr>
          <a:xfrm>
            <a:off x="640080" y="1188720"/>
            <a:ext cx="10881360"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Enterprise Implementation Overview  —  Where does it fit?</a:t>
            </a:r>
            <a:endParaRPr lang="en-US" sz="1600" dirty="0"/>
          </a:p>
        </p:txBody>
      </p:sp>
      <p:sp>
        <p:nvSpPr>
          <p:cNvPr id="4" name="Shape 2"/>
          <p:cNvSpPr/>
          <p:nvPr/>
        </p:nvSpPr>
        <p:spPr>
          <a:xfrm>
            <a:off x="822960" y="1965960"/>
            <a:ext cx="4297680" cy="566928"/>
          </a:xfrm>
          <a:prstGeom prst="roundRect">
            <a:avLst>
              <a:gd name="adj" fmla="val 9677"/>
            </a:avLst>
          </a:prstGeom>
          <a:solidFill>
            <a:srgbClr val="FFFFFF"/>
          </a:solidFill>
          <a:ln w="12700">
            <a:solidFill>
              <a:srgbClr val="1E2761"/>
            </a:solidFill>
            <a:prstDash val="solid"/>
          </a:ln>
        </p:spPr>
      </p:sp>
      <p:sp>
        <p:nvSpPr>
          <p:cNvPr id="5" name="Text 3"/>
          <p:cNvSpPr/>
          <p:nvPr/>
        </p:nvSpPr>
        <p:spPr>
          <a:xfrm>
            <a:off x="877824" y="196596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User / Business Application</a:t>
            </a:r>
            <a:endParaRPr lang="en-US" sz="1250" dirty="0"/>
          </a:p>
        </p:txBody>
      </p:sp>
      <p:sp>
        <p:nvSpPr>
          <p:cNvPr id="6" name="Shape 4"/>
          <p:cNvSpPr/>
          <p:nvPr/>
        </p:nvSpPr>
        <p:spPr>
          <a:xfrm>
            <a:off x="2971800" y="2532888"/>
            <a:ext cx="0" cy="301752"/>
          </a:xfrm>
          <a:prstGeom prst="line">
            <a:avLst/>
          </a:prstGeom>
          <a:noFill/>
          <a:ln w="22225">
            <a:solidFill>
              <a:srgbClr val="CADCFC"/>
            </a:solidFill>
            <a:prstDash val="solid"/>
            <a:tailEnd type="triangle"/>
          </a:ln>
        </p:spPr>
      </p:sp>
      <p:sp>
        <p:nvSpPr>
          <p:cNvPr id="7" name="Shape 5"/>
          <p:cNvSpPr/>
          <p:nvPr/>
        </p:nvSpPr>
        <p:spPr>
          <a:xfrm>
            <a:off x="822960" y="2834640"/>
            <a:ext cx="4297680" cy="566928"/>
          </a:xfrm>
          <a:prstGeom prst="roundRect">
            <a:avLst>
              <a:gd name="adj" fmla="val 9677"/>
            </a:avLst>
          </a:prstGeom>
          <a:solidFill>
            <a:srgbClr val="FFFFFF"/>
          </a:solidFill>
          <a:ln w="12700">
            <a:solidFill>
              <a:srgbClr val="1E2761"/>
            </a:solidFill>
            <a:prstDash val="solid"/>
          </a:ln>
        </p:spPr>
      </p:sp>
      <p:sp>
        <p:nvSpPr>
          <p:cNvPr id="8" name="Text 6"/>
          <p:cNvSpPr/>
          <p:nvPr/>
        </p:nvSpPr>
        <p:spPr>
          <a:xfrm>
            <a:off x="877824" y="283464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Application / Agent Layer</a:t>
            </a:r>
            <a:endParaRPr lang="en-US" sz="1250" dirty="0"/>
          </a:p>
        </p:txBody>
      </p:sp>
      <p:sp>
        <p:nvSpPr>
          <p:cNvPr id="9" name="Shape 7"/>
          <p:cNvSpPr/>
          <p:nvPr/>
        </p:nvSpPr>
        <p:spPr>
          <a:xfrm>
            <a:off x="2971800" y="3401568"/>
            <a:ext cx="0" cy="301752"/>
          </a:xfrm>
          <a:prstGeom prst="line">
            <a:avLst/>
          </a:prstGeom>
          <a:noFill/>
          <a:ln w="22225">
            <a:solidFill>
              <a:srgbClr val="CADCFC"/>
            </a:solidFill>
            <a:prstDash val="solid"/>
            <a:tailEnd type="triangle"/>
          </a:ln>
        </p:spPr>
      </p:sp>
      <p:sp>
        <p:nvSpPr>
          <p:cNvPr id="10" name="Shape 8"/>
          <p:cNvSpPr/>
          <p:nvPr/>
        </p:nvSpPr>
        <p:spPr>
          <a:xfrm>
            <a:off x="822960" y="3703320"/>
            <a:ext cx="4297680" cy="566928"/>
          </a:xfrm>
          <a:prstGeom prst="roundRect">
            <a:avLst>
              <a:gd name="adj" fmla="val 9677"/>
            </a:avLst>
          </a:prstGeom>
          <a:solidFill>
            <a:srgbClr val="F2A65A"/>
          </a:solidFill>
          <a:ln w="12700">
            <a:solidFill>
              <a:srgbClr val="1E2761"/>
            </a:solidFill>
            <a:prstDash val="solid"/>
          </a:ln>
        </p:spPr>
      </p:sp>
      <p:sp>
        <p:nvSpPr>
          <p:cNvPr id="11" name="Text 9"/>
          <p:cNvSpPr/>
          <p:nvPr/>
        </p:nvSpPr>
        <p:spPr>
          <a:xfrm>
            <a:off x="877824" y="3703320"/>
            <a:ext cx="4187952" cy="566928"/>
          </a:xfrm>
          <a:prstGeom prst="rect">
            <a:avLst/>
          </a:prstGeom>
          <a:noFill/>
          <a:ln/>
        </p:spPr>
        <p:txBody>
          <a:bodyPr wrap="square" lIns="0" tIns="0" rIns="0" bIns="0" rtlCol="0" anchor="ctr">
            <a:normAutofit/>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Microsoft Foundry</a:t>
            </a:r>
            <a:endParaRPr lang="en-US" sz="1350" dirty="0"/>
          </a:p>
        </p:txBody>
      </p:sp>
      <p:sp>
        <p:nvSpPr>
          <p:cNvPr id="12" name="Shape 10"/>
          <p:cNvSpPr/>
          <p:nvPr/>
        </p:nvSpPr>
        <p:spPr>
          <a:xfrm flipH="1">
            <a:off x="1828800" y="4270248"/>
            <a:ext cx="1143000" cy="347472"/>
          </a:xfrm>
          <a:prstGeom prst="line">
            <a:avLst/>
          </a:prstGeom>
          <a:noFill/>
          <a:ln w="19050">
            <a:solidFill>
              <a:srgbClr val="CADCFC"/>
            </a:solidFill>
            <a:prstDash val="solid"/>
            <a:tailEnd type="triangle"/>
          </a:ln>
        </p:spPr>
      </p:sp>
      <p:sp>
        <p:nvSpPr>
          <p:cNvPr id="13" name="Shape 11"/>
          <p:cNvSpPr/>
          <p:nvPr/>
        </p:nvSpPr>
        <p:spPr>
          <a:xfrm>
            <a:off x="2971800" y="4270248"/>
            <a:ext cx="1143000" cy="347472"/>
          </a:xfrm>
          <a:prstGeom prst="line">
            <a:avLst/>
          </a:prstGeom>
          <a:noFill/>
          <a:ln w="19050">
            <a:solidFill>
              <a:srgbClr val="CADCFC"/>
            </a:solidFill>
            <a:prstDash val="solid"/>
            <a:tailEnd type="triangle"/>
          </a:ln>
        </p:spPr>
      </p:sp>
      <p:sp>
        <p:nvSpPr>
          <p:cNvPr id="14" name="Shape 12"/>
          <p:cNvSpPr/>
          <p:nvPr/>
        </p:nvSpPr>
        <p:spPr>
          <a:xfrm>
            <a:off x="822960" y="4617720"/>
            <a:ext cx="2011680" cy="566928"/>
          </a:xfrm>
          <a:prstGeom prst="roundRect">
            <a:avLst>
              <a:gd name="adj" fmla="val 9677"/>
            </a:avLst>
          </a:prstGeom>
          <a:solidFill>
            <a:srgbClr val="2A3A7C"/>
          </a:solidFill>
          <a:ln w="12700">
            <a:solidFill>
              <a:srgbClr val="1E2761"/>
            </a:solidFill>
            <a:prstDash val="solid"/>
          </a:ln>
        </p:spPr>
      </p:sp>
      <p:sp>
        <p:nvSpPr>
          <p:cNvPr id="15" name="Text 13"/>
          <p:cNvSpPr/>
          <p:nvPr/>
        </p:nvSpPr>
        <p:spPr>
          <a:xfrm>
            <a:off x="877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OpenAI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GPT etc.</a:t>
            </a:r>
            <a:endParaRPr lang="en-US" sz="1150" dirty="0"/>
          </a:p>
        </p:txBody>
      </p:sp>
      <p:sp>
        <p:nvSpPr>
          <p:cNvPr id="16" name="Shape 14"/>
          <p:cNvSpPr/>
          <p:nvPr/>
        </p:nvSpPr>
        <p:spPr>
          <a:xfrm>
            <a:off x="3108960" y="4617720"/>
            <a:ext cx="2011680" cy="566928"/>
          </a:xfrm>
          <a:prstGeom prst="roundRect">
            <a:avLst>
              <a:gd name="adj" fmla="val 9677"/>
            </a:avLst>
          </a:prstGeom>
          <a:solidFill>
            <a:srgbClr val="2A3A7C"/>
          </a:solidFill>
          <a:ln w="12700">
            <a:solidFill>
              <a:srgbClr val="1E2761"/>
            </a:solidFill>
            <a:prstDash val="solid"/>
          </a:ln>
        </p:spPr>
      </p:sp>
      <p:sp>
        <p:nvSpPr>
          <p:cNvPr id="17" name="Text 15"/>
          <p:cNvSpPr/>
          <p:nvPr/>
        </p:nvSpPr>
        <p:spPr>
          <a:xfrm>
            <a:off x="3163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Other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Claude etc.</a:t>
            </a:r>
            <a:endParaRPr lang="en-US" sz="1150" dirty="0"/>
          </a:p>
        </p:txBody>
      </p:sp>
      <p:sp>
        <p:nvSpPr>
          <p:cNvPr id="18" name="Text 16"/>
          <p:cNvSpPr/>
          <p:nvPr/>
        </p:nvSpPr>
        <p:spPr>
          <a:xfrm>
            <a:off x="822960" y="5349240"/>
            <a:ext cx="4297680" cy="502920"/>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Foundry supports models, agents, tools, evaluation, monitoring &amp; governance.</a:t>
            </a:r>
            <a:endParaRPr lang="en-US" sz="1050" dirty="0"/>
          </a:p>
        </p:txBody>
      </p:sp>
      <p:sp>
        <p:nvSpPr>
          <p:cNvPr id="19" name="Text 17"/>
          <p:cNvSpPr/>
          <p:nvPr/>
        </p:nvSpPr>
        <p:spPr>
          <a:xfrm>
            <a:off x="5440680" y="1965960"/>
            <a:ext cx="6126480" cy="411480"/>
          </a:xfrm>
          <a:prstGeom prst="rect">
            <a:avLst/>
          </a:prstGeom>
          <a:noFill/>
          <a:ln/>
        </p:spPr>
        <p:txBody>
          <a:bodyPr wrap="square" lIns="0" tIns="0" rIns="0" bIns="0" rtlCol="0" anchor="ctr"/>
          <a:lstStyle/>
          <a:p>
            <a:pPr indent="0" marL="0">
              <a:buNone/>
            </a:pPr>
            <a:r>
              <a:rPr lang="en-US" sz="1800" b="1" dirty="0">
                <a:solidFill>
                  <a:srgbClr val="F2A65A"/>
                </a:solidFill>
                <a:latin typeface="Cambria" pitchFamily="34" charset="0"/>
                <a:ea typeface="Cambria" pitchFamily="34" charset="-122"/>
                <a:cs typeface="Cambria" pitchFamily="34" charset="-120"/>
              </a:rPr>
              <a:t>Key Points</a:t>
            </a:r>
            <a:endParaRPr lang="en-US" sz="1800" dirty="0"/>
          </a:p>
        </p:txBody>
      </p:sp>
      <p:sp>
        <p:nvSpPr>
          <p:cNvPr id="20" name="Text 18"/>
          <p:cNvSpPr/>
          <p:nvPr/>
        </p:nvSpPr>
        <p:spPr>
          <a:xfrm>
            <a:off x="5440680" y="2468880"/>
            <a:ext cx="6126480" cy="3108960"/>
          </a:xfrm>
          <a:prstGeom prst="rect">
            <a:avLst/>
          </a:prstGeom>
          <a:noFill/>
          <a:ln/>
        </p:spPr>
        <p:txBody>
          <a:bodyPr wrap="square" lIns="0" tIns="0" rIns="0" bIns="0" rtlCol="0" anchor="t"/>
          <a:lstStyle/>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models provide the AI intelligence.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Microsoft Foundry provides the broader platform to build and manage AI applications.</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Foundry supports models, agents, tools, evaluation, monitoring and governance.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should be viewed as part of the overall enterprise AI architecture, not as a standalone component.</a:t>
            </a:r>
            <a:endParaRPr lang="en-US" sz="1400" dirty="0"/>
          </a:p>
        </p:txBody>
      </p:sp>
      <p:sp>
        <p:nvSpPr>
          <p:cNvPr id="21" name="Shape 19"/>
          <p:cNvSpPr/>
          <p:nvPr/>
        </p:nvSpPr>
        <p:spPr>
          <a:xfrm>
            <a:off x="5440680" y="5623560"/>
            <a:ext cx="6126480" cy="868680"/>
          </a:xfrm>
          <a:prstGeom prst="roundRect">
            <a:avLst>
              <a:gd name="adj" fmla="val 8421"/>
            </a:avLst>
          </a:prstGeom>
          <a:solidFill>
            <a:srgbClr val="2A3A7C"/>
          </a:solidFill>
          <a:ln w="6350">
            <a:solidFill>
              <a:srgbClr val="FFFFFF"/>
            </a:solidFill>
            <a:prstDash val="solid"/>
          </a:ln>
        </p:spPr>
      </p:sp>
      <p:sp>
        <p:nvSpPr>
          <p:cNvPr id="22" name="Text 20"/>
          <p:cNvSpPr/>
          <p:nvPr/>
        </p:nvSpPr>
        <p:spPr>
          <a:xfrm>
            <a:off x="5495544" y="5623560"/>
            <a:ext cx="6016752" cy="868680"/>
          </a:xfrm>
          <a:prstGeom prst="rect">
            <a:avLst/>
          </a:prstGeom>
          <a:noFill/>
          <a:ln/>
        </p:spPr>
        <p:txBody>
          <a:bodyPr wrap="square" lIns="0" tIns="0" rIns="0" bIns="0" rtlCol="0" anchor="ctr">
            <a:normAutofit/>
          </a:bodyPr>
          <a:lstStyle/>
          <a:p>
            <a:pPr algn="ctr" indent="0" marL="0">
              <a:buNone/>
            </a:pPr>
            <a:r>
              <a:rPr lang="en-US" sz="1150" dirty="0">
                <a:solidFill>
                  <a:srgbClr val="CADCFC"/>
                </a:solidFill>
                <a:latin typeface="Calibri" pitchFamily="34" charset="0"/>
                <a:ea typeface="Calibri" pitchFamily="34" charset="-122"/>
                <a:cs typeface="Calibri" pitchFamily="34" charset="-120"/>
              </a:rPr>
              <a:t>“The model is only one part of the complete architecture — Foundry is where we manage models, agents, tools and governance.”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OpenAI Direct vs. Azure / Microsoft Foundry</a:t>
            </a:r>
            <a:endParaRPr lang="en-US" sz="3000" dirty="0"/>
          </a:p>
        </p:txBody>
      </p:sp>
      <p:sp>
        <p:nvSpPr>
          <p:cNvPr id="3" name="Text 1"/>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5B6B8C"/>
                </a:solidFill>
                <a:latin typeface="Calibri" pitchFamily="34" charset="0"/>
                <a:ea typeface="Calibri" pitchFamily="34" charset="-122"/>
                <a:cs typeface="Calibri" pitchFamily="34" charset="-120"/>
              </a:rPr>
              <a:t>When to use provider infrastructure vs. Azure infrastructure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566160"/>
        </p:xfrm>
        <a:graphic>
          <a:graphicData uri="http://schemas.openxmlformats.org/drawingml/2006/table">
            <a:tbl>
              <a:tblPr/>
              <a:tblGrid>
                <a:gridCol w="2404872"/>
                <a:gridCol w="4343400"/>
                <a:gridCol w="4343400"/>
              </a:tblGrid>
              <a:tr h="445770">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OpenAI Direct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Azure / Microsoft Foundry</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Direct model consumption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Enterprise Azure workloads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OpenAI authentication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Entra ID + Azure RBAC</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Networking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Provider-managed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VNet + Private Endpoint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Enterprise data</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Custom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Azure-native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RAG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Custom setup</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Azure AI Search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OpenAI platform controls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Azure Policy + Azure Monitor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Landing Zone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Outside Azure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c>
                  <a:txBody>
                    <a:bodyPr/>
                    <a:lstStyle/>
                    <a:p>
                      <a:pPr algn="ctr" indent="0" marL="0">
                        <a:buNone/>
                      </a:pPr>
                      <a:r>
                        <a:rPr lang="en-US" sz="1200" dirty="0">
                          <a:solidFill>
                            <a:srgbClr val="5B6B8C"/>
                          </a:solidFill>
                          <a:latin typeface="Calibri" pitchFamily="34" charset="0"/>
                          <a:ea typeface="Calibri" pitchFamily="34" charset="-122"/>
                          <a:cs typeface="Calibri" pitchFamily="34" charset="-120"/>
                        </a:rPr>
                        <a:t>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ADCFC"/>
                    </a:solidFill>
                  </a:tcPr>
                </a:tc>
              </a:tr>
            </a:tbl>
          </a:graphicData>
        </a:graphic>
      </p:graphicFrame>
      <p:sp>
        <p:nvSpPr>
          <p:cNvPr id="5" name="Shape 2"/>
          <p:cNvSpPr/>
          <p:nvPr/>
        </p:nvSpPr>
        <p:spPr>
          <a:xfrm>
            <a:off x="548640" y="5394960"/>
            <a:ext cx="11091672" cy="1005840"/>
          </a:xfrm>
          <a:prstGeom prst="roundRect">
            <a:avLst>
              <a:gd name="adj" fmla="val 7273"/>
            </a:avLst>
          </a:prstGeom>
          <a:solidFill>
            <a:srgbClr val="F2A65A"/>
          </a:solidFill>
          <a:ln w="12700">
            <a:solidFill>
              <a:srgbClr val="FFFFFF"/>
            </a:solidFill>
            <a:prstDash val="solid"/>
          </a:ln>
        </p:spPr>
      </p:sp>
      <p:sp>
        <p:nvSpPr>
          <p:cNvPr id="6" name="Text 3"/>
          <p:cNvSpPr/>
          <p:nvPr/>
        </p:nvSpPr>
        <p:spPr>
          <a:xfrm>
            <a:off x="603504" y="5394960"/>
            <a:ext cx="10981944" cy="1005840"/>
          </a:xfrm>
          <a:prstGeom prst="rect">
            <a:avLst/>
          </a:prstGeom>
          <a:noFill/>
          <a:ln/>
        </p:spPr>
        <p:txBody>
          <a:bodyPr wrap="square" lIns="0" tIns="0" rIns="0" bIns="0" rtlCol="0" anchor="ctr">
            <a:normAutofit/>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Recommendation:  Use OpenAI directly when simple, direct consumption of OpenAI capabilities is the priority. Use Azure / Foundry when the workload needs to integrate with enterprise Azure identity, networking, governance and data services.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How Do We Deploy OpenAI in Azure?</a:t>
            </a:r>
            <a:endParaRPr lang="en-US" sz="3000" dirty="0"/>
          </a:p>
        </p:txBody>
      </p:sp>
      <p:sp>
        <p:nvSpPr>
          <p:cNvPr id="3" name="Text 1"/>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5B6B8C"/>
                </a:solidFill>
                <a:latin typeface="Calibri" pitchFamily="34" charset="0"/>
                <a:ea typeface="Calibri" pitchFamily="34" charset="-122"/>
                <a:cs typeface="Calibri" pitchFamily="34" charset="-120"/>
              </a:rPr>
              <a:t>Azure Subscription → Foundry → Select Model → Deploy</a:t>
            </a:r>
            <a:endParaRPr lang="en-US" sz="1400" dirty="0"/>
          </a:p>
        </p:txBody>
      </p:sp>
      <p:sp>
        <p:nvSpPr>
          <p:cNvPr id="4" name="Shape 2"/>
          <p:cNvSpPr/>
          <p:nvPr/>
        </p:nvSpPr>
        <p:spPr>
          <a:xfrm>
            <a:off x="822960" y="1737360"/>
            <a:ext cx="310896" cy="310896"/>
          </a:xfrm>
          <a:prstGeom prst="ellipse">
            <a:avLst/>
          </a:prstGeom>
          <a:solidFill>
            <a:srgbClr val="1E2761"/>
          </a:solidFill>
          <a:ln w="12700">
            <a:solidFill>
              <a:srgbClr val="FFFFFF"/>
            </a:solidFill>
            <a:prstDash val="solid"/>
          </a:ln>
        </p:spPr>
      </p:sp>
      <p:sp>
        <p:nvSpPr>
          <p:cNvPr id="5" name="Text 3"/>
          <p:cNvSpPr/>
          <p:nvPr/>
        </p:nvSpPr>
        <p:spPr>
          <a:xfrm>
            <a:off x="82296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Shape 4"/>
          <p:cNvSpPr/>
          <p:nvPr/>
        </p:nvSpPr>
        <p:spPr>
          <a:xfrm>
            <a:off x="1325880" y="1691640"/>
            <a:ext cx="5257800" cy="402336"/>
          </a:xfrm>
          <a:prstGeom prst="roundRect">
            <a:avLst>
              <a:gd name="adj" fmla="val 13636"/>
            </a:avLst>
          </a:prstGeom>
          <a:solidFill>
            <a:srgbClr val="FFFFFF"/>
          </a:solidFill>
          <a:ln w="12700">
            <a:solidFill>
              <a:srgbClr val="9FB3D9"/>
            </a:solidFill>
            <a:prstDash val="solid"/>
          </a:ln>
        </p:spPr>
      </p:sp>
      <p:sp>
        <p:nvSpPr>
          <p:cNvPr id="7" name="Text 5"/>
          <p:cNvSpPr/>
          <p:nvPr/>
        </p:nvSpPr>
        <p:spPr>
          <a:xfrm>
            <a:off x="1380744" y="169164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Azure Subscription</a:t>
            </a:r>
            <a:endParaRPr lang="en-US" sz="1250" dirty="0"/>
          </a:p>
        </p:txBody>
      </p:sp>
      <p:sp>
        <p:nvSpPr>
          <p:cNvPr id="8" name="Shape 6"/>
          <p:cNvSpPr/>
          <p:nvPr/>
        </p:nvSpPr>
        <p:spPr>
          <a:xfrm>
            <a:off x="978408" y="2093976"/>
            <a:ext cx="0" cy="91440"/>
          </a:xfrm>
          <a:prstGeom prst="line">
            <a:avLst/>
          </a:prstGeom>
          <a:noFill/>
          <a:ln w="22225">
            <a:solidFill>
              <a:srgbClr val="5B6B8C"/>
            </a:solidFill>
            <a:prstDash val="solid"/>
            <a:tailEnd type="triangle"/>
          </a:ln>
        </p:spPr>
      </p:sp>
      <p:sp>
        <p:nvSpPr>
          <p:cNvPr id="9" name="Shape 7"/>
          <p:cNvSpPr/>
          <p:nvPr/>
        </p:nvSpPr>
        <p:spPr>
          <a:xfrm>
            <a:off x="822960" y="2231136"/>
            <a:ext cx="310896" cy="310896"/>
          </a:xfrm>
          <a:prstGeom prst="ellipse">
            <a:avLst/>
          </a:prstGeom>
          <a:solidFill>
            <a:srgbClr val="1E2761"/>
          </a:solidFill>
          <a:ln w="12700">
            <a:solidFill>
              <a:srgbClr val="FFFFFF"/>
            </a:solidFill>
            <a:prstDash val="solid"/>
          </a:ln>
        </p:spPr>
      </p:sp>
      <p:sp>
        <p:nvSpPr>
          <p:cNvPr id="10" name="Text 8"/>
          <p:cNvSpPr/>
          <p:nvPr/>
        </p:nvSpPr>
        <p:spPr>
          <a:xfrm>
            <a:off x="822960" y="22311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Shape 9"/>
          <p:cNvSpPr/>
          <p:nvPr/>
        </p:nvSpPr>
        <p:spPr>
          <a:xfrm>
            <a:off x="1325880" y="2185416"/>
            <a:ext cx="5257800" cy="402336"/>
          </a:xfrm>
          <a:prstGeom prst="roundRect">
            <a:avLst>
              <a:gd name="adj" fmla="val 13636"/>
            </a:avLst>
          </a:prstGeom>
          <a:solidFill>
            <a:srgbClr val="FFFFFF"/>
          </a:solidFill>
          <a:ln w="12700">
            <a:solidFill>
              <a:srgbClr val="9FB3D9"/>
            </a:solidFill>
            <a:prstDash val="solid"/>
          </a:ln>
        </p:spPr>
      </p:sp>
      <p:sp>
        <p:nvSpPr>
          <p:cNvPr id="12" name="Text 10"/>
          <p:cNvSpPr/>
          <p:nvPr/>
        </p:nvSpPr>
        <p:spPr>
          <a:xfrm>
            <a:off x="1380744" y="218541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Microsoft Foundry</a:t>
            </a:r>
            <a:endParaRPr lang="en-US" sz="1250" dirty="0"/>
          </a:p>
        </p:txBody>
      </p:sp>
      <p:sp>
        <p:nvSpPr>
          <p:cNvPr id="13" name="Shape 11"/>
          <p:cNvSpPr/>
          <p:nvPr/>
        </p:nvSpPr>
        <p:spPr>
          <a:xfrm>
            <a:off x="978408" y="2587752"/>
            <a:ext cx="0" cy="91440"/>
          </a:xfrm>
          <a:prstGeom prst="line">
            <a:avLst/>
          </a:prstGeom>
          <a:noFill/>
          <a:ln w="22225">
            <a:solidFill>
              <a:srgbClr val="5B6B8C"/>
            </a:solidFill>
            <a:prstDash val="solid"/>
            <a:tailEnd type="triangle"/>
          </a:ln>
        </p:spPr>
      </p:sp>
      <p:sp>
        <p:nvSpPr>
          <p:cNvPr id="14" name="Shape 12"/>
          <p:cNvSpPr/>
          <p:nvPr/>
        </p:nvSpPr>
        <p:spPr>
          <a:xfrm>
            <a:off x="822960" y="2724912"/>
            <a:ext cx="310896" cy="310896"/>
          </a:xfrm>
          <a:prstGeom prst="ellipse">
            <a:avLst/>
          </a:prstGeom>
          <a:solidFill>
            <a:srgbClr val="1E2761"/>
          </a:solidFill>
          <a:ln w="12700">
            <a:solidFill>
              <a:srgbClr val="FFFFFF"/>
            </a:solidFill>
            <a:prstDash val="solid"/>
          </a:ln>
        </p:spPr>
      </p:sp>
      <p:sp>
        <p:nvSpPr>
          <p:cNvPr id="15" name="Text 13"/>
          <p:cNvSpPr/>
          <p:nvPr/>
        </p:nvSpPr>
        <p:spPr>
          <a:xfrm>
            <a:off x="82296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Shape 14"/>
          <p:cNvSpPr/>
          <p:nvPr/>
        </p:nvSpPr>
        <p:spPr>
          <a:xfrm>
            <a:off x="1325880" y="2679192"/>
            <a:ext cx="5257800" cy="402336"/>
          </a:xfrm>
          <a:prstGeom prst="roundRect">
            <a:avLst>
              <a:gd name="adj" fmla="val 13636"/>
            </a:avLst>
          </a:prstGeom>
          <a:solidFill>
            <a:srgbClr val="FFFFFF"/>
          </a:solidFill>
          <a:ln w="12700">
            <a:solidFill>
              <a:srgbClr val="9FB3D9"/>
            </a:solidFill>
            <a:prstDash val="solid"/>
          </a:ln>
        </p:spPr>
      </p:sp>
      <p:sp>
        <p:nvSpPr>
          <p:cNvPr id="17" name="Text 15"/>
          <p:cNvSpPr/>
          <p:nvPr/>
        </p:nvSpPr>
        <p:spPr>
          <a:xfrm>
            <a:off x="1380744" y="267919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Create Project</a:t>
            </a:r>
            <a:endParaRPr lang="en-US" sz="1250" dirty="0"/>
          </a:p>
        </p:txBody>
      </p:sp>
      <p:sp>
        <p:nvSpPr>
          <p:cNvPr id="18" name="Shape 16"/>
          <p:cNvSpPr/>
          <p:nvPr/>
        </p:nvSpPr>
        <p:spPr>
          <a:xfrm>
            <a:off x="978408" y="3081528"/>
            <a:ext cx="0" cy="91440"/>
          </a:xfrm>
          <a:prstGeom prst="line">
            <a:avLst/>
          </a:prstGeom>
          <a:noFill/>
          <a:ln w="22225">
            <a:solidFill>
              <a:srgbClr val="5B6B8C"/>
            </a:solidFill>
            <a:prstDash val="solid"/>
            <a:tailEnd type="triangle"/>
          </a:ln>
        </p:spPr>
      </p:sp>
      <p:sp>
        <p:nvSpPr>
          <p:cNvPr id="19" name="Shape 17"/>
          <p:cNvSpPr/>
          <p:nvPr/>
        </p:nvSpPr>
        <p:spPr>
          <a:xfrm>
            <a:off x="822960" y="3218688"/>
            <a:ext cx="310896" cy="310896"/>
          </a:xfrm>
          <a:prstGeom prst="ellipse">
            <a:avLst/>
          </a:prstGeom>
          <a:solidFill>
            <a:srgbClr val="1E2761"/>
          </a:solidFill>
          <a:ln w="12700">
            <a:solidFill>
              <a:srgbClr val="FFFFFF"/>
            </a:solidFill>
            <a:prstDash val="solid"/>
          </a:ln>
        </p:spPr>
      </p:sp>
      <p:sp>
        <p:nvSpPr>
          <p:cNvPr id="20" name="Text 18"/>
          <p:cNvSpPr/>
          <p:nvPr/>
        </p:nvSpPr>
        <p:spPr>
          <a:xfrm>
            <a:off x="82296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Shape 19"/>
          <p:cNvSpPr/>
          <p:nvPr/>
        </p:nvSpPr>
        <p:spPr>
          <a:xfrm>
            <a:off x="1325880" y="3172968"/>
            <a:ext cx="5257800" cy="402336"/>
          </a:xfrm>
          <a:prstGeom prst="roundRect">
            <a:avLst>
              <a:gd name="adj" fmla="val 13636"/>
            </a:avLst>
          </a:prstGeom>
          <a:solidFill>
            <a:srgbClr val="F2A65A"/>
          </a:solidFill>
          <a:ln w="12700">
            <a:solidFill>
              <a:srgbClr val="9FB3D9"/>
            </a:solidFill>
            <a:prstDash val="solid"/>
          </a:ln>
        </p:spPr>
      </p:sp>
      <p:sp>
        <p:nvSpPr>
          <p:cNvPr id="22" name="Text 20"/>
          <p:cNvSpPr/>
          <p:nvPr/>
        </p:nvSpPr>
        <p:spPr>
          <a:xfrm>
            <a:off x="1380744" y="317296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Configure Entra ID + RBAC</a:t>
            </a:r>
            <a:endParaRPr lang="en-US" sz="1250" dirty="0"/>
          </a:p>
        </p:txBody>
      </p:sp>
      <p:sp>
        <p:nvSpPr>
          <p:cNvPr id="23" name="Shape 21"/>
          <p:cNvSpPr/>
          <p:nvPr/>
        </p:nvSpPr>
        <p:spPr>
          <a:xfrm>
            <a:off x="978408" y="3575304"/>
            <a:ext cx="0" cy="91440"/>
          </a:xfrm>
          <a:prstGeom prst="line">
            <a:avLst/>
          </a:prstGeom>
          <a:noFill/>
          <a:ln w="22225">
            <a:solidFill>
              <a:srgbClr val="5B6B8C"/>
            </a:solidFill>
            <a:prstDash val="solid"/>
            <a:tailEnd type="triangle"/>
          </a:ln>
        </p:spPr>
      </p:sp>
      <p:sp>
        <p:nvSpPr>
          <p:cNvPr id="24" name="Shape 22"/>
          <p:cNvSpPr/>
          <p:nvPr/>
        </p:nvSpPr>
        <p:spPr>
          <a:xfrm>
            <a:off x="822960" y="3712464"/>
            <a:ext cx="310896" cy="310896"/>
          </a:xfrm>
          <a:prstGeom prst="ellipse">
            <a:avLst/>
          </a:prstGeom>
          <a:solidFill>
            <a:srgbClr val="1E2761"/>
          </a:solidFill>
          <a:ln w="12700">
            <a:solidFill>
              <a:srgbClr val="FFFFFF"/>
            </a:solidFill>
            <a:prstDash val="solid"/>
          </a:ln>
        </p:spPr>
      </p:sp>
      <p:sp>
        <p:nvSpPr>
          <p:cNvPr id="25" name="Text 23"/>
          <p:cNvSpPr/>
          <p:nvPr/>
        </p:nvSpPr>
        <p:spPr>
          <a:xfrm>
            <a:off x="822960" y="37124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Shape 24"/>
          <p:cNvSpPr/>
          <p:nvPr/>
        </p:nvSpPr>
        <p:spPr>
          <a:xfrm>
            <a:off x="1325880" y="3666744"/>
            <a:ext cx="5257800" cy="402336"/>
          </a:xfrm>
          <a:prstGeom prst="roundRect">
            <a:avLst>
              <a:gd name="adj" fmla="val 13636"/>
            </a:avLst>
          </a:prstGeom>
          <a:solidFill>
            <a:srgbClr val="FFFFFF"/>
          </a:solidFill>
          <a:ln w="12700">
            <a:solidFill>
              <a:srgbClr val="9FB3D9"/>
            </a:solidFill>
            <a:prstDash val="solid"/>
          </a:ln>
        </p:spPr>
      </p:sp>
      <p:sp>
        <p:nvSpPr>
          <p:cNvPr id="27" name="Text 25"/>
          <p:cNvSpPr/>
          <p:nvPr/>
        </p:nvSpPr>
        <p:spPr>
          <a:xfrm>
            <a:off x="1380744" y="3666744"/>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Select OpenAI Model</a:t>
            </a:r>
            <a:endParaRPr lang="en-US" sz="1250" dirty="0"/>
          </a:p>
        </p:txBody>
      </p:sp>
      <p:sp>
        <p:nvSpPr>
          <p:cNvPr id="28" name="Shape 26"/>
          <p:cNvSpPr/>
          <p:nvPr/>
        </p:nvSpPr>
        <p:spPr>
          <a:xfrm>
            <a:off x="978408" y="4069080"/>
            <a:ext cx="0" cy="91440"/>
          </a:xfrm>
          <a:prstGeom prst="line">
            <a:avLst/>
          </a:prstGeom>
          <a:noFill/>
          <a:ln w="22225">
            <a:solidFill>
              <a:srgbClr val="5B6B8C"/>
            </a:solidFill>
            <a:prstDash val="solid"/>
            <a:tailEnd type="triangle"/>
          </a:ln>
        </p:spPr>
      </p:sp>
      <p:sp>
        <p:nvSpPr>
          <p:cNvPr id="29" name="Shape 27"/>
          <p:cNvSpPr/>
          <p:nvPr/>
        </p:nvSpPr>
        <p:spPr>
          <a:xfrm>
            <a:off x="822960" y="4206240"/>
            <a:ext cx="310896" cy="310896"/>
          </a:xfrm>
          <a:prstGeom prst="ellipse">
            <a:avLst/>
          </a:prstGeom>
          <a:solidFill>
            <a:srgbClr val="1E2761"/>
          </a:solidFill>
          <a:ln w="12700">
            <a:solidFill>
              <a:srgbClr val="FFFFFF"/>
            </a:solidFill>
            <a:prstDash val="solid"/>
          </a:ln>
        </p:spPr>
      </p:sp>
      <p:sp>
        <p:nvSpPr>
          <p:cNvPr id="30" name="Text 28"/>
          <p:cNvSpPr/>
          <p:nvPr/>
        </p:nvSpPr>
        <p:spPr>
          <a:xfrm>
            <a:off x="822960" y="4206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1" name="Shape 29"/>
          <p:cNvSpPr/>
          <p:nvPr/>
        </p:nvSpPr>
        <p:spPr>
          <a:xfrm>
            <a:off x="1325880" y="4160520"/>
            <a:ext cx="5257800" cy="402336"/>
          </a:xfrm>
          <a:prstGeom prst="roundRect">
            <a:avLst>
              <a:gd name="adj" fmla="val 13636"/>
            </a:avLst>
          </a:prstGeom>
          <a:solidFill>
            <a:srgbClr val="FFFFFF"/>
          </a:solidFill>
          <a:ln w="12700">
            <a:solidFill>
              <a:srgbClr val="9FB3D9"/>
            </a:solidFill>
            <a:prstDash val="solid"/>
          </a:ln>
        </p:spPr>
      </p:sp>
      <p:sp>
        <p:nvSpPr>
          <p:cNvPr id="32" name="Text 30"/>
          <p:cNvSpPr/>
          <p:nvPr/>
        </p:nvSpPr>
        <p:spPr>
          <a:xfrm>
            <a:off x="1380744" y="416052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Deploy Model</a:t>
            </a:r>
            <a:endParaRPr lang="en-US" sz="1250" dirty="0"/>
          </a:p>
        </p:txBody>
      </p:sp>
      <p:sp>
        <p:nvSpPr>
          <p:cNvPr id="33" name="Shape 31"/>
          <p:cNvSpPr/>
          <p:nvPr/>
        </p:nvSpPr>
        <p:spPr>
          <a:xfrm>
            <a:off x="978408" y="4562856"/>
            <a:ext cx="0" cy="91440"/>
          </a:xfrm>
          <a:prstGeom prst="line">
            <a:avLst/>
          </a:prstGeom>
          <a:noFill/>
          <a:ln w="22225">
            <a:solidFill>
              <a:srgbClr val="5B6B8C"/>
            </a:solidFill>
            <a:prstDash val="solid"/>
            <a:tailEnd type="triangle"/>
          </a:ln>
        </p:spPr>
      </p:sp>
      <p:sp>
        <p:nvSpPr>
          <p:cNvPr id="34" name="Shape 32"/>
          <p:cNvSpPr/>
          <p:nvPr/>
        </p:nvSpPr>
        <p:spPr>
          <a:xfrm>
            <a:off x="822960" y="4700016"/>
            <a:ext cx="310896" cy="310896"/>
          </a:xfrm>
          <a:prstGeom prst="ellipse">
            <a:avLst/>
          </a:prstGeom>
          <a:solidFill>
            <a:srgbClr val="1E2761"/>
          </a:solidFill>
          <a:ln w="12700">
            <a:solidFill>
              <a:srgbClr val="FFFFFF"/>
            </a:solidFill>
            <a:prstDash val="solid"/>
          </a:ln>
        </p:spPr>
      </p:sp>
      <p:sp>
        <p:nvSpPr>
          <p:cNvPr id="35" name="Text 33"/>
          <p:cNvSpPr/>
          <p:nvPr/>
        </p:nvSpPr>
        <p:spPr>
          <a:xfrm>
            <a:off x="822960" y="47000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6" name="Shape 34"/>
          <p:cNvSpPr/>
          <p:nvPr/>
        </p:nvSpPr>
        <p:spPr>
          <a:xfrm>
            <a:off x="1325880" y="4654296"/>
            <a:ext cx="5257800" cy="402336"/>
          </a:xfrm>
          <a:prstGeom prst="roundRect">
            <a:avLst>
              <a:gd name="adj" fmla="val 13636"/>
            </a:avLst>
          </a:prstGeom>
          <a:solidFill>
            <a:srgbClr val="FFFFFF"/>
          </a:solidFill>
          <a:ln w="12700">
            <a:solidFill>
              <a:srgbClr val="9FB3D9"/>
            </a:solidFill>
            <a:prstDash val="solid"/>
          </a:ln>
        </p:spPr>
      </p:sp>
      <p:sp>
        <p:nvSpPr>
          <p:cNvPr id="37" name="Text 35"/>
          <p:cNvSpPr/>
          <p:nvPr/>
        </p:nvSpPr>
        <p:spPr>
          <a:xfrm>
            <a:off x="1380744" y="465429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Connect Data / Tools</a:t>
            </a:r>
            <a:endParaRPr lang="en-US" sz="1250" dirty="0"/>
          </a:p>
        </p:txBody>
      </p:sp>
      <p:sp>
        <p:nvSpPr>
          <p:cNvPr id="38" name="Shape 36"/>
          <p:cNvSpPr/>
          <p:nvPr/>
        </p:nvSpPr>
        <p:spPr>
          <a:xfrm>
            <a:off x="978408" y="5056632"/>
            <a:ext cx="0" cy="91440"/>
          </a:xfrm>
          <a:prstGeom prst="line">
            <a:avLst/>
          </a:prstGeom>
          <a:noFill/>
          <a:ln w="22225">
            <a:solidFill>
              <a:srgbClr val="5B6B8C"/>
            </a:solidFill>
            <a:prstDash val="solid"/>
            <a:tailEnd type="triangle"/>
          </a:ln>
        </p:spPr>
      </p:sp>
      <p:sp>
        <p:nvSpPr>
          <p:cNvPr id="39" name="Shape 37"/>
          <p:cNvSpPr/>
          <p:nvPr/>
        </p:nvSpPr>
        <p:spPr>
          <a:xfrm>
            <a:off x="822960" y="5193792"/>
            <a:ext cx="310896" cy="310896"/>
          </a:xfrm>
          <a:prstGeom prst="ellipse">
            <a:avLst/>
          </a:prstGeom>
          <a:solidFill>
            <a:srgbClr val="1E2761"/>
          </a:solidFill>
          <a:ln w="12700">
            <a:solidFill>
              <a:srgbClr val="FFFFFF"/>
            </a:solidFill>
            <a:prstDash val="solid"/>
          </a:ln>
        </p:spPr>
      </p:sp>
      <p:sp>
        <p:nvSpPr>
          <p:cNvPr id="40" name="Text 38"/>
          <p:cNvSpPr/>
          <p:nvPr/>
        </p:nvSpPr>
        <p:spPr>
          <a:xfrm>
            <a:off x="822960" y="51937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1" name="Shape 39"/>
          <p:cNvSpPr/>
          <p:nvPr/>
        </p:nvSpPr>
        <p:spPr>
          <a:xfrm>
            <a:off x="1325880" y="5148072"/>
            <a:ext cx="5257800" cy="402336"/>
          </a:xfrm>
          <a:prstGeom prst="roundRect">
            <a:avLst>
              <a:gd name="adj" fmla="val 13636"/>
            </a:avLst>
          </a:prstGeom>
          <a:solidFill>
            <a:srgbClr val="FFFFFF"/>
          </a:solidFill>
          <a:ln w="12700">
            <a:solidFill>
              <a:srgbClr val="9FB3D9"/>
            </a:solidFill>
            <a:prstDash val="solid"/>
          </a:ln>
        </p:spPr>
      </p:sp>
      <p:sp>
        <p:nvSpPr>
          <p:cNvPr id="42" name="Text 40"/>
          <p:cNvSpPr/>
          <p:nvPr/>
        </p:nvSpPr>
        <p:spPr>
          <a:xfrm>
            <a:off x="1380744" y="514807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Build Application / Agent</a:t>
            </a:r>
            <a:endParaRPr lang="en-US" sz="1250" dirty="0"/>
          </a:p>
        </p:txBody>
      </p:sp>
      <p:sp>
        <p:nvSpPr>
          <p:cNvPr id="43" name="Shape 41"/>
          <p:cNvSpPr/>
          <p:nvPr/>
        </p:nvSpPr>
        <p:spPr>
          <a:xfrm>
            <a:off x="978408" y="5550408"/>
            <a:ext cx="0" cy="91440"/>
          </a:xfrm>
          <a:prstGeom prst="line">
            <a:avLst/>
          </a:prstGeom>
          <a:noFill/>
          <a:ln w="22225">
            <a:solidFill>
              <a:srgbClr val="5B6B8C"/>
            </a:solidFill>
            <a:prstDash val="solid"/>
            <a:tailEnd type="triangle"/>
          </a:ln>
        </p:spPr>
      </p:sp>
      <p:sp>
        <p:nvSpPr>
          <p:cNvPr id="44" name="Shape 42"/>
          <p:cNvSpPr/>
          <p:nvPr/>
        </p:nvSpPr>
        <p:spPr>
          <a:xfrm>
            <a:off x="822960" y="5687568"/>
            <a:ext cx="310896" cy="310896"/>
          </a:xfrm>
          <a:prstGeom prst="ellipse">
            <a:avLst/>
          </a:prstGeom>
          <a:solidFill>
            <a:srgbClr val="1E2761"/>
          </a:solidFill>
          <a:ln w="12700">
            <a:solidFill>
              <a:srgbClr val="FFFFFF"/>
            </a:solidFill>
            <a:prstDash val="solid"/>
          </a:ln>
        </p:spPr>
      </p:sp>
      <p:sp>
        <p:nvSpPr>
          <p:cNvPr id="45" name="Text 43"/>
          <p:cNvSpPr/>
          <p:nvPr/>
        </p:nvSpPr>
        <p:spPr>
          <a:xfrm>
            <a:off x="822960" y="5687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6" name="Shape 44"/>
          <p:cNvSpPr/>
          <p:nvPr/>
        </p:nvSpPr>
        <p:spPr>
          <a:xfrm>
            <a:off x="1325880" y="5641848"/>
            <a:ext cx="5257800" cy="402336"/>
          </a:xfrm>
          <a:prstGeom prst="roundRect">
            <a:avLst>
              <a:gd name="adj" fmla="val 13636"/>
            </a:avLst>
          </a:prstGeom>
          <a:solidFill>
            <a:srgbClr val="F2A65A"/>
          </a:solidFill>
          <a:ln w="12700">
            <a:solidFill>
              <a:srgbClr val="9FB3D9"/>
            </a:solidFill>
            <a:prstDash val="solid"/>
          </a:ln>
        </p:spPr>
      </p:sp>
      <p:sp>
        <p:nvSpPr>
          <p:cNvPr id="47" name="Text 45"/>
          <p:cNvSpPr/>
          <p:nvPr/>
        </p:nvSpPr>
        <p:spPr>
          <a:xfrm>
            <a:off x="1380744" y="564184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Monitor + Evaluate + Govern</a:t>
            </a:r>
            <a:endParaRPr lang="en-US" sz="1250" dirty="0"/>
          </a:p>
        </p:txBody>
      </p:sp>
      <p:sp>
        <p:nvSpPr>
          <p:cNvPr id="48" name="Text 46"/>
          <p:cNvSpPr/>
          <p:nvPr/>
        </p:nvSpPr>
        <p:spPr>
          <a:xfrm>
            <a:off x="7086600" y="1691640"/>
            <a:ext cx="4480560" cy="4114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Authentication</a:t>
            </a:r>
            <a:endParaRPr lang="en-US" sz="1800" dirty="0"/>
          </a:p>
        </p:txBody>
      </p:sp>
      <p:sp>
        <p:nvSpPr>
          <p:cNvPr id="49" name="Shape 47"/>
          <p:cNvSpPr/>
          <p:nvPr/>
        </p:nvSpPr>
        <p:spPr>
          <a:xfrm>
            <a:off x="7086600" y="2194560"/>
            <a:ext cx="4480560" cy="1051560"/>
          </a:xfrm>
          <a:prstGeom prst="roundRect">
            <a:avLst>
              <a:gd name="adj" fmla="val 8696"/>
            </a:avLst>
          </a:prstGeom>
          <a:solidFill>
            <a:srgbClr val="CADCFC"/>
          </a:solidFill>
          <a:ln w="12700">
            <a:solidFill>
              <a:srgbClr val="1E2761"/>
            </a:solidFill>
            <a:prstDash val="solid"/>
          </a:ln>
        </p:spPr>
      </p:sp>
      <p:sp>
        <p:nvSpPr>
          <p:cNvPr id="50" name="Text 48"/>
          <p:cNvSpPr/>
          <p:nvPr/>
        </p:nvSpPr>
        <p:spPr>
          <a:xfrm>
            <a:off x="7141464" y="219456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Development / PoC</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API Key can be used</a:t>
            </a:r>
            <a:endParaRPr lang="en-US" sz="1300" dirty="0"/>
          </a:p>
        </p:txBody>
      </p:sp>
      <p:sp>
        <p:nvSpPr>
          <p:cNvPr id="51" name="Shape 49"/>
          <p:cNvSpPr/>
          <p:nvPr/>
        </p:nvSpPr>
        <p:spPr>
          <a:xfrm>
            <a:off x="9326880" y="3246120"/>
            <a:ext cx="0" cy="274320"/>
          </a:xfrm>
          <a:prstGeom prst="line">
            <a:avLst/>
          </a:prstGeom>
          <a:noFill/>
          <a:ln w="22225">
            <a:solidFill>
              <a:srgbClr val="5B6B8C"/>
            </a:solidFill>
            <a:prstDash val="solid"/>
            <a:tailEnd type="triangle"/>
          </a:ln>
        </p:spPr>
      </p:sp>
      <p:sp>
        <p:nvSpPr>
          <p:cNvPr id="52" name="Shape 50"/>
          <p:cNvSpPr/>
          <p:nvPr/>
        </p:nvSpPr>
        <p:spPr>
          <a:xfrm>
            <a:off x="7086600" y="3520440"/>
            <a:ext cx="4480560" cy="1051560"/>
          </a:xfrm>
          <a:prstGeom prst="roundRect">
            <a:avLst>
              <a:gd name="adj" fmla="val 8696"/>
            </a:avLst>
          </a:prstGeom>
          <a:solidFill>
            <a:srgbClr val="1E2761"/>
          </a:solidFill>
          <a:ln w="12700">
            <a:solidFill>
              <a:srgbClr val="1E2761"/>
            </a:solidFill>
            <a:prstDash val="solid"/>
          </a:ln>
        </p:spPr>
      </p:sp>
      <p:sp>
        <p:nvSpPr>
          <p:cNvPr id="53" name="Text 51"/>
          <p:cNvSpPr/>
          <p:nvPr/>
        </p:nvSpPr>
        <p:spPr>
          <a:xfrm>
            <a:off x="7141464" y="352044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Production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Entra ID + Managed Identity preferred</a:t>
            </a:r>
            <a:endParaRPr lang="en-US" sz="1300" dirty="0"/>
          </a:p>
        </p:txBody>
      </p:sp>
      <p:sp>
        <p:nvSpPr>
          <p:cNvPr id="54" name="Text 52"/>
          <p:cNvSpPr/>
          <p:nvPr/>
        </p:nvSpPr>
        <p:spPr>
          <a:xfrm>
            <a:off x="7086600" y="4892040"/>
            <a:ext cx="4480560" cy="1463040"/>
          </a:xfrm>
          <a:prstGeom prst="rect">
            <a:avLst/>
          </a:prstGeom>
          <a:noFill/>
          <a:ln/>
        </p:spPr>
        <p:txBody>
          <a:bodyPr wrap="square" lIns="0" tIns="0" rIns="0" bIns="0" rtlCol="0" anchor="t"/>
          <a:lstStyle/>
          <a:p>
            <a:pPr indent="0" marL="0">
              <a:buNone/>
            </a:pPr>
            <a:r>
              <a:rPr lang="en-US" sz="1200" i="1" dirty="0">
                <a:solidFill>
                  <a:srgbClr val="5B6B8C"/>
                </a:solidFill>
                <a:latin typeface="Calibri" pitchFamily="34" charset="0"/>
                <a:ea typeface="Calibri" pitchFamily="34" charset="-122"/>
                <a:cs typeface="Calibri" pitchFamily="34" charset="-120"/>
              </a:rPr>
              <a:t>The deployment is more than selecting a model — it includes defining the workload boundary, configuring access, connecting data and tools, and monitoring and governing the workload.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Proposed Enterprise Architecture</a:t>
            </a:r>
            <a:endParaRPr lang="en-US" sz="2800" dirty="0"/>
          </a:p>
        </p:txBody>
      </p:sp>
      <p:sp>
        <p:nvSpPr>
          <p:cNvPr id="3" name="Text 1"/>
          <p:cNvSpPr/>
          <p:nvPr/>
        </p:nvSpPr>
        <p:spPr>
          <a:xfrm>
            <a:off x="4265676" y="1051560"/>
            <a:ext cx="3657600" cy="292608"/>
          </a:xfrm>
          <a:prstGeom prst="rect">
            <a:avLst/>
          </a:prstGeom>
          <a:noFill/>
          <a:ln/>
        </p:spPr>
        <p:txBody>
          <a:bodyPr wrap="square" lIns="0" tIns="0" rIns="0" bIns="0" rtlCol="0" anchor="ctr"/>
          <a:lstStyle/>
          <a:p>
            <a:pPr algn="ctr" indent="0" marL="0">
              <a:buNone/>
            </a:pPr>
            <a:r>
              <a:rPr lang="en-US" sz="1200" b="1" dirty="0">
                <a:solidFill>
                  <a:srgbClr val="5B6B8C"/>
                </a:solidFill>
                <a:latin typeface="Calibri" pitchFamily="34" charset="0"/>
                <a:ea typeface="Calibri" pitchFamily="34" charset="-122"/>
                <a:cs typeface="Calibri" pitchFamily="34" charset="-120"/>
              </a:rPr>
              <a:t>USERS</a:t>
            </a:r>
            <a:endParaRPr lang="en-US" sz="1200" dirty="0"/>
          </a:p>
        </p:txBody>
      </p:sp>
      <p:sp>
        <p:nvSpPr>
          <p:cNvPr id="4" name="Shape 2"/>
          <p:cNvSpPr/>
          <p:nvPr/>
        </p:nvSpPr>
        <p:spPr>
          <a:xfrm>
            <a:off x="6094476" y="1362456"/>
            <a:ext cx="0" cy="128016"/>
          </a:xfrm>
          <a:prstGeom prst="line">
            <a:avLst/>
          </a:prstGeom>
          <a:noFill/>
          <a:ln w="22225">
            <a:solidFill>
              <a:srgbClr val="5B6B8C"/>
            </a:solidFill>
            <a:prstDash val="solid"/>
            <a:tailEnd type="triangle"/>
          </a:ln>
        </p:spPr>
      </p:sp>
      <p:sp>
        <p:nvSpPr>
          <p:cNvPr id="5" name="Shape 3"/>
          <p:cNvSpPr/>
          <p:nvPr/>
        </p:nvSpPr>
        <p:spPr>
          <a:xfrm>
            <a:off x="4174236" y="1490472"/>
            <a:ext cx="3840480" cy="420624"/>
          </a:xfrm>
          <a:prstGeom prst="roundRect">
            <a:avLst>
              <a:gd name="adj" fmla="val 13043"/>
            </a:avLst>
          </a:prstGeom>
          <a:solidFill>
            <a:srgbClr val="FFFFFF"/>
          </a:solidFill>
          <a:ln w="12700">
            <a:solidFill>
              <a:srgbClr val="9FB3D9"/>
            </a:solidFill>
            <a:prstDash val="solid"/>
          </a:ln>
        </p:spPr>
      </p:sp>
      <p:sp>
        <p:nvSpPr>
          <p:cNvPr id="6" name="Text 4"/>
          <p:cNvSpPr/>
          <p:nvPr/>
        </p:nvSpPr>
        <p:spPr>
          <a:xfrm>
            <a:off x="4229100" y="149047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Web / Mobile App</a:t>
            </a:r>
            <a:endParaRPr lang="en-US" sz="1250" dirty="0"/>
          </a:p>
        </p:txBody>
      </p:sp>
      <p:sp>
        <p:nvSpPr>
          <p:cNvPr id="7" name="Shape 5"/>
          <p:cNvSpPr/>
          <p:nvPr/>
        </p:nvSpPr>
        <p:spPr>
          <a:xfrm>
            <a:off x="6094476" y="1911096"/>
            <a:ext cx="0" cy="128016"/>
          </a:xfrm>
          <a:prstGeom prst="line">
            <a:avLst/>
          </a:prstGeom>
          <a:noFill/>
          <a:ln w="22225">
            <a:solidFill>
              <a:srgbClr val="5B6B8C"/>
            </a:solidFill>
            <a:prstDash val="solid"/>
            <a:tailEnd type="triangle"/>
          </a:ln>
        </p:spPr>
      </p:sp>
      <p:sp>
        <p:nvSpPr>
          <p:cNvPr id="8" name="Shape 6"/>
          <p:cNvSpPr/>
          <p:nvPr/>
        </p:nvSpPr>
        <p:spPr>
          <a:xfrm>
            <a:off x="4174236" y="2039112"/>
            <a:ext cx="3840480" cy="420624"/>
          </a:xfrm>
          <a:prstGeom prst="roundRect">
            <a:avLst>
              <a:gd name="adj" fmla="val 13043"/>
            </a:avLst>
          </a:prstGeom>
          <a:solidFill>
            <a:srgbClr val="2A3A7C"/>
          </a:solidFill>
          <a:ln w="12700">
            <a:solidFill>
              <a:srgbClr val="9FB3D9"/>
            </a:solidFill>
            <a:prstDash val="solid"/>
          </a:ln>
        </p:spPr>
      </p:sp>
      <p:sp>
        <p:nvSpPr>
          <p:cNvPr id="9" name="Text 7"/>
          <p:cNvSpPr/>
          <p:nvPr/>
        </p:nvSpPr>
        <p:spPr>
          <a:xfrm>
            <a:off x="4229100" y="203911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WAF</a:t>
            </a:r>
            <a:endParaRPr lang="en-US" sz="1250" dirty="0"/>
          </a:p>
        </p:txBody>
      </p:sp>
      <p:sp>
        <p:nvSpPr>
          <p:cNvPr id="10" name="Shape 8"/>
          <p:cNvSpPr/>
          <p:nvPr/>
        </p:nvSpPr>
        <p:spPr>
          <a:xfrm>
            <a:off x="6094476" y="2459736"/>
            <a:ext cx="0" cy="128016"/>
          </a:xfrm>
          <a:prstGeom prst="line">
            <a:avLst/>
          </a:prstGeom>
          <a:noFill/>
          <a:ln w="22225">
            <a:solidFill>
              <a:srgbClr val="5B6B8C"/>
            </a:solidFill>
            <a:prstDash val="solid"/>
            <a:tailEnd type="triangle"/>
          </a:ln>
        </p:spPr>
      </p:sp>
      <p:sp>
        <p:nvSpPr>
          <p:cNvPr id="11" name="Shape 9"/>
          <p:cNvSpPr/>
          <p:nvPr/>
        </p:nvSpPr>
        <p:spPr>
          <a:xfrm>
            <a:off x="4174236" y="2587752"/>
            <a:ext cx="3840480" cy="420624"/>
          </a:xfrm>
          <a:prstGeom prst="roundRect">
            <a:avLst>
              <a:gd name="adj" fmla="val 13043"/>
            </a:avLst>
          </a:prstGeom>
          <a:solidFill>
            <a:srgbClr val="2A3A7C"/>
          </a:solidFill>
          <a:ln w="12700">
            <a:solidFill>
              <a:srgbClr val="9FB3D9"/>
            </a:solidFill>
            <a:prstDash val="solid"/>
          </a:ln>
        </p:spPr>
      </p:sp>
      <p:sp>
        <p:nvSpPr>
          <p:cNvPr id="12" name="Text 10"/>
          <p:cNvSpPr/>
          <p:nvPr/>
        </p:nvSpPr>
        <p:spPr>
          <a:xfrm>
            <a:off x="4229100" y="258775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APIM</a:t>
            </a:r>
            <a:endParaRPr lang="en-US" sz="1250" dirty="0"/>
          </a:p>
        </p:txBody>
      </p:sp>
      <p:sp>
        <p:nvSpPr>
          <p:cNvPr id="13" name="Shape 11"/>
          <p:cNvSpPr/>
          <p:nvPr/>
        </p:nvSpPr>
        <p:spPr>
          <a:xfrm>
            <a:off x="6094476" y="3008376"/>
            <a:ext cx="0" cy="128016"/>
          </a:xfrm>
          <a:prstGeom prst="line">
            <a:avLst/>
          </a:prstGeom>
          <a:noFill/>
          <a:ln w="22225">
            <a:solidFill>
              <a:srgbClr val="5B6B8C"/>
            </a:solidFill>
            <a:prstDash val="solid"/>
            <a:tailEnd type="triangle"/>
          </a:ln>
        </p:spPr>
      </p:sp>
      <p:sp>
        <p:nvSpPr>
          <p:cNvPr id="14" name="Shape 12"/>
          <p:cNvSpPr/>
          <p:nvPr/>
        </p:nvSpPr>
        <p:spPr>
          <a:xfrm>
            <a:off x="4174236" y="3136392"/>
            <a:ext cx="3840480" cy="420624"/>
          </a:xfrm>
          <a:prstGeom prst="roundRect">
            <a:avLst>
              <a:gd name="adj" fmla="val 13043"/>
            </a:avLst>
          </a:prstGeom>
          <a:solidFill>
            <a:srgbClr val="F2A65A"/>
          </a:solidFill>
          <a:ln w="12700">
            <a:solidFill>
              <a:srgbClr val="9FB3D9"/>
            </a:solidFill>
            <a:prstDash val="solid"/>
          </a:ln>
        </p:spPr>
      </p:sp>
      <p:sp>
        <p:nvSpPr>
          <p:cNvPr id="15" name="Text 13"/>
          <p:cNvSpPr/>
          <p:nvPr/>
        </p:nvSpPr>
        <p:spPr>
          <a:xfrm>
            <a:off x="4229100" y="313639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Application / Agent Layer</a:t>
            </a:r>
            <a:endParaRPr lang="en-US" sz="1300" dirty="0"/>
          </a:p>
        </p:txBody>
      </p:sp>
      <p:sp>
        <p:nvSpPr>
          <p:cNvPr id="16" name="Shape 14"/>
          <p:cNvSpPr/>
          <p:nvPr/>
        </p:nvSpPr>
        <p:spPr>
          <a:xfrm>
            <a:off x="6094476" y="3557016"/>
            <a:ext cx="0" cy="128016"/>
          </a:xfrm>
          <a:prstGeom prst="line">
            <a:avLst/>
          </a:prstGeom>
          <a:noFill/>
          <a:ln w="22225">
            <a:solidFill>
              <a:srgbClr val="5B6B8C"/>
            </a:solidFill>
            <a:prstDash val="solid"/>
            <a:tailEnd type="triangle"/>
          </a:ln>
        </p:spPr>
      </p:sp>
      <p:sp>
        <p:nvSpPr>
          <p:cNvPr id="17" name="Shape 15"/>
          <p:cNvSpPr/>
          <p:nvPr/>
        </p:nvSpPr>
        <p:spPr>
          <a:xfrm flipH="1">
            <a:off x="4539996" y="3557016"/>
            <a:ext cx="1554480" cy="128016"/>
          </a:xfrm>
          <a:prstGeom prst="line">
            <a:avLst/>
          </a:prstGeom>
          <a:noFill/>
          <a:ln w="19050">
            <a:solidFill>
              <a:srgbClr val="5B6B8C"/>
            </a:solidFill>
            <a:prstDash val="solid"/>
            <a:tailEnd type="triangle"/>
          </a:ln>
        </p:spPr>
      </p:sp>
      <p:sp>
        <p:nvSpPr>
          <p:cNvPr id="18" name="Shape 16"/>
          <p:cNvSpPr/>
          <p:nvPr/>
        </p:nvSpPr>
        <p:spPr>
          <a:xfrm>
            <a:off x="6094476" y="3557016"/>
            <a:ext cx="1554480" cy="128016"/>
          </a:xfrm>
          <a:prstGeom prst="line">
            <a:avLst/>
          </a:prstGeom>
          <a:noFill/>
          <a:ln w="19050">
            <a:solidFill>
              <a:srgbClr val="5B6B8C"/>
            </a:solidFill>
            <a:prstDash val="solid"/>
            <a:tailEnd type="triangle"/>
          </a:ln>
        </p:spPr>
      </p:sp>
      <p:sp>
        <p:nvSpPr>
          <p:cNvPr id="19" name="Shape 17"/>
          <p:cNvSpPr/>
          <p:nvPr/>
        </p:nvSpPr>
        <p:spPr>
          <a:xfrm>
            <a:off x="3168396" y="3685032"/>
            <a:ext cx="2743200" cy="420624"/>
          </a:xfrm>
          <a:prstGeom prst="roundRect">
            <a:avLst>
              <a:gd name="adj" fmla="val 13043"/>
            </a:avLst>
          </a:prstGeom>
          <a:solidFill>
            <a:srgbClr val="1E2761"/>
          </a:solidFill>
          <a:ln w="12700">
            <a:solidFill>
              <a:srgbClr val="1E2761"/>
            </a:solidFill>
            <a:prstDash val="solid"/>
          </a:ln>
        </p:spPr>
      </p:sp>
      <p:sp>
        <p:nvSpPr>
          <p:cNvPr id="20" name="Text 18"/>
          <p:cNvSpPr/>
          <p:nvPr/>
        </p:nvSpPr>
        <p:spPr>
          <a:xfrm>
            <a:off x="322326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MICROSOFT FOUNDRY</a:t>
            </a:r>
            <a:endParaRPr lang="en-US" sz="1200" dirty="0"/>
          </a:p>
        </p:txBody>
      </p:sp>
      <p:sp>
        <p:nvSpPr>
          <p:cNvPr id="21" name="Shape 19"/>
          <p:cNvSpPr/>
          <p:nvPr/>
        </p:nvSpPr>
        <p:spPr>
          <a:xfrm>
            <a:off x="6277356" y="3685032"/>
            <a:ext cx="2743200" cy="420624"/>
          </a:xfrm>
          <a:prstGeom prst="roundRect">
            <a:avLst>
              <a:gd name="adj" fmla="val 13043"/>
            </a:avLst>
          </a:prstGeom>
          <a:solidFill>
            <a:srgbClr val="1E2761"/>
          </a:solidFill>
          <a:ln w="12700">
            <a:solidFill>
              <a:srgbClr val="1E2761"/>
            </a:solidFill>
            <a:prstDash val="solid"/>
          </a:ln>
        </p:spPr>
      </p:sp>
      <p:sp>
        <p:nvSpPr>
          <p:cNvPr id="22" name="Text 20"/>
          <p:cNvSpPr/>
          <p:nvPr/>
        </p:nvSpPr>
        <p:spPr>
          <a:xfrm>
            <a:off x="633222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AZURE AI SEARCH</a:t>
            </a:r>
            <a:endParaRPr lang="en-US" sz="1200" dirty="0"/>
          </a:p>
        </p:txBody>
      </p:sp>
      <p:sp>
        <p:nvSpPr>
          <p:cNvPr id="23" name="Shape 21"/>
          <p:cNvSpPr/>
          <p:nvPr/>
        </p:nvSpPr>
        <p:spPr>
          <a:xfrm>
            <a:off x="4539996" y="4105656"/>
            <a:ext cx="0" cy="128016"/>
          </a:xfrm>
          <a:prstGeom prst="line">
            <a:avLst/>
          </a:prstGeom>
          <a:noFill/>
          <a:ln w="22225">
            <a:solidFill>
              <a:srgbClr val="5B6B8C"/>
            </a:solidFill>
            <a:prstDash val="solid"/>
            <a:tailEnd type="triangle"/>
          </a:ln>
        </p:spPr>
      </p:sp>
      <p:sp>
        <p:nvSpPr>
          <p:cNvPr id="24" name="Shape 22"/>
          <p:cNvSpPr/>
          <p:nvPr/>
        </p:nvSpPr>
        <p:spPr>
          <a:xfrm>
            <a:off x="7648956" y="4105656"/>
            <a:ext cx="0" cy="128016"/>
          </a:xfrm>
          <a:prstGeom prst="line">
            <a:avLst/>
          </a:prstGeom>
          <a:noFill/>
          <a:ln w="22225">
            <a:solidFill>
              <a:srgbClr val="5B6B8C"/>
            </a:solidFill>
            <a:prstDash val="solid"/>
            <a:tailEnd type="triangle"/>
          </a:ln>
        </p:spPr>
      </p:sp>
      <p:sp>
        <p:nvSpPr>
          <p:cNvPr id="25" name="Shape 23"/>
          <p:cNvSpPr/>
          <p:nvPr/>
        </p:nvSpPr>
        <p:spPr>
          <a:xfrm>
            <a:off x="3168396" y="4233672"/>
            <a:ext cx="2743200" cy="420624"/>
          </a:xfrm>
          <a:prstGeom prst="roundRect">
            <a:avLst>
              <a:gd name="adj" fmla="val 13043"/>
            </a:avLst>
          </a:prstGeom>
          <a:solidFill>
            <a:srgbClr val="FFFFFF"/>
          </a:solidFill>
          <a:ln w="12700">
            <a:solidFill>
              <a:srgbClr val="9FB3D9"/>
            </a:solidFill>
            <a:prstDash val="solid"/>
          </a:ln>
        </p:spPr>
      </p:sp>
      <p:sp>
        <p:nvSpPr>
          <p:cNvPr id="26" name="Text 24"/>
          <p:cNvSpPr/>
          <p:nvPr/>
        </p:nvSpPr>
        <p:spPr>
          <a:xfrm>
            <a:off x="322326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OpenAI Models</a:t>
            </a:r>
            <a:endParaRPr lang="en-US" sz="1100" dirty="0"/>
          </a:p>
          <a:p>
            <a:pPr algn="ctr" indent="0" marL="0">
              <a:buNone/>
            </a:pPr>
            <a:r>
              <a:rPr lang="en-US" sz="1100" b="1" dirty="0">
                <a:solidFill>
                  <a:srgbClr val="1E2761"/>
                </a:solidFill>
                <a:latin typeface="Calibri" pitchFamily="34" charset="0"/>
                <a:ea typeface="Calibri" pitchFamily="34" charset="-122"/>
                <a:cs typeface="Calibri" pitchFamily="34" charset="-120"/>
              </a:rPr>
              <a:t>GPT / Reasoning</a:t>
            </a:r>
            <a:endParaRPr lang="en-US" sz="1100" dirty="0"/>
          </a:p>
        </p:txBody>
      </p:sp>
      <p:sp>
        <p:nvSpPr>
          <p:cNvPr id="27" name="Shape 25"/>
          <p:cNvSpPr/>
          <p:nvPr/>
        </p:nvSpPr>
        <p:spPr>
          <a:xfrm>
            <a:off x="6277356" y="4233672"/>
            <a:ext cx="2743200" cy="420624"/>
          </a:xfrm>
          <a:prstGeom prst="roundRect">
            <a:avLst>
              <a:gd name="adj" fmla="val 13043"/>
            </a:avLst>
          </a:prstGeom>
          <a:solidFill>
            <a:srgbClr val="FFFFFF"/>
          </a:solidFill>
          <a:ln w="12700">
            <a:solidFill>
              <a:srgbClr val="9FB3D9"/>
            </a:solidFill>
            <a:prstDash val="solid"/>
          </a:ln>
        </p:spPr>
      </p:sp>
      <p:sp>
        <p:nvSpPr>
          <p:cNvPr id="28" name="Text 26"/>
          <p:cNvSpPr/>
          <p:nvPr/>
        </p:nvSpPr>
        <p:spPr>
          <a:xfrm>
            <a:off x="633222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Enterprise Data</a:t>
            </a:r>
            <a:endParaRPr lang="en-US" sz="1100" dirty="0"/>
          </a:p>
          <a:p>
            <a:pPr algn="ctr" indent="0" marL="0">
              <a:buNone/>
            </a:pPr>
            <a:r>
              <a:rPr lang="en-US" sz="1100" b="1" dirty="0">
                <a:solidFill>
                  <a:srgbClr val="1E2761"/>
                </a:solidFill>
                <a:latin typeface="Calibri" pitchFamily="34" charset="0"/>
                <a:ea typeface="Calibri" pitchFamily="34" charset="-122"/>
                <a:cs typeface="Calibri" pitchFamily="34" charset="-120"/>
              </a:rPr>
              <a:t>Documents / DB</a:t>
            </a:r>
            <a:endParaRPr lang="en-US" sz="1100" dirty="0"/>
          </a:p>
        </p:txBody>
      </p:sp>
      <p:sp>
        <p:nvSpPr>
          <p:cNvPr id="29" name="Shape 27"/>
          <p:cNvSpPr/>
          <p:nvPr/>
        </p:nvSpPr>
        <p:spPr>
          <a:xfrm>
            <a:off x="4539996" y="4654296"/>
            <a:ext cx="1554480" cy="128016"/>
          </a:xfrm>
          <a:prstGeom prst="line">
            <a:avLst/>
          </a:prstGeom>
          <a:noFill/>
          <a:ln w="19050">
            <a:solidFill>
              <a:srgbClr val="5B6B8C"/>
            </a:solidFill>
            <a:prstDash val="solid"/>
            <a:tailEnd type="triangle"/>
          </a:ln>
        </p:spPr>
      </p:sp>
      <p:sp>
        <p:nvSpPr>
          <p:cNvPr id="30" name="Shape 28"/>
          <p:cNvSpPr/>
          <p:nvPr/>
        </p:nvSpPr>
        <p:spPr>
          <a:xfrm flipH="1">
            <a:off x="6094476" y="4654296"/>
            <a:ext cx="1554480" cy="128016"/>
          </a:xfrm>
          <a:prstGeom prst="line">
            <a:avLst/>
          </a:prstGeom>
          <a:noFill/>
          <a:ln w="19050">
            <a:solidFill>
              <a:srgbClr val="5B6B8C"/>
            </a:solidFill>
            <a:prstDash val="solid"/>
            <a:tailEnd type="triangle"/>
          </a:ln>
        </p:spPr>
      </p:sp>
      <p:sp>
        <p:nvSpPr>
          <p:cNvPr id="31" name="Shape 29"/>
          <p:cNvSpPr/>
          <p:nvPr/>
        </p:nvSpPr>
        <p:spPr>
          <a:xfrm>
            <a:off x="4174236" y="4782312"/>
            <a:ext cx="3840480" cy="420624"/>
          </a:xfrm>
          <a:prstGeom prst="roundRect">
            <a:avLst>
              <a:gd name="adj" fmla="val 13043"/>
            </a:avLst>
          </a:prstGeom>
          <a:solidFill>
            <a:srgbClr val="F2A65A"/>
          </a:solidFill>
          <a:ln w="12700">
            <a:solidFill>
              <a:srgbClr val="1E2761"/>
            </a:solidFill>
            <a:prstDash val="solid"/>
          </a:ln>
        </p:spPr>
      </p:sp>
      <p:sp>
        <p:nvSpPr>
          <p:cNvPr id="32" name="Text 30"/>
          <p:cNvSpPr/>
          <p:nvPr/>
        </p:nvSpPr>
        <p:spPr>
          <a:xfrm>
            <a:off x="4229100" y="478231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RESPONSE</a:t>
            </a:r>
            <a:endParaRPr lang="en-US" sz="1300" dirty="0"/>
          </a:p>
        </p:txBody>
      </p:sp>
      <p:sp>
        <p:nvSpPr>
          <p:cNvPr id="33" name="Shape 31"/>
          <p:cNvSpPr/>
          <p:nvPr/>
        </p:nvSpPr>
        <p:spPr>
          <a:xfrm>
            <a:off x="548640" y="5367528"/>
            <a:ext cx="11091672" cy="777240"/>
          </a:xfrm>
          <a:prstGeom prst="roundRect">
            <a:avLst>
              <a:gd name="adj" fmla="val 9412"/>
            </a:avLst>
          </a:prstGeom>
          <a:solidFill>
            <a:srgbClr val="1E2761"/>
          </a:solidFill>
          <a:ln w="12700">
            <a:solidFill>
              <a:srgbClr val="1E2761"/>
            </a:solidFill>
            <a:prstDash val="solid"/>
          </a:ln>
        </p:spPr>
      </p:sp>
      <p:sp>
        <p:nvSpPr>
          <p:cNvPr id="34" name="Text 32"/>
          <p:cNvSpPr/>
          <p:nvPr/>
        </p:nvSpPr>
        <p:spPr>
          <a:xfrm>
            <a:off x="603504" y="5367528"/>
            <a:ext cx="10981944" cy="777240"/>
          </a:xfrm>
          <a:prstGeom prst="rect">
            <a:avLst/>
          </a:prstGeom>
          <a:noFill/>
          <a:ln/>
        </p:spPr>
        <p:txBody>
          <a:bodyPr wrap="square" lIns="0" tIns="0" rIns="0" bIns="0" rtlCol="0" anchor="ctr">
            <a:normAutofit/>
          </a:bodyPr>
          <a:lstStyle/>
          <a:p>
            <a:pPr algn="ctr" indent="0" marL="0">
              <a:buNone/>
            </a:pPr>
            <a:endParaRPr lang="en-US" sz="1200" dirty="0"/>
          </a:p>
        </p:txBody>
      </p:sp>
      <p:sp>
        <p:nvSpPr>
          <p:cNvPr id="35" name="Text 33"/>
          <p:cNvSpPr/>
          <p:nvPr/>
        </p:nvSpPr>
        <p:spPr>
          <a:xfrm>
            <a:off x="731520" y="5440680"/>
            <a:ext cx="10698480" cy="256032"/>
          </a:xfrm>
          <a:prstGeom prst="rect">
            <a:avLst/>
          </a:prstGeom>
          <a:noFill/>
          <a:ln/>
        </p:spPr>
        <p:txBody>
          <a:bodyPr wrap="square" lIns="0" tIns="0" rIns="0" bIns="0" rtlCol="0" anchor="ctr"/>
          <a:lstStyle/>
          <a:p>
            <a:pPr algn="l" indent="0" marL="0">
              <a:buNone/>
            </a:pPr>
            <a:r>
              <a:rPr lang="en-US" sz="1100" b="1" dirty="0">
                <a:solidFill>
                  <a:srgbClr val="F2A65A"/>
                </a:solidFill>
                <a:latin typeface="Calibri" pitchFamily="34" charset="0"/>
                <a:ea typeface="Calibri" pitchFamily="34" charset="-122"/>
                <a:cs typeface="Calibri" pitchFamily="34" charset="-120"/>
              </a:rPr>
              <a:t>ENTERPRISE FOUNDATION</a:t>
            </a:r>
            <a:endParaRPr lang="en-US" sz="1100" dirty="0"/>
          </a:p>
        </p:txBody>
      </p:sp>
      <p:sp>
        <p:nvSpPr>
          <p:cNvPr id="36" name="Text 34"/>
          <p:cNvSpPr/>
          <p:nvPr/>
        </p:nvSpPr>
        <p:spPr>
          <a:xfrm>
            <a:off x="731520" y="5715000"/>
            <a:ext cx="10698480" cy="36576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Entra ID  ·  Managed Identity  ·  RBAC  ·  VNet  ·  Private Endpoints  ·  Key Vault  ·  Azure Monitor  ·  Azure Policy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OpenAI + Azure AI Search: RAG Pattern</a:t>
            </a:r>
            <a:endParaRPr lang="en-US" sz="3000" dirty="0"/>
          </a:p>
        </p:txBody>
      </p:sp>
      <p:sp>
        <p:nvSpPr>
          <p:cNvPr id="3" name="Text 1"/>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5B6B8C"/>
                </a:solidFill>
                <a:latin typeface="Calibri" pitchFamily="34" charset="0"/>
                <a:ea typeface="Calibri" pitchFamily="34" charset="-122"/>
                <a:cs typeface="Calibri" pitchFamily="34" charset="-120"/>
              </a:rPr>
              <a:t>Grounding OpenAI responses in enterprise knowledge</a:t>
            </a:r>
            <a:endParaRPr lang="en-US" sz="1400" dirty="0"/>
          </a:p>
        </p:txBody>
      </p:sp>
      <p:sp>
        <p:nvSpPr>
          <p:cNvPr id="4" name="Shape 2"/>
          <p:cNvSpPr/>
          <p:nvPr/>
        </p:nvSpPr>
        <p:spPr>
          <a:xfrm>
            <a:off x="822960" y="1691640"/>
            <a:ext cx="5120640" cy="475488"/>
          </a:xfrm>
          <a:prstGeom prst="roundRect">
            <a:avLst>
              <a:gd name="adj" fmla="val 11538"/>
            </a:avLst>
          </a:prstGeom>
          <a:solidFill>
            <a:srgbClr val="1E2761"/>
          </a:solidFill>
          <a:ln w="12700">
            <a:solidFill>
              <a:srgbClr val="9FB3D9"/>
            </a:solidFill>
            <a:prstDash val="solid"/>
          </a:ln>
        </p:spPr>
      </p:sp>
      <p:sp>
        <p:nvSpPr>
          <p:cNvPr id="5" name="Text 3"/>
          <p:cNvSpPr/>
          <p:nvPr/>
        </p:nvSpPr>
        <p:spPr>
          <a:xfrm>
            <a:off x="877824" y="169164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User Question</a:t>
            </a:r>
            <a:endParaRPr lang="en-US" sz="1250" dirty="0"/>
          </a:p>
        </p:txBody>
      </p:sp>
      <p:sp>
        <p:nvSpPr>
          <p:cNvPr id="6" name="Shape 4"/>
          <p:cNvSpPr/>
          <p:nvPr/>
        </p:nvSpPr>
        <p:spPr>
          <a:xfrm>
            <a:off x="3383280" y="2167128"/>
            <a:ext cx="0" cy="128016"/>
          </a:xfrm>
          <a:prstGeom prst="line">
            <a:avLst/>
          </a:prstGeom>
          <a:noFill/>
          <a:ln w="22225">
            <a:solidFill>
              <a:srgbClr val="5B6B8C"/>
            </a:solidFill>
            <a:prstDash val="solid"/>
            <a:tailEnd type="triangle"/>
          </a:ln>
        </p:spPr>
      </p:sp>
      <p:sp>
        <p:nvSpPr>
          <p:cNvPr id="7" name="Shape 5"/>
          <p:cNvSpPr/>
          <p:nvPr/>
        </p:nvSpPr>
        <p:spPr>
          <a:xfrm>
            <a:off x="822960" y="2295144"/>
            <a:ext cx="5120640" cy="475488"/>
          </a:xfrm>
          <a:prstGeom prst="roundRect">
            <a:avLst>
              <a:gd name="adj" fmla="val 11538"/>
            </a:avLst>
          </a:prstGeom>
          <a:solidFill>
            <a:srgbClr val="FFFFFF"/>
          </a:solidFill>
          <a:ln w="12700">
            <a:solidFill>
              <a:srgbClr val="9FB3D9"/>
            </a:solidFill>
            <a:prstDash val="solid"/>
          </a:ln>
        </p:spPr>
      </p:sp>
      <p:sp>
        <p:nvSpPr>
          <p:cNvPr id="8" name="Text 6"/>
          <p:cNvSpPr/>
          <p:nvPr/>
        </p:nvSpPr>
        <p:spPr>
          <a:xfrm>
            <a:off x="877824" y="229514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Application / Agent</a:t>
            </a:r>
            <a:endParaRPr lang="en-US" sz="1250" dirty="0"/>
          </a:p>
        </p:txBody>
      </p:sp>
      <p:sp>
        <p:nvSpPr>
          <p:cNvPr id="9" name="Shape 7"/>
          <p:cNvSpPr/>
          <p:nvPr/>
        </p:nvSpPr>
        <p:spPr>
          <a:xfrm>
            <a:off x="3383280" y="2770632"/>
            <a:ext cx="0" cy="128016"/>
          </a:xfrm>
          <a:prstGeom prst="line">
            <a:avLst/>
          </a:prstGeom>
          <a:noFill/>
          <a:ln w="22225">
            <a:solidFill>
              <a:srgbClr val="5B6B8C"/>
            </a:solidFill>
            <a:prstDash val="solid"/>
            <a:tailEnd type="triangle"/>
          </a:ln>
        </p:spPr>
      </p:sp>
      <p:sp>
        <p:nvSpPr>
          <p:cNvPr id="10" name="Shape 8"/>
          <p:cNvSpPr/>
          <p:nvPr/>
        </p:nvSpPr>
        <p:spPr>
          <a:xfrm>
            <a:off x="822960" y="2898648"/>
            <a:ext cx="5120640" cy="475488"/>
          </a:xfrm>
          <a:prstGeom prst="roundRect">
            <a:avLst>
              <a:gd name="adj" fmla="val 11538"/>
            </a:avLst>
          </a:prstGeom>
          <a:solidFill>
            <a:srgbClr val="1E2761"/>
          </a:solidFill>
          <a:ln w="12700">
            <a:solidFill>
              <a:srgbClr val="9FB3D9"/>
            </a:solidFill>
            <a:prstDash val="solid"/>
          </a:ln>
        </p:spPr>
      </p:sp>
      <p:sp>
        <p:nvSpPr>
          <p:cNvPr id="11" name="Text 9"/>
          <p:cNvSpPr/>
          <p:nvPr/>
        </p:nvSpPr>
        <p:spPr>
          <a:xfrm>
            <a:off x="877824" y="2898648"/>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Azure AI Search</a:t>
            </a:r>
            <a:endParaRPr lang="en-US" sz="1250" dirty="0"/>
          </a:p>
        </p:txBody>
      </p:sp>
      <p:sp>
        <p:nvSpPr>
          <p:cNvPr id="12" name="Shape 10"/>
          <p:cNvSpPr/>
          <p:nvPr/>
        </p:nvSpPr>
        <p:spPr>
          <a:xfrm>
            <a:off x="3383280" y="3374136"/>
            <a:ext cx="0" cy="128016"/>
          </a:xfrm>
          <a:prstGeom prst="line">
            <a:avLst/>
          </a:prstGeom>
          <a:noFill/>
          <a:ln w="22225">
            <a:solidFill>
              <a:srgbClr val="5B6B8C"/>
            </a:solidFill>
            <a:prstDash val="solid"/>
            <a:tailEnd type="triangle"/>
          </a:ln>
        </p:spPr>
      </p:sp>
      <p:sp>
        <p:nvSpPr>
          <p:cNvPr id="13" name="Shape 11"/>
          <p:cNvSpPr/>
          <p:nvPr/>
        </p:nvSpPr>
        <p:spPr>
          <a:xfrm>
            <a:off x="822960" y="3502152"/>
            <a:ext cx="5120640" cy="475488"/>
          </a:xfrm>
          <a:prstGeom prst="roundRect">
            <a:avLst>
              <a:gd name="adj" fmla="val 11538"/>
            </a:avLst>
          </a:prstGeom>
          <a:solidFill>
            <a:srgbClr val="FFFFFF"/>
          </a:solidFill>
          <a:ln w="12700">
            <a:solidFill>
              <a:srgbClr val="9FB3D9"/>
            </a:solidFill>
            <a:prstDash val="solid"/>
          </a:ln>
        </p:spPr>
      </p:sp>
      <p:sp>
        <p:nvSpPr>
          <p:cNvPr id="14" name="Text 12"/>
          <p:cNvSpPr/>
          <p:nvPr/>
        </p:nvSpPr>
        <p:spPr>
          <a:xfrm>
            <a:off x="877824" y="3502152"/>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Retrieve Relevant Data</a:t>
            </a:r>
            <a:endParaRPr lang="en-US" sz="1250" dirty="0"/>
          </a:p>
        </p:txBody>
      </p:sp>
      <p:sp>
        <p:nvSpPr>
          <p:cNvPr id="15" name="Shape 13"/>
          <p:cNvSpPr/>
          <p:nvPr/>
        </p:nvSpPr>
        <p:spPr>
          <a:xfrm>
            <a:off x="3383280" y="3977640"/>
            <a:ext cx="0" cy="128016"/>
          </a:xfrm>
          <a:prstGeom prst="line">
            <a:avLst/>
          </a:prstGeom>
          <a:noFill/>
          <a:ln w="22225">
            <a:solidFill>
              <a:srgbClr val="5B6B8C"/>
            </a:solidFill>
            <a:prstDash val="solid"/>
            <a:tailEnd type="triangle"/>
          </a:ln>
        </p:spPr>
      </p:sp>
      <p:sp>
        <p:nvSpPr>
          <p:cNvPr id="16" name="Shape 14"/>
          <p:cNvSpPr/>
          <p:nvPr/>
        </p:nvSpPr>
        <p:spPr>
          <a:xfrm>
            <a:off x="822960" y="4105656"/>
            <a:ext cx="5120640" cy="475488"/>
          </a:xfrm>
          <a:prstGeom prst="roundRect">
            <a:avLst>
              <a:gd name="adj" fmla="val 11538"/>
            </a:avLst>
          </a:prstGeom>
          <a:solidFill>
            <a:srgbClr val="1E2761"/>
          </a:solidFill>
          <a:ln w="12700">
            <a:solidFill>
              <a:srgbClr val="9FB3D9"/>
            </a:solidFill>
            <a:prstDash val="solid"/>
          </a:ln>
        </p:spPr>
      </p:sp>
      <p:sp>
        <p:nvSpPr>
          <p:cNvPr id="17" name="Text 15"/>
          <p:cNvSpPr/>
          <p:nvPr/>
        </p:nvSpPr>
        <p:spPr>
          <a:xfrm>
            <a:off x="877824" y="4105656"/>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Question + Relevant Context</a:t>
            </a:r>
            <a:endParaRPr lang="en-US" sz="1250" dirty="0"/>
          </a:p>
        </p:txBody>
      </p:sp>
      <p:sp>
        <p:nvSpPr>
          <p:cNvPr id="18" name="Shape 16"/>
          <p:cNvSpPr/>
          <p:nvPr/>
        </p:nvSpPr>
        <p:spPr>
          <a:xfrm>
            <a:off x="3383280" y="4581144"/>
            <a:ext cx="0" cy="128016"/>
          </a:xfrm>
          <a:prstGeom prst="line">
            <a:avLst/>
          </a:prstGeom>
          <a:noFill/>
          <a:ln w="22225">
            <a:solidFill>
              <a:srgbClr val="5B6B8C"/>
            </a:solidFill>
            <a:prstDash val="solid"/>
            <a:tailEnd type="triangle"/>
          </a:ln>
        </p:spPr>
      </p:sp>
      <p:sp>
        <p:nvSpPr>
          <p:cNvPr id="19" name="Shape 17"/>
          <p:cNvSpPr/>
          <p:nvPr/>
        </p:nvSpPr>
        <p:spPr>
          <a:xfrm>
            <a:off x="822960" y="4709160"/>
            <a:ext cx="5120640" cy="475488"/>
          </a:xfrm>
          <a:prstGeom prst="roundRect">
            <a:avLst>
              <a:gd name="adj" fmla="val 11538"/>
            </a:avLst>
          </a:prstGeom>
          <a:solidFill>
            <a:srgbClr val="FFFFFF"/>
          </a:solidFill>
          <a:ln w="12700">
            <a:solidFill>
              <a:srgbClr val="9FB3D9"/>
            </a:solidFill>
            <a:prstDash val="solid"/>
          </a:ln>
        </p:spPr>
      </p:sp>
      <p:sp>
        <p:nvSpPr>
          <p:cNvPr id="20" name="Text 18"/>
          <p:cNvSpPr/>
          <p:nvPr/>
        </p:nvSpPr>
        <p:spPr>
          <a:xfrm>
            <a:off x="877824" y="470916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OpenAI Model</a:t>
            </a:r>
            <a:endParaRPr lang="en-US" sz="1250" dirty="0"/>
          </a:p>
        </p:txBody>
      </p:sp>
      <p:sp>
        <p:nvSpPr>
          <p:cNvPr id="21" name="Shape 19"/>
          <p:cNvSpPr/>
          <p:nvPr/>
        </p:nvSpPr>
        <p:spPr>
          <a:xfrm>
            <a:off x="3383280" y="5184648"/>
            <a:ext cx="0" cy="128016"/>
          </a:xfrm>
          <a:prstGeom prst="line">
            <a:avLst/>
          </a:prstGeom>
          <a:noFill/>
          <a:ln w="22225">
            <a:solidFill>
              <a:srgbClr val="5B6B8C"/>
            </a:solidFill>
            <a:prstDash val="solid"/>
            <a:tailEnd type="triangle"/>
          </a:ln>
        </p:spPr>
      </p:sp>
      <p:sp>
        <p:nvSpPr>
          <p:cNvPr id="22" name="Shape 20"/>
          <p:cNvSpPr/>
          <p:nvPr/>
        </p:nvSpPr>
        <p:spPr>
          <a:xfrm>
            <a:off x="822960" y="5312664"/>
            <a:ext cx="5120640" cy="475488"/>
          </a:xfrm>
          <a:prstGeom prst="roundRect">
            <a:avLst>
              <a:gd name="adj" fmla="val 11538"/>
            </a:avLst>
          </a:prstGeom>
          <a:solidFill>
            <a:srgbClr val="F2A65A"/>
          </a:solidFill>
          <a:ln w="12700">
            <a:solidFill>
              <a:srgbClr val="9FB3D9"/>
            </a:solidFill>
            <a:prstDash val="solid"/>
          </a:ln>
        </p:spPr>
      </p:sp>
      <p:sp>
        <p:nvSpPr>
          <p:cNvPr id="23" name="Text 21"/>
          <p:cNvSpPr/>
          <p:nvPr/>
        </p:nvSpPr>
        <p:spPr>
          <a:xfrm>
            <a:off x="877824" y="531266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Grounded Response</a:t>
            </a:r>
            <a:endParaRPr lang="en-US" sz="1250" dirty="0"/>
          </a:p>
        </p:txBody>
      </p:sp>
      <p:sp>
        <p:nvSpPr>
          <p:cNvPr id="24" name="Shape 22"/>
          <p:cNvSpPr/>
          <p:nvPr/>
        </p:nvSpPr>
        <p:spPr>
          <a:xfrm>
            <a:off x="6446520" y="1691640"/>
            <a:ext cx="5120640" cy="2788920"/>
          </a:xfrm>
          <a:prstGeom prst="roundRect">
            <a:avLst>
              <a:gd name="adj" fmla="val 3279"/>
            </a:avLst>
          </a:prstGeom>
          <a:solidFill>
            <a:srgbClr val="FFFFFF"/>
          </a:solidFill>
          <a:ln w="12700">
            <a:solidFill>
              <a:srgbClr val="9FB3D9"/>
            </a:solidFill>
            <a:prstDash val="solid"/>
          </a:ln>
          <a:effectLst>
            <a:outerShdw sx="100000" sy="100000" kx="0" ky="0" algn="bl" rotWithShape="0" blurRad="76200" dist="25400" dir="5400000">
              <a:srgbClr val="1E2761">
                <a:alpha val="18000"/>
              </a:srgbClr>
            </a:outerShdw>
          </a:effectLst>
        </p:spPr>
      </p:sp>
      <p:sp>
        <p:nvSpPr>
          <p:cNvPr id="25" name="Text 23"/>
          <p:cNvSpPr/>
          <p:nvPr/>
        </p:nvSpPr>
        <p:spPr>
          <a:xfrm>
            <a:off x="6501384" y="1691640"/>
            <a:ext cx="5010912" cy="2788920"/>
          </a:xfrm>
          <a:prstGeom prst="rect">
            <a:avLst/>
          </a:prstGeom>
          <a:noFill/>
          <a:ln/>
        </p:spPr>
        <p:txBody>
          <a:bodyPr wrap="square" lIns="0" tIns="0" rIns="0" bIns="0" rtlCol="0" anchor="ctr">
            <a:normAutofit/>
          </a:bodyPr>
          <a:lstStyle/>
          <a:p>
            <a:pPr algn="ctr" indent="0" marL="0">
              <a:buNone/>
            </a:pPr>
            <a:endParaRPr lang="en-US" sz="1200" dirty="0"/>
          </a:p>
        </p:txBody>
      </p:sp>
      <p:sp>
        <p:nvSpPr>
          <p:cNvPr id="26" name="Text 24"/>
          <p:cNvSpPr/>
          <p:nvPr/>
        </p:nvSpPr>
        <p:spPr>
          <a:xfrm>
            <a:off x="6675120" y="1828800"/>
            <a:ext cx="466344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Example</a:t>
            </a:r>
            <a:endParaRPr lang="en-US" sz="1500" dirty="0"/>
          </a:p>
        </p:txBody>
      </p:sp>
      <p:sp>
        <p:nvSpPr>
          <p:cNvPr id="27" name="Text 25"/>
          <p:cNvSpPr/>
          <p:nvPr/>
        </p:nvSpPr>
        <p:spPr>
          <a:xfrm>
            <a:off x="6675120" y="2148840"/>
            <a:ext cx="4663440" cy="502920"/>
          </a:xfrm>
          <a:prstGeom prst="rect">
            <a:avLst/>
          </a:prstGeom>
          <a:noFill/>
          <a:ln/>
        </p:spPr>
        <p:txBody>
          <a:bodyPr wrap="square" lIns="0" tIns="0" rIns="0" bIns="0"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“What is the process for approving a business loan?”</a:t>
            </a:r>
            <a:endParaRPr lang="en-US" sz="1200" dirty="0"/>
          </a:p>
        </p:txBody>
      </p:sp>
      <p:sp>
        <p:nvSpPr>
          <p:cNvPr id="28" name="Shape 26"/>
          <p:cNvSpPr/>
          <p:nvPr/>
        </p:nvSpPr>
        <p:spPr>
          <a:xfrm>
            <a:off x="6675120" y="2743200"/>
            <a:ext cx="4663440" cy="384048"/>
          </a:xfrm>
          <a:prstGeom prst="roundRect">
            <a:avLst>
              <a:gd name="adj" fmla="val 50000"/>
            </a:avLst>
          </a:prstGeom>
          <a:solidFill>
            <a:srgbClr val="CADCFC"/>
          </a:solidFill>
          <a:ln w="12700">
            <a:solidFill>
              <a:srgbClr val="FFFFFF"/>
            </a:solidFill>
            <a:prstDash val="solid"/>
          </a:ln>
        </p:spPr>
      </p:sp>
      <p:sp>
        <p:nvSpPr>
          <p:cNvPr id="29" name="Text 27"/>
          <p:cNvSpPr/>
          <p:nvPr/>
        </p:nvSpPr>
        <p:spPr>
          <a:xfrm>
            <a:off x="6675120" y="2743200"/>
            <a:ext cx="46634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Search retrieves relevant loan policy documents</a:t>
            </a:r>
            <a:endParaRPr lang="en-US" sz="1050" dirty="0"/>
          </a:p>
        </p:txBody>
      </p:sp>
      <p:sp>
        <p:nvSpPr>
          <p:cNvPr id="30" name="Shape 28"/>
          <p:cNvSpPr/>
          <p:nvPr/>
        </p:nvSpPr>
        <p:spPr>
          <a:xfrm>
            <a:off x="6903720" y="3127248"/>
            <a:ext cx="0" cy="91440"/>
          </a:xfrm>
          <a:prstGeom prst="line">
            <a:avLst/>
          </a:prstGeom>
          <a:noFill/>
          <a:ln w="22225">
            <a:solidFill>
              <a:srgbClr val="5B6B8C"/>
            </a:solidFill>
            <a:prstDash val="solid"/>
            <a:tailEnd type="triangle"/>
          </a:ln>
        </p:spPr>
      </p:sp>
      <p:sp>
        <p:nvSpPr>
          <p:cNvPr id="31" name="Shape 29"/>
          <p:cNvSpPr/>
          <p:nvPr/>
        </p:nvSpPr>
        <p:spPr>
          <a:xfrm>
            <a:off x="6675120" y="3218688"/>
            <a:ext cx="4663440" cy="384048"/>
          </a:xfrm>
          <a:prstGeom prst="roundRect">
            <a:avLst>
              <a:gd name="adj" fmla="val 50000"/>
            </a:avLst>
          </a:prstGeom>
          <a:solidFill>
            <a:srgbClr val="CADCFC"/>
          </a:solidFill>
          <a:ln w="12700">
            <a:solidFill>
              <a:srgbClr val="FFFFFF"/>
            </a:solidFill>
            <a:prstDash val="solid"/>
          </a:ln>
        </p:spPr>
      </p:sp>
      <p:sp>
        <p:nvSpPr>
          <p:cNvPr id="32" name="Text 30"/>
          <p:cNvSpPr/>
          <p:nvPr/>
        </p:nvSpPr>
        <p:spPr>
          <a:xfrm>
            <a:off x="6675120" y="3218688"/>
            <a:ext cx="46634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Relevant policy is passed to GPT</a:t>
            </a:r>
            <a:endParaRPr lang="en-US" sz="1050" dirty="0"/>
          </a:p>
        </p:txBody>
      </p:sp>
      <p:sp>
        <p:nvSpPr>
          <p:cNvPr id="33" name="Shape 31"/>
          <p:cNvSpPr/>
          <p:nvPr/>
        </p:nvSpPr>
        <p:spPr>
          <a:xfrm>
            <a:off x="6903720" y="3602736"/>
            <a:ext cx="0" cy="91440"/>
          </a:xfrm>
          <a:prstGeom prst="line">
            <a:avLst/>
          </a:prstGeom>
          <a:noFill/>
          <a:ln w="22225">
            <a:solidFill>
              <a:srgbClr val="5B6B8C"/>
            </a:solidFill>
            <a:prstDash val="solid"/>
            <a:tailEnd type="triangle"/>
          </a:ln>
        </p:spPr>
      </p:sp>
      <p:sp>
        <p:nvSpPr>
          <p:cNvPr id="34" name="Shape 32"/>
          <p:cNvSpPr/>
          <p:nvPr/>
        </p:nvSpPr>
        <p:spPr>
          <a:xfrm>
            <a:off x="6675120" y="3694176"/>
            <a:ext cx="4663440" cy="384048"/>
          </a:xfrm>
          <a:prstGeom prst="roundRect">
            <a:avLst>
              <a:gd name="adj" fmla="val 50000"/>
            </a:avLst>
          </a:prstGeom>
          <a:solidFill>
            <a:srgbClr val="F2A65A"/>
          </a:solidFill>
          <a:ln w="12700">
            <a:solidFill>
              <a:srgbClr val="FFFFFF"/>
            </a:solidFill>
            <a:prstDash val="solid"/>
          </a:ln>
        </p:spPr>
      </p:sp>
      <p:sp>
        <p:nvSpPr>
          <p:cNvPr id="35" name="Text 33"/>
          <p:cNvSpPr/>
          <p:nvPr/>
        </p:nvSpPr>
        <p:spPr>
          <a:xfrm>
            <a:off x="6675120" y="3694176"/>
            <a:ext cx="46634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GPT generates an answer based on company data</a:t>
            </a:r>
            <a:endParaRPr lang="en-US" sz="1050" dirty="0"/>
          </a:p>
        </p:txBody>
      </p:sp>
      <p:sp>
        <p:nvSpPr>
          <p:cNvPr id="36" name="Shape 34"/>
          <p:cNvSpPr/>
          <p:nvPr/>
        </p:nvSpPr>
        <p:spPr>
          <a:xfrm>
            <a:off x="6446520" y="4709160"/>
            <a:ext cx="5120640" cy="1371600"/>
          </a:xfrm>
          <a:prstGeom prst="roundRect">
            <a:avLst>
              <a:gd name="adj" fmla="val 6667"/>
            </a:avLst>
          </a:prstGeom>
          <a:solidFill>
            <a:srgbClr val="1E2761"/>
          </a:solidFill>
          <a:ln w="12700">
            <a:solidFill>
              <a:srgbClr val="1E2761"/>
            </a:solidFill>
            <a:prstDash val="solid"/>
          </a:ln>
        </p:spPr>
      </p:sp>
      <p:sp>
        <p:nvSpPr>
          <p:cNvPr id="37" name="Text 35"/>
          <p:cNvSpPr/>
          <p:nvPr/>
        </p:nvSpPr>
        <p:spPr>
          <a:xfrm>
            <a:off x="6501384" y="4709160"/>
            <a:ext cx="5010912" cy="13716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Key message: RAG allows us to use OpenAI with enterprise knowledge without retraining the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1E2761"/>
                </a:solidFill>
                <a:latin typeface="Cambria" pitchFamily="34" charset="0"/>
                <a:ea typeface="Cambria" pitchFamily="34" charset="-122"/>
                <a:cs typeface="Cambria" pitchFamily="34" charset="-120"/>
              </a:rPr>
              <a:t>Security, Privacy &amp; Data Residency</a:t>
            </a:r>
            <a:endParaRPr lang="en-US" sz="2700" dirty="0"/>
          </a:p>
        </p:txBody>
      </p:sp>
      <p:sp>
        <p:nvSpPr>
          <p:cNvPr id="3" name="Shape 1"/>
          <p:cNvSpPr/>
          <p:nvPr/>
        </p:nvSpPr>
        <p:spPr>
          <a:xfrm>
            <a:off x="6094476" y="1005840"/>
            <a:ext cx="0" cy="5074920"/>
          </a:xfrm>
          <a:prstGeom prst="line">
            <a:avLst/>
          </a:prstGeom>
          <a:noFill/>
          <a:ln w="12700">
            <a:solidFill>
              <a:srgbClr val="9FB3D9"/>
            </a:solidFill>
            <a:prstDash val="dash"/>
          </a:ln>
        </p:spPr>
      </p:sp>
      <p:sp>
        <p:nvSpPr>
          <p:cNvPr id="4" name="Text 2"/>
          <p:cNvSpPr/>
          <p:nvPr/>
        </p:nvSpPr>
        <p:spPr>
          <a:xfrm>
            <a:off x="548640" y="1051560"/>
            <a:ext cx="53949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Security Architecture</a:t>
            </a:r>
            <a:endParaRPr lang="en-US" sz="1600" dirty="0"/>
          </a:p>
        </p:txBody>
      </p:sp>
      <p:sp>
        <p:nvSpPr>
          <p:cNvPr id="5" name="Shape 3"/>
          <p:cNvSpPr/>
          <p:nvPr/>
        </p:nvSpPr>
        <p:spPr>
          <a:xfrm>
            <a:off x="1463040" y="1508760"/>
            <a:ext cx="3566160" cy="365760"/>
          </a:xfrm>
          <a:prstGeom prst="roundRect">
            <a:avLst>
              <a:gd name="adj" fmla="val 15000"/>
            </a:avLst>
          </a:prstGeom>
          <a:solidFill>
            <a:srgbClr val="1E2761"/>
          </a:solidFill>
          <a:ln w="12700">
            <a:solidFill>
              <a:srgbClr val="9FB3D9"/>
            </a:solidFill>
            <a:prstDash val="solid"/>
          </a:ln>
        </p:spPr>
      </p:sp>
      <p:sp>
        <p:nvSpPr>
          <p:cNvPr id="6" name="Text 4"/>
          <p:cNvSpPr/>
          <p:nvPr/>
        </p:nvSpPr>
        <p:spPr>
          <a:xfrm>
            <a:off x="1517904" y="1508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7" name="Shape 5"/>
          <p:cNvSpPr/>
          <p:nvPr/>
        </p:nvSpPr>
        <p:spPr>
          <a:xfrm>
            <a:off x="3246120" y="1874520"/>
            <a:ext cx="0" cy="91440"/>
          </a:xfrm>
          <a:prstGeom prst="line">
            <a:avLst/>
          </a:prstGeom>
          <a:noFill/>
          <a:ln w="22225">
            <a:solidFill>
              <a:srgbClr val="5B6B8C"/>
            </a:solidFill>
            <a:prstDash val="solid"/>
            <a:tailEnd type="triangle"/>
          </a:ln>
        </p:spPr>
      </p:sp>
      <p:sp>
        <p:nvSpPr>
          <p:cNvPr id="8" name="Shape 6"/>
          <p:cNvSpPr/>
          <p:nvPr/>
        </p:nvSpPr>
        <p:spPr>
          <a:xfrm>
            <a:off x="1463040" y="1965960"/>
            <a:ext cx="3566160" cy="365760"/>
          </a:xfrm>
          <a:prstGeom prst="roundRect">
            <a:avLst>
              <a:gd name="adj" fmla="val 15000"/>
            </a:avLst>
          </a:prstGeom>
          <a:solidFill>
            <a:srgbClr val="FFFFFF"/>
          </a:solidFill>
          <a:ln w="12700">
            <a:solidFill>
              <a:srgbClr val="9FB3D9"/>
            </a:solidFill>
            <a:prstDash val="solid"/>
          </a:ln>
        </p:spPr>
      </p:sp>
      <p:sp>
        <p:nvSpPr>
          <p:cNvPr id="9" name="Text 7"/>
          <p:cNvSpPr/>
          <p:nvPr/>
        </p:nvSpPr>
        <p:spPr>
          <a:xfrm>
            <a:off x="1517904" y="1965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WAF</a:t>
            </a:r>
            <a:endParaRPr lang="en-US" sz="1100" dirty="0"/>
          </a:p>
        </p:txBody>
      </p:sp>
      <p:sp>
        <p:nvSpPr>
          <p:cNvPr id="10" name="Shape 8"/>
          <p:cNvSpPr/>
          <p:nvPr/>
        </p:nvSpPr>
        <p:spPr>
          <a:xfrm>
            <a:off x="3246120" y="2331720"/>
            <a:ext cx="0" cy="91440"/>
          </a:xfrm>
          <a:prstGeom prst="line">
            <a:avLst/>
          </a:prstGeom>
          <a:noFill/>
          <a:ln w="22225">
            <a:solidFill>
              <a:srgbClr val="5B6B8C"/>
            </a:solidFill>
            <a:prstDash val="solid"/>
            <a:tailEnd type="triangle"/>
          </a:ln>
        </p:spPr>
      </p:sp>
      <p:sp>
        <p:nvSpPr>
          <p:cNvPr id="11" name="Shape 9"/>
          <p:cNvSpPr/>
          <p:nvPr/>
        </p:nvSpPr>
        <p:spPr>
          <a:xfrm>
            <a:off x="1463040" y="2423160"/>
            <a:ext cx="3566160" cy="365760"/>
          </a:xfrm>
          <a:prstGeom prst="roundRect">
            <a:avLst>
              <a:gd name="adj" fmla="val 15000"/>
            </a:avLst>
          </a:prstGeom>
          <a:solidFill>
            <a:srgbClr val="1E2761"/>
          </a:solidFill>
          <a:ln w="12700">
            <a:solidFill>
              <a:srgbClr val="9FB3D9"/>
            </a:solidFill>
            <a:prstDash val="solid"/>
          </a:ln>
        </p:spPr>
      </p:sp>
      <p:sp>
        <p:nvSpPr>
          <p:cNvPr id="12" name="Text 10"/>
          <p:cNvSpPr/>
          <p:nvPr/>
        </p:nvSpPr>
        <p:spPr>
          <a:xfrm>
            <a:off x="1517904" y="2423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APIM</a:t>
            </a:r>
            <a:endParaRPr lang="en-US" sz="1100" dirty="0"/>
          </a:p>
        </p:txBody>
      </p:sp>
      <p:sp>
        <p:nvSpPr>
          <p:cNvPr id="13" name="Shape 11"/>
          <p:cNvSpPr/>
          <p:nvPr/>
        </p:nvSpPr>
        <p:spPr>
          <a:xfrm>
            <a:off x="3246120" y="2788920"/>
            <a:ext cx="0" cy="91440"/>
          </a:xfrm>
          <a:prstGeom prst="line">
            <a:avLst/>
          </a:prstGeom>
          <a:noFill/>
          <a:ln w="22225">
            <a:solidFill>
              <a:srgbClr val="5B6B8C"/>
            </a:solidFill>
            <a:prstDash val="solid"/>
            <a:tailEnd type="triangle"/>
          </a:ln>
        </p:spPr>
      </p:sp>
      <p:sp>
        <p:nvSpPr>
          <p:cNvPr id="14" name="Shape 12"/>
          <p:cNvSpPr/>
          <p:nvPr/>
        </p:nvSpPr>
        <p:spPr>
          <a:xfrm>
            <a:off x="1463040" y="2880360"/>
            <a:ext cx="3566160" cy="365760"/>
          </a:xfrm>
          <a:prstGeom prst="roundRect">
            <a:avLst>
              <a:gd name="adj" fmla="val 15000"/>
            </a:avLst>
          </a:prstGeom>
          <a:solidFill>
            <a:srgbClr val="FFFFFF"/>
          </a:solidFill>
          <a:ln w="12700">
            <a:solidFill>
              <a:srgbClr val="9FB3D9"/>
            </a:solidFill>
            <a:prstDash val="solid"/>
          </a:ln>
        </p:spPr>
      </p:sp>
      <p:sp>
        <p:nvSpPr>
          <p:cNvPr id="15" name="Text 13"/>
          <p:cNvSpPr/>
          <p:nvPr/>
        </p:nvSpPr>
        <p:spPr>
          <a:xfrm>
            <a:off x="1517904" y="28803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Application</a:t>
            </a:r>
            <a:endParaRPr lang="en-US" sz="1100" dirty="0"/>
          </a:p>
        </p:txBody>
      </p:sp>
      <p:sp>
        <p:nvSpPr>
          <p:cNvPr id="16" name="Shape 14"/>
          <p:cNvSpPr/>
          <p:nvPr/>
        </p:nvSpPr>
        <p:spPr>
          <a:xfrm>
            <a:off x="3246120" y="3246120"/>
            <a:ext cx="0" cy="91440"/>
          </a:xfrm>
          <a:prstGeom prst="line">
            <a:avLst/>
          </a:prstGeom>
          <a:noFill/>
          <a:ln w="22225">
            <a:solidFill>
              <a:srgbClr val="5B6B8C"/>
            </a:solidFill>
            <a:prstDash val="solid"/>
            <a:tailEnd type="triangle"/>
          </a:ln>
        </p:spPr>
      </p:sp>
      <p:sp>
        <p:nvSpPr>
          <p:cNvPr id="17" name="Shape 15"/>
          <p:cNvSpPr/>
          <p:nvPr/>
        </p:nvSpPr>
        <p:spPr>
          <a:xfrm>
            <a:off x="1463040" y="3337560"/>
            <a:ext cx="3566160" cy="365760"/>
          </a:xfrm>
          <a:prstGeom prst="roundRect">
            <a:avLst>
              <a:gd name="adj" fmla="val 15000"/>
            </a:avLst>
          </a:prstGeom>
          <a:solidFill>
            <a:srgbClr val="1E2761"/>
          </a:solidFill>
          <a:ln w="12700">
            <a:solidFill>
              <a:srgbClr val="9FB3D9"/>
            </a:solidFill>
            <a:prstDash val="solid"/>
          </a:ln>
        </p:spPr>
      </p:sp>
      <p:sp>
        <p:nvSpPr>
          <p:cNvPr id="18" name="Text 16"/>
          <p:cNvSpPr/>
          <p:nvPr/>
        </p:nvSpPr>
        <p:spPr>
          <a:xfrm>
            <a:off x="1517904" y="33375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Managed Identity</a:t>
            </a:r>
            <a:endParaRPr lang="en-US" sz="1100" dirty="0"/>
          </a:p>
        </p:txBody>
      </p:sp>
      <p:sp>
        <p:nvSpPr>
          <p:cNvPr id="19" name="Shape 17"/>
          <p:cNvSpPr/>
          <p:nvPr/>
        </p:nvSpPr>
        <p:spPr>
          <a:xfrm>
            <a:off x="3246120" y="3703320"/>
            <a:ext cx="0" cy="91440"/>
          </a:xfrm>
          <a:prstGeom prst="line">
            <a:avLst/>
          </a:prstGeom>
          <a:noFill/>
          <a:ln w="22225">
            <a:solidFill>
              <a:srgbClr val="5B6B8C"/>
            </a:solidFill>
            <a:prstDash val="solid"/>
            <a:tailEnd type="triangle"/>
          </a:ln>
        </p:spPr>
      </p:sp>
      <p:sp>
        <p:nvSpPr>
          <p:cNvPr id="20" name="Shape 18"/>
          <p:cNvSpPr/>
          <p:nvPr/>
        </p:nvSpPr>
        <p:spPr>
          <a:xfrm>
            <a:off x="1463040" y="3794760"/>
            <a:ext cx="3566160" cy="365760"/>
          </a:xfrm>
          <a:prstGeom prst="roundRect">
            <a:avLst>
              <a:gd name="adj" fmla="val 15000"/>
            </a:avLst>
          </a:prstGeom>
          <a:solidFill>
            <a:srgbClr val="FFFFFF"/>
          </a:solidFill>
          <a:ln w="12700">
            <a:solidFill>
              <a:srgbClr val="9FB3D9"/>
            </a:solidFill>
            <a:prstDash val="solid"/>
          </a:ln>
        </p:spPr>
      </p:sp>
      <p:sp>
        <p:nvSpPr>
          <p:cNvPr id="21" name="Text 19"/>
          <p:cNvSpPr/>
          <p:nvPr/>
        </p:nvSpPr>
        <p:spPr>
          <a:xfrm>
            <a:off x="1517904" y="3794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Entra ID + RBAC</a:t>
            </a:r>
            <a:endParaRPr lang="en-US" sz="1100" dirty="0"/>
          </a:p>
        </p:txBody>
      </p:sp>
      <p:sp>
        <p:nvSpPr>
          <p:cNvPr id="22" name="Shape 20"/>
          <p:cNvSpPr/>
          <p:nvPr/>
        </p:nvSpPr>
        <p:spPr>
          <a:xfrm>
            <a:off x="3246120" y="4160520"/>
            <a:ext cx="0" cy="91440"/>
          </a:xfrm>
          <a:prstGeom prst="line">
            <a:avLst/>
          </a:prstGeom>
          <a:noFill/>
          <a:ln w="22225">
            <a:solidFill>
              <a:srgbClr val="5B6B8C"/>
            </a:solidFill>
            <a:prstDash val="solid"/>
            <a:tailEnd type="triangle"/>
          </a:ln>
        </p:spPr>
      </p:sp>
      <p:sp>
        <p:nvSpPr>
          <p:cNvPr id="23" name="Shape 21"/>
          <p:cNvSpPr/>
          <p:nvPr/>
        </p:nvSpPr>
        <p:spPr>
          <a:xfrm>
            <a:off x="1463040" y="4251960"/>
            <a:ext cx="3566160" cy="365760"/>
          </a:xfrm>
          <a:prstGeom prst="roundRect">
            <a:avLst>
              <a:gd name="adj" fmla="val 15000"/>
            </a:avLst>
          </a:prstGeom>
          <a:solidFill>
            <a:srgbClr val="1E2761"/>
          </a:solidFill>
          <a:ln w="12700">
            <a:solidFill>
              <a:srgbClr val="9FB3D9"/>
            </a:solidFill>
            <a:prstDash val="solid"/>
          </a:ln>
        </p:spPr>
      </p:sp>
      <p:sp>
        <p:nvSpPr>
          <p:cNvPr id="24" name="Text 22"/>
          <p:cNvSpPr/>
          <p:nvPr/>
        </p:nvSpPr>
        <p:spPr>
          <a:xfrm>
            <a:off x="1517904" y="4251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Private Endpoint</a:t>
            </a:r>
            <a:endParaRPr lang="en-US" sz="1100" dirty="0"/>
          </a:p>
        </p:txBody>
      </p:sp>
      <p:sp>
        <p:nvSpPr>
          <p:cNvPr id="25" name="Shape 23"/>
          <p:cNvSpPr/>
          <p:nvPr/>
        </p:nvSpPr>
        <p:spPr>
          <a:xfrm>
            <a:off x="3246120" y="4617720"/>
            <a:ext cx="0" cy="91440"/>
          </a:xfrm>
          <a:prstGeom prst="line">
            <a:avLst/>
          </a:prstGeom>
          <a:noFill/>
          <a:ln w="22225">
            <a:solidFill>
              <a:srgbClr val="5B6B8C"/>
            </a:solidFill>
            <a:prstDash val="solid"/>
            <a:tailEnd type="triangle"/>
          </a:ln>
        </p:spPr>
      </p:sp>
      <p:sp>
        <p:nvSpPr>
          <p:cNvPr id="26" name="Shape 24"/>
          <p:cNvSpPr/>
          <p:nvPr/>
        </p:nvSpPr>
        <p:spPr>
          <a:xfrm>
            <a:off x="1463040" y="4709160"/>
            <a:ext cx="3566160" cy="365760"/>
          </a:xfrm>
          <a:prstGeom prst="roundRect">
            <a:avLst>
              <a:gd name="adj" fmla="val 15000"/>
            </a:avLst>
          </a:prstGeom>
          <a:solidFill>
            <a:srgbClr val="F2A65A"/>
          </a:solidFill>
          <a:ln w="12700">
            <a:solidFill>
              <a:srgbClr val="9FB3D9"/>
            </a:solidFill>
            <a:prstDash val="solid"/>
          </a:ln>
        </p:spPr>
      </p:sp>
      <p:sp>
        <p:nvSpPr>
          <p:cNvPr id="27" name="Text 25"/>
          <p:cNvSpPr/>
          <p:nvPr/>
        </p:nvSpPr>
        <p:spPr>
          <a:xfrm>
            <a:off x="1517904" y="4709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Foundry / OpenAI</a:t>
            </a:r>
            <a:endParaRPr lang="en-US" sz="1100" dirty="0"/>
          </a:p>
        </p:txBody>
      </p:sp>
      <p:sp>
        <p:nvSpPr>
          <p:cNvPr id="28" name="Text 26"/>
          <p:cNvSpPr/>
          <p:nvPr/>
        </p:nvSpPr>
        <p:spPr>
          <a:xfrm>
            <a:off x="6551676" y="1051560"/>
            <a:ext cx="53949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Data &amp; Privacy</a:t>
            </a:r>
            <a:endParaRPr lang="en-US" sz="1600" dirty="0"/>
          </a:p>
        </p:txBody>
      </p:sp>
      <p:sp>
        <p:nvSpPr>
          <p:cNvPr id="29" name="Text 27"/>
          <p:cNvSpPr/>
          <p:nvPr/>
        </p:nvSpPr>
        <p:spPr>
          <a:xfrm>
            <a:off x="6551676" y="1508760"/>
            <a:ext cx="5394960" cy="27432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OpenAI Direct</a:t>
            </a:r>
            <a:endParaRPr lang="en-US" sz="1200" dirty="0"/>
          </a:p>
        </p:txBody>
      </p:sp>
      <p:sp>
        <p:nvSpPr>
          <p:cNvPr id="30" name="Shape 28"/>
          <p:cNvSpPr/>
          <p:nvPr/>
        </p:nvSpPr>
        <p:spPr>
          <a:xfrm>
            <a:off x="6551676" y="1810512"/>
            <a:ext cx="2194560" cy="411480"/>
          </a:xfrm>
          <a:prstGeom prst="roundRect">
            <a:avLst>
              <a:gd name="adj" fmla="val 13333"/>
            </a:avLst>
          </a:prstGeom>
          <a:solidFill>
            <a:srgbClr val="FFFFFF"/>
          </a:solidFill>
          <a:ln w="12700">
            <a:solidFill>
              <a:srgbClr val="9FB3D9"/>
            </a:solidFill>
            <a:prstDash val="solid"/>
          </a:ln>
        </p:spPr>
      </p:sp>
      <p:sp>
        <p:nvSpPr>
          <p:cNvPr id="31" name="Text 29"/>
          <p:cNvSpPr/>
          <p:nvPr/>
        </p:nvSpPr>
        <p:spPr>
          <a:xfrm>
            <a:off x="6606540" y="1810512"/>
            <a:ext cx="2084832" cy="411480"/>
          </a:xfrm>
          <a:prstGeom prst="rect">
            <a:avLst/>
          </a:prstGeom>
          <a:noFill/>
          <a:ln/>
        </p:spPr>
        <p:txBody>
          <a:bodyPr wrap="square" lIns="0" tIns="0" rIns="0" bIns="0" rtlCol="0" anchor="ctr">
            <a:normAutofit/>
          </a:bodyPr>
          <a:lstStyle/>
          <a:p>
            <a:pPr algn="ctr" indent="0" marL="0">
              <a:buNone/>
            </a:pPr>
            <a:r>
              <a:rPr lang="en-US" sz="1100" b="1" dirty="0">
                <a:solidFill>
                  <a:srgbClr val="1E2761"/>
                </a:solidFill>
                <a:latin typeface="Calibri" pitchFamily="34" charset="0"/>
                <a:ea typeface="Calibri" pitchFamily="34" charset="-122"/>
                <a:cs typeface="Calibri" pitchFamily="34" charset="-120"/>
              </a:rPr>
              <a:t>Application</a:t>
            </a:r>
            <a:endParaRPr lang="en-US" sz="1100" dirty="0"/>
          </a:p>
        </p:txBody>
      </p:sp>
      <p:sp>
        <p:nvSpPr>
          <p:cNvPr id="32" name="Shape 30"/>
          <p:cNvSpPr/>
          <p:nvPr/>
        </p:nvSpPr>
        <p:spPr>
          <a:xfrm>
            <a:off x="8746236" y="2011680"/>
            <a:ext cx="274320" cy="0"/>
          </a:xfrm>
          <a:prstGeom prst="line">
            <a:avLst/>
          </a:prstGeom>
          <a:noFill/>
          <a:ln w="19050">
            <a:solidFill>
              <a:srgbClr val="5B6B8C"/>
            </a:solidFill>
            <a:prstDash val="solid"/>
            <a:tailEnd type="triangle"/>
          </a:ln>
        </p:spPr>
      </p:sp>
      <p:sp>
        <p:nvSpPr>
          <p:cNvPr id="33" name="Shape 31"/>
          <p:cNvSpPr/>
          <p:nvPr/>
        </p:nvSpPr>
        <p:spPr>
          <a:xfrm>
            <a:off x="9020556" y="1810512"/>
            <a:ext cx="2926080" cy="411480"/>
          </a:xfrm>
          <a:prstGeom prst="roundRect">
            <a:avLst>
              <a:gd name="adj" fmla="val 13333"/>
            </a:avLst>
          </a:prstGeom>
          <a:solidFill>
            <a:srgbClr val="2A3A7C"/>
          </a:solidFill>
          <a:ln w="12700">
            <a:solidFill>
              <a:srgbClr val="1E2761"/>
            </a:solidFill>
            <a:prstDash val="solid"/>
          </a:ln>
        </p:spPr>
      </p:sp>
      <p:sp>
        <p:nvSpPr>
          <p:cNvPr id="34" name="Text 32"/>
          <p:cNvSpPr/>
          <p:nvPr/>
        </p:nvSpPr>
        <p:spPr>
          <a:xfrm>
            <a:off x="9075420" y="1810512"/>
            <a:ext cx="2816352" cy="4114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OpenAI Infrastructure</a:t>
            </a:r>
            <a:endParaRPr lang="en-US" sz="1100" dirty="0"/>
          </a:p>
        </p:txBody>
      </p:sp>
      <p:sp>
        <p:nvSpPr>
          <p:cNvPr id="35" name="Text 33"/>
          <p:cNvSpPr/>
          <p:nvPr/>
        </p:nvSpPr>
        <p:spPr>
          <a:xfrm>
            <a:off x="6551676" y="2395728"/>
            <a:ext cx="5394960" cy="27432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Azure OpenAI / Foundry</a:t>
            </a:r>
            <a:endParaRPr lang="en-US" sz="1200" dirty="0"/>
          </a:p>
        </p:txBody>
      </p:sp>
      <p:sp>
        <p:nvSpPr>
          <p:cNvPr id="36" name="Shape 34"/>
          <p:cNvSpPr/>
          <p:nvPr/>
        </p:nvSpPr>
        <p:spPr>
          <a:xfrm>
            <a:off x="6551676" y="2697480"/>
            <a:ext cx="1627632" cy="411480"/>
          </a:xfrm>
          <a:prstGeom prst="roundRect">
            <a:avLst>
              <a:gd name="adj" fmla="val 13333"/>
            </a:avLst>
          </a:prstGeom>
          <a:solidFill>
            <a:srgbClr val="FFFFFF"/>
          </a:solidFill>
          <a:ln w="12700">
            <a:solidFill>
              <a:srgbClr val="9FB3D9"/>
            </a:solidFill>
            <a:prstDash val="solid"/>
          </a:ln>
        </p:spPr>
      </p:sp>
      <p:sp>
        <p:nvSpPr>
          <p:cNvPr id="37" name="Text 35"/>
          <p:cNvSpPr/>
          <p:nvPr/>
        </p:nvSpPr>
        <p:spPr>
          <a:xfrm>
            <a:off x="6606540"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E2761"/>
                </a:solidFill>
                <a:latin typeface="Calibri" pitchFamily="34" charset="0"/>
                <a:ea typeface="Calibri" pitchFamily="34" charset="-122"/>
                <a:cs typeface="Calibri" pitchFamily="34" charset="-120"/>
              </a:rPr>
              <a:t>Application</a:t>
            </a:r>
            <a:endParaRPr lang="en-US" sz="1000" dirty="0"/>
          </a:p>
        </p:txBody>
      </p:sp>
      <p:sp>
        <p:nvSpPr>
          <p:cNvPr id="38" name="Shape 36"/>
          <p:cNvSpPr/>
          <p:nvPr/>
        </p:nvSpPr>
        <p:spPr>
          <a:xfrm>
            <a:off x="8179308" y="2898648"/>
            <a:ext cx="256032" cy="0"/>
          </a:xfrm>
          <a:prstGeom prst="line">
            <a:avLst/>
          </a:prstGeom>
          <a:noFill/>
          <a:ln w="19050">
            <a:solidFill>
              <a:srgbClr val="5B6B8C"/>
            </a:solidFill>
            <a:prstDash val="solid"/>
            <a:tailEnd type="triangle"/>
          </a:ln>
        </p:spPr>
      </p:sp>
      <p:sp>
        <p:nvSpPr>
          <p:cNvPr id="39" name="Shape 37"/>
          <p:cNvSpPr/>
          <p:nvPr/>
        </p:nvSpPr>
        <p:spPr>
          <a:xfrm>
            <a:off x="8435340" y="2697480"/>
            <a:ext cx="1627632" cy="411480"/>
          </a:xfrm>
          <a:prstGeom prst="roundRect">
            <a:avLst>
              <a:gd name="adj" fmla="val 13333"/>
            </a:avLst>
          </a:prstGeom>
          <a:solidFill>
            <a:srgbClr val="F2A65A"/>
          </a:solidFill>
          <a:ln w="12700">
            <a:solidFill>
              <a:srgbClr val="1E2761"/>
            </a:solidFill>
            <a:prstDash val="solid"/>
          </a:ln>
        </p:spPr>
      </p:sp>
      <p:sp>
        <p:nvSpPr>
          <p:cNvPr id="40" name="Text 38"/>
          <p:cNvSpPr/>
          <p:nvPr/>
        </p:nvSpPr>
        <p:spPr>
          <a:xfrm>
            <a:off x="8490204"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E2761"/>
                </a:solidFill>
                <a:latin typeface="Calibri" pitchFamily="34" charset="0"/>
                <a:ea typeface="Calibri" pitchFamily="34" charset="-122"/>
                <a:cs typeface="Calibri" pitchFamily="34" charset="-120"/>
              </a:rPr>
              <a:t>Azure / Foundry</a:t>
            </a:r>
            <a:endParaRPr lang="en-US" sz="1000" dirty="0"/>
          </a:p>
        </p:txBody>
      </p:sp>
      <p:sp>
        <p:nvSpPr>
          <p:cNvPr id="41" name="Shape 39"/>
          <p:cNvSpPr/>
          <p:nvPr/>
        </p:nvSpPr>
        <p:spPr>
          <a:xfrm>
            <a:off x="10062972" y="2898648"/>
            <a:ext cx="256032" cy="0"/>
          </a:xfrm>
          <a:prstGeom prst="line">
            <a:avLst/>
          </a:prstGeom>
          <a:noFill/>
          <a:ln w="19050">
            <a:solidFill>
              <a:srgbClr val="5B6B8C"/>
            </a:solidFill>
            <a:prstDash val="solid"/>
            <a:tailEnd type="triangle"/>
          </a:ln>
        </p:spPr>
      </p:sp>
      <p:sp>
        <p:nvSpPr>
          <p:cNvPr id="42" name="Shape 40"/>
          <p:cNvSpPr/>
          <p:nvPr/>
        </p:nvSpPr>
        <p:spPr>
          <a:xfrm>
            <a:off x="10319004" y="2697480"/>
            <a:ext cx="1627632" cy="411480"/>
          </a:xfrm>
          <a:prstGeom prst="roundRect">
            <a:avLst>
              <a:gd name="adj" fmla="val 13333"/>
            </a:avLst>
          </a:prstGeom>
          <a:solidFill>
            <a:srgbClr val="2A3A7C"/>
          </a:solidFill>
          <a:ln w="12700">
            <a:solidFill>
              <a:srgbClr val="1E2761"/>
            </a:solidFill>
            <a:prstDash val="solid"/>
          </a:ln>
        </p:spPr>
      </p:sp>
      <p:sp>
        <p:nvSpPr>
          <p:cNvPr id="43" name="Text 41"/>
          <p:cNvSpPr/>
          <p:nvPr/>
        </p:nvSpPr>
        <p:spPr>
          <a:xfrm>
            <a:off x="10373868"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OpenAI Model</a:t>
            </a:r>
            <a:endParaRPr lang="en-US" sz="1000" dirty="0"/>
          </a:p>
        </p:txBody>
      </p:sp>
      <p:sp>
        <p:nvSpPr>
          <p:cNvPr id="44" name="Text 42"/>
          <p:cNvSpPr/>
          <p:nvPr/>
        </p:nvSpPr>
        <p:spPr>
          <a:xfrm>
            <a:off x="6551676" y="3337560"/>
            <a:ext cx="5394960"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Customer data is not used to train models by default in both enterprise/API contexts.</a:t>
            </a:r>
            <a:endParaRPr lang="en-US" sz="1200" dirty="0"/>
          </a:p>
          <a:p>
            <a:pPr marL="177800" indent="-177800">
              <a:lnSpc>
                <a:spcPct val="115000"/>
              </a:lnSpc>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Azure-hosted OpenAI provides Azure-native identity, networking and governance.</a:t>
            </a:r>
            <a:endParaRPr lang="en-US" sz="1200" dirty="0"/>
          </a:p>
          <a:p>
            <a:pPr marL="177800" indent="-177800">
              <a:lnSpc>
                <a:spcPct val="115000"/>
              </a:lnSpc>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Data residency must consider: where data is stored, where inference is processed, and region/deployment type.</a:t>
            </a:r>
            <a:endParaRPr lang="en-US" sz="1200" dirty="0"/>
          </a:p>
        </p:txBody>
      </p:sp>
      <p:sp>
        <p:nvSpPr>
          <p:cNvPr id="45" name="Shape 43"/>
          <p:cNvSpPr/>
          <p:nvPr/>
        </p:nvSpPr>
        <p:spPr>
          <a:xfrm>
            <a:off x="548640" y="5440680"/>
            <a:ext cx="11091672" cy="914400"/>
          </a:xfrm>
          <a:prstGeom prst="roundRect">
            <a:avLst>
              <a:gd name="adj" fmla="val 8000"/>
            </a:avLst>
          </a:prstGeom>
          <a:solidFill>
            <a:srgbClr val="1E2761"/>
          </a:solidFill>
          <a:ln w="12700">
            <a:solidFill>
              <a:srgbClr val="1E2761"/>
            </a:solidFill>
            <a:prstDash val="solid"/>
          </a:ln>
        </p:spPr>
      </p:sp>
      <p:sp>
        <p:nvSpPr>
          <p:cNvPr id="46" name="Text 44"/>
          <p:cNvSpPr/>
          <p:nvPr/>
        </p:nvSpPr>
        <p:spPr>
          <a:xfrm>
            <a:off x="603504" y="5440680"/>
            <a:ext cx="10981944" cy="9144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For regulated workloads, we cannot just ask where the model is hosted — we need to understand where prompts are processed, where data is stored, and what deployment configuration is being used.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Model Selection &amp; Multi-Model Strategy</a:t>
            </a:r>
            <a:endParaRPr lang="en-US" sz="2700" dirty="0"/>
          </a:p>
        </p:txBody>
      </p:sp>
      <p:sp>
        <p:nvSpPr>
          <p:cNvPr id="3" name="Text 1"/>
          <p:cNvSpPr/>
          <p:nvPr/>
        </p:nvSpPr>
        <p:spPr>
          <a:xfrm>
            <a:off x="548640" y="868680"/>
            <a:ext cx="11091672" cy="365760"/>
          </a:xfrm>
          <a:prstGeom prst="rect">
            <a:avLst/>
          </a:prstGeom>
          <a:noFill/>
          <a:ln/>
        </p:spPr>
        <p:txBody>
          <a:bodyPr wrap="square" lIns="0" tIns="0" rIns="0" bIns="0" rtlCol="0" anchor="ctr"/>
          <a:lstStyle/>
          <a:p>
            <a:pPr algn="l" indent="0" marL="0">
              <a:buNone/>
            </a:pPr>
            <a:r>
              <a:rPr lang="en-US" sz="1400" i="1" dirty="0">
                <a:solidFill>
                  <a:srgbClr val="CADCFC"/>
                </a:solidFill>
                <a:latin typeface="Calibri" pitchFamily="34" charset="0"/>
                <a:ea typeface="Calibri" pitchFamily="34" charset="-122"/>
                <a:cs typeface="Calibri" pitchFamily="34" charset="-120"/>
              </a:rPr>
              <a:t>Which model for which workload? Can OpenAI and Claude work together?</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2743200"/>
        </p:xfrm>
        <a:graphic>
          <a:graphicData uri="http://schemas.openxmlformats.org/drawingml/2006/table">
            <a:tbl>
              <a:tblPr/>
              <a:tblGrid>
                <a:gridCol w="2377440"/>
                <a:gridCol w="3017520"/>
              </a:tblGrid>
              <a:tr h="391886">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CADCFC"/>
                    </a:solidFill>
                  </a:tcPr>
                </a:tc>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Model Capability Needed</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CADCFC"/>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Chatbot</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Fast + cost efficient</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Complex reasoning</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Strong reasoning</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Coding</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Code + tool use</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RAG</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Grounded responses</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Semantic Search</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Embeddings</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1E2761"/>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Multimodal</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Text + image understanding</a:t>
                      </a:r>
                      <a:endParaRPr lang="en-US" sz="115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A3A7C"/>
                    </a:solidFill>
                  </a:tcPr>
                </a:tc>
              </a:tr>
            </a:tbl>
          </a:graphicData>
        </a:graphic>
      </p:graphicFrame>
      <p:sp>
        <p:nvSpPr>
          <p:cNvPr id="5" name="Text 2"/>
          <p:cNvSpPr/>
          <p:nvPr/>
        </p:nvSpPr>
        <p:spPr>
          <a:xfrm>
            <a:off x="548640" y="4709160"/>
            <a:ext cx="5394960" cy="77724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We should not use one large model for every workload — selection should be based on quality, cost, latency and capability.</a:t>
            </a:r>
            <a:endParaRPr lang="en-US" sz="1150" dirty="0"/>
          </a:p>
        </p:txBody>
      </p:sp>
      <p:sp>
        <p:nvSpPr>
          <p:cNvPr id="6" name="Shape 3"/>
          <p:cNvSpPr/>
          <p:nvPr/>
        </p:nvSpPr>
        <p:spPr>
          <a:xfrm>
            <a:off x="7566660" y="1828800"/>
            <a:ext cx="2926080" cy="457200"/>
          </a:xfrm>
          <a:prstGeom prst="roundRect">
            <a:avLst>
              <a:gd name="adj" fmla="val 12000"/>
            </a:avLst>
          </a:prstGeom>
          <a:solidFill>
            <a:srgbClr val="FFFFFF"/>
          </a:solidFill>
          <a:ln w="12700">
            <a:solidFill>
              <a:srgbClr val="1E2761"/>
            </a:solidFill>
            <a:prstDash val="solid"/>
          </a:ln>
        </p:spPr>
      </p:sp>
      <p:sp>
        <p:nvSpPr>
          <p:cNvPr id="7" name="Text 4"/>
          <p:cNvSpPr/>
          <p:nvPr/>
        </p:nvSpPr>
        <p:spPr>
          <a:xfrm>
            <a:off x="7621524" y="182880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USER REQUEST</a:t>
            </a:r>
            <a:endParaRPr lang="en-US" sz="1250" dirty="0"/>
          </a:p>
        </p:txBody>
      </p:sp>
      <p:sp>
        <p:nvSpPr>
          <p:cNvPr id="8" name="Shape 5"/>
          <p:cNvSpPr/>
          <p:nvPr/>
        </p:nvSpPr>
        <p:spPr>
          <a:xfrm>
            <a:off x="9029700" y="2286000"/>
            <a:ext cx="0" cy="256032"/>
          </a:xfrm>
          <a:prstGeom prst="line">
            <a:avLst/>
          </a:prstGeom>
          <a:noFill/>
          <a:ln w="22225">
            <a:solidFill>
              <a:srgbClr val="CADCFC"/>
            </a:solidFill>
            <a:prstDash val="solid"/>
            <a:tailEnd type="triangle"/>
          </a:ln>
        </p:spPr>
      </p:sp>
      <p:sp>
        <p:nvSpPr>
          <p:cNvPr id="9" name="Shape 6"/>
          <p:cNvSpPr/>
          <p:nvPr/>
        </p:nvSpPr>
        <p:spPr>
          <a:xfrm>
            <a:off x="7566660" y="2542032"/>
            <a:ext cx="2926080" cy="457200"/>
          </a:xfrm>
          <a:prstGeom prst="roundRect">
            <a:avLst>
              <a:gd name="adj" fmla="val 12000"/>
            </a:avLst>
          </a:prstGeom>
          <a:solidFill>
            <a:srgbClr val="F2A65A"/>
          </a:solidFill>
          <a:ln w="12700">
            <a:solidFill>
              <a:srgbClr val="1E2761"/>
            </a:solidFill>
            <a:prstDash val="solid"/>
          </a:ln>
        </p:spPr>
      </p:sp>
      <p:sp>
        <p:nvSpPr>
          <p:cNvPr id="10" name="Text 7"/>
          <p:cNvSpPr/>
          <p:nvPr/>
        </p:nvSpPr>
        <p:spPr>
          <a:xfrm>
            <a:off x="7621524" y="2542032"/>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ORCHESTRATOR</a:t>
            </a:r>
            <a:endParaRPr lang="en-US" sz="1250" dirty="0"/>
          </a:p>
        </p:txBody>
      </p:sp>
      <p:sp>
        <p:nvSpPr>
          <p:cNvPr id="11" name="Shape 8"/>
          <p:cNvSpPr/>
          <p:nvPr/>
        </p:nvSpPr>
        <p:spPr>
          <a:xfrm flipH="1">
            <a:off x="7132320" y="2999232"/>
            <a:ext cx="1897380" cy="338328"/>
          </a:xfrm>
          <a:prstGeom prst="line">
            <a:avLst/>
          </a:prstGeom>
          <a:noFill/>
          <a:ln w="19050">
            <a:solidFill>
              <a:srgbClr val="CADCFC"/>
            </a:solidFill>
            <a:prstDash val="solid"/>
            <a:tailEnd type="triangle"/>
          </a:ln>
        </p:spPr>
      </p:sp>
      <p:sp>
        <p:nvSpPr>
          <p:cNvPr id="12" name="Shape 9"/>
          <p:cNvSpPr/>
          <p:nvPr/>
        </p:nvSpPr>
        <p:spPr>
          <a:xfrm>
            <a:off x="6400800" y="3337560"/>
            <a:ext cx="1463040" cy="502920"/>
          </a:xfrm>
          <a:prstGeom prst="roundRect">
            <a:avLst>
              <a:gd name="adj" fmla="val 10909"/>
            </a:avLst>
          </a:prstGeom>
          <a:solidFill>
            <a:srgbClr val="2A3A7C"/>
          </a:solidFill>
          <a:ln w="9525">
            <a:solidFill>
              <a:srgbClr val="CADCFC"/>
            </a:solidFill>
            <a:prstDash val="solid"/>
          </a:ln>
        </p:spPr>
      </p:sp>
      <p:sp>
        <p:nvSpPr>
          <p:cNvPr id="13" name="Text 10"/>
          <p:cNvSpPr/>
          <p:nvPr/>
        </p:nvSpPr>
        <p:spPr>
          <a:xfrm>
            <a:off x="6455664"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OpenAI</a:t>
            </a:r>
            <a:endParaRPr lang="en-US" sz="1200" dirty="0"/>
          </a:p>
        </p:txBody>
      </p:sp>
      <p:sp>
        <p:nvSpPr>
          <p:cNvPr id="14" name="Shape 11"/>
          <p:cNvSpPr/>
          <p:nvPr/>
        </p:nvSpPr>
        <p:spPr>
          <a:xfrm flipH="1">
            <a:off x="8851392" y="2999232"/>
            <a:ext cx="178308" cy="338328"/>
          </a:xfrm>
          <a:prstGeom prst="line">
            <a:avLst/>
          </a:prstGeom>
          <a:noFill/>
          <a:ln w="19050">
            <a:solidFill>
              <a:srgbClr val="CADCFC"/>
            </a:solidFill>
            <a:prstDash val="solid"/>
            <a:tailEnd type="triangle"/>
          </a:ln>
        </p:spPr>
      </p:sp>
      <p:sp>
        <p:nvSpPr>
          <p:cNvPr id="15" name="Shape 12"/>
          <p:cNvSpPr/>
          <p:nvPr/>
        </p:nvSpPr>
        <p:spPr>
          <a:xfrm>
            <a:off x="8119872" y="3337560"/>
            <a:ext cx="1463040" cy="502920"/>
          </a:xfrm>
          <a:prstGeom prst="roundRect">
            <a:avLst>
              <a:gd name="adj" fmla="val 10909"/>
            </a:avLst>
          </a:prstGeom>
          <a:solidFill>
            <a:srgbClr val="2A3A7C"/>
          </a:solidFill>
          <a:ln w="9525">
            <a:solidFill>
              <a:srgbClr val="CADCFC"/>
            </a:solidFill>
            <a:prstDash val="solid"/>
          </a:ln>
        </p:spPr>
      </p:sp>
      <p:sp>
        <p:nvSpPr>
          <p:cNvPr id="16" name="Text 13"/>
          <p:cNvSpPr/>
          <p:nvPr/>
        </p:nvSpPr>
        <p:spPr>
          <a:xfrm>
            <a:off x="8174736"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Claude</a:t>
            </a:r>
            <a:endParaRPr lang="en-US" sz="1200" dirty="0"/>
          </a:p>
        </p:txBody>
      </p:sp>
      <p:sp>
        <p:nvSpPr>
          <p:cNvPr id="17" name="Shape 14"/>
          <p:cNvSpPr/>
          <p:nvPr/>
        </p:nvSpPr>
        <p:spPr>
          <a:xfrm>
            <a:off x="9029700" y="2999232"/>
            <a:ext cx="1540764" cy="338328"/>
          </a:xfrm>
          <a:prstGeom prst="line">
            <a:avLst/>
          </a:prstGeom>
          <a:noFill/>
          <a:ln w="19050">
            <a:solidFill>
              <a:srgbClr val="CADCFC"/>
            </a:solidFill>
            <a:prstDash val="solid"/>
            <a:tailEnd type="triangle"/>
          </a:ln>
        </p:spPr>
      </p:sp>
      <p:sp>
        <p:nvSpPr>
          <p:cNvPr id="18" name="Shape 15"/>
          <p:cNvSpPr/>
          <p:nvPr/>
        </p:nvSpPr>
        <p:spPr>
          <a:xfrm>
            <a:off x="9838944" y="3337560"/>
            <a:ext cx="1463040" cy="502920"/>
          </a:xfrm>
          <a:prstGeom prst="roundRect">
            <a:avLst>
              <a:gd name="adj" fmla="val 10909"/>
            </a:avLst>
          </a:prstGeom>
          <a:solidFill>
            <a:srgbClr val="2A3A7C"/>
          </a:solidFill>
          <a:ln w="9525">
            <a:solidFill>
              <a:srgbClr val="CADCFC"/>
            </a:solidFill>
            <a:prstDash val="solid"/>
          </a:ln>
        </p:spPr>
      </p:sp>
      <p:sp>
        <p:nvSpPr>
          <p:cNvPr id="19" name="Text 16"/>
          <p:cNvSpPr/>
          <p:nvPr/>
        </p:nvSpPr>
        <p:spPr>
          <a:xfrm>
            <a:off x="9893808"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Other</a:t>
            </a:r>
            <a:endParaRPr lang="en-US" sz="1200" dirty="0"/>
          </a:p>
        </p:txBody>
      </p:sp>
      <p:sp>
        <p:nvSpPr>
          <p:cNvPr id="20" name="Shape 17"/>
          <p:cNvSpPr/>
          <p:nvPr/>
        </p:nvSpPr>
        <p:spPr>
          <a:xfrm>
            <a:off x="7132320" y="3840480"/>
            <a:ext cx="1897380" cy="320040"/>
          </a:xfrm>
          <a:prstGeom prst="line">
            <a:avLst/>
          </a:prstGeom>
          <a:noFill/>
          <a:ln w="19050">
            <a:solidFill>
              <a:srgbClr val="CADCFC"/>
            </a:solidFill>
            <a:prstDash val="solid"/>
            <a:tailEnd type="triangle"/>
          </a:ln>
        </p:spPr>
      </p:sp>
      <p:sp>
        <p:nvSpPr>
          <p:cNvPr id="21" name="Shape 18"/>
          <p:cNvSpPr/>
          <p:nvPr/>
        </p:nvSpPr>
        <p:spPr>
          <a:xfrm>
            <a:off x="8851392" y="3840480"/>
            <a:ext cx="178308" cy="320040"/>
          </a:xfrm>
          <a:prstGeom prst="line">
            <a:avLst/>
          </a:prstGeom>
          <a:noFill/>
          <a:ln w="19050">
            <a:solidFill>
              <a:srgbClr val="CADCFC"/>
            </a:solidFill>
            <a:prstDash val="solid"/>
            <a:tailEnd type="triangle"/>
          </a:ln>
        </p:spPr>
      </p:sp>
      <p:sp>
        <p:nvSpPr>
          <p:cNvPr id="22" name="Shape 19"/>
          <p:cNvSpPr/>
          <p:nvPr/>
        </p:nvSpPr>
        <p:spPr>
          <a:xfrm flipH="1">
            <a:off x="9029700" y="3840480"/>
            <a:ext cx="1540764" cy="320040"/>
          </a:xfrm>
          <a:prstGeom prst="line">
            <a:avLst/>
          </a:prstGeom>
          <a:noFill/>
          <a:ln w="19050">
            <a:solidFill>
              <a:srgbClr val="CADCFC"/>
            </a:solidFill>
            <a:prstDash val="solid"/>
            <a:tailEnd type="triangle"/>
          </a:ln>
        </p:spPr>
      </p:sp>
      <p:sp>
        <p:nvSpPr>
          <p:cNvPr id="23" name="Shape 20"/>
          <p:cNvSpPr/>
          <p:nvPr/>
        </p:nvSpPr>
        <p:spPr>
          <a:xfrm>
            <a:off x="7566660" y="4160520"/>
            <a:ext cx="2926080" cy="457200"/>
          </a:xfrm>
          <a:prstGeom prst="roundRect">
            <a:avLst>
              <a:gd name="adj" fmla="val 12000"/>
            </a:avLst>
          </a:prstGeom>
          <a:solidFill>
            <a:srgbClr val="FFFFFF"/>
          </a:solidFill>
          <a:ln w="12700">
            <a:solidFill>
              <a:srgbClr val="1E2761"/>
            </a:solidFill>
            <a:prstDash val="solid"/>
          </a:ln>
        </p:spPr>
      </p:sp>
      <p:sp>
        <p:nvSpPr>
          <p:cNvPr id="24" name="Text 21"/>
          <p:cNvSpPr/>
          <p:nvPr/>
        </p:nvSpPr>
        <p:spPr>
          <a:xfrm>
            <a:off x="7621524" y="416052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RESPONSE</a:t>
            </a:r>
            <a:endParaRPr lang="en-US" sz="1250" dirty="0"/>
          </a:p>
        </p:txBody>
      </p:sp>
      <p:sp>
        <p:nvSpPr>
          <p:cNvPr id="25" name="Shape 22"/>
          <p:cNvSpPr/>
          <p:nvPr/>
        </p:nvSpPr>
        <p:spPr>
          <a:xfrm>
            <a:off x="6400800" y="4800600"/>
            <a:ext cx="5257800" cy="685800"/>
          </a:xfrm>
          <a:prstGeom prst="roundRect">
            <a:avLst>
              <a:gd name="adj" fmla="val 10667"/>
            </a:avLst>
          </a:prstGeom>
          <a:solidFill>
            <a:srgbClr val="2A3A7C"/>
          </a:solidFill>
          <a:ln w="12700">
            <a:solidFill>
              <a:srgbClr val="1E2761"/>
            </a:solidFill>
            <a:prstDash val="solid"/>
          </a:ln>
        </p:spPr>
      </p:sp>
      <p:sp>
        <p:nvSpPr>
          <p:cNvPr id="26" name="Text 23"/>
          <p:cNvSpPr/>
          <p:nvPr/>
        </p:nvSpPr>
        <p:spPr>
          <a:xfrm>
            <a:off x="6455664" y="4800600"/>
            <a:ext cx="5148072" cy="685800"/>
          </a:xfrm>
          <a:prstGeom prst="rect">
            <a:avLst/>
          </a:prstGeom>
          <a:noFill/>
          <a:ln/>
        </p:spPr>
        <p:txBody>
          <a:bodyPr wrap="square" lIns="0" tIns="0" rIns="0" bIns="0" rtlCol="0" anchor="ctr">
            <a:normAutofit/>
          </a:bodyPr>
          <a:lstStyle/>
          <a:p>
            <a:pPr algn="ctr" indent="0" marL="0">
              <a:buNone/>
            </a:pPr>
            <a:r>
              <a:rPr lang="en-US" sz="1100" dirty="0">
                <a:solidFill>
                  <a:srgbClr val="CADCFC"/>
                </a:solidFill>
                <a:latin typeface="Calibri" pitchFamily="34" charset="0"/>
                <a:ea typeface="Calibri" pitchFamily="34" charset="-122"/>
                <a:cs typeface="Calibri" pitchFamily="34" charset="-120"/>
              </a:rPr>
              <a:t>Multi-model orchestration lets each request route to the model best suited for it.</a:t>
            </a:r>
            <a:endParaRPr lang="en-US" sz="1100" dirty="0"/>
          </a:p>
        </p:txBody>
      </p:sp>
      <p:sp>
        <p:nvSpPr>
          <p:cNvPr id="27" name="Shape 24"/>
          <p:cNvSpPr/>
          <p:nvPr/>
        </p:nvSpPr>
        <p:spPr>
          <a:xfrm>
            <a:off x="548640" y="5806440"/>
            <a:ext cx="11091672" cy="777240"/>
          </a:xfrm>
          <a:prstGeom prst="roundRect">
            <a:avLst>
              <a:gd name="adj" fmla="val 9412"/>
            </a:avLst>
          </a:prstGeom>
          <a:solidFill>
            <a:srgbClr val="F2A65A"/>
          </a:solidFill>
          <a:ln w="12700">
            <a:solidFill>
              <a:srgbClr val="1E2761"/>
            </a:solidFill>
            <a:prstDash val="solid"/>
          </a:ln>
        </p:spPr>
      </p:sp>
      <p:sp>
        <p:nvSpPr>
          <p:cNvPr id="28" name="Text 25"/>
          <p:cNvSpPr/>
          <p:nvPr/>
        </p:nvSpPr>
        <p:spPr>
          <a:xfrm>
            <a:off x="603504" y="5806440"/>
            <a:ext cx="10981944" cy="777240"/>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Recommendation: Use Microsoft Foundry as the enterprise AI platform, select OpenAI models by workload requirements, integrate Azure AI Search for enterprise knowledge, and use Azure security &amp; governance as the foundation.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2026-08-24T10:19:36Z</dcterms:created>
  <dcterms:modified xsi:type="dcterms:W3CDTF">2026-08-24T10:19:36Z</dcterms:modified>
</cp:coreProperties>
</file>